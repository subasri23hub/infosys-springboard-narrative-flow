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10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947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B8860B"/>
          </a:solidFill>
          <a:ln/>
        </p:spPr>
      </p:sp>
      <p:sp>
        <p:nvSpPr>
          <p:cNvPr id="3" name="Shape 1"/>
          <p:cNvSpPr/>
          <p:nvPr/>
        </p:nvSpPr>
        <p:spPr>
          <a:xfrm>
            <a:off x="5760720" y="0"/>
            <a:ext cx="3383280" cy="5143500"/>
          </a:xfrm>
          <a:prstGeom prst="rect">
            <a:avLst/>
          </a:prstGeom>
          <a:solidFill>
            <a:srgbClr val="1A1810"/>
          </a:solidFill>
          <a:ln/>
        </p:spPr>
      </p:sp>
      <p:sp>
        <p:nvSpPr>
          <p:cNvPr id="4" name="Shape 2"/>
          <p:cNvSpPr/>
          <p:nvPr/>
        </p:nvSpPr>
        <p:spPr>
          <a:xfrm>
            <a:off x="5760720" y="0"/>
            <a:ext cx="45720" cy="5143500"/>
          </a:xfrm>
          <a:prstGeom prst="rect">
            <a:avLst/>
          </a:prstGeom>
          <a:solidFill>
            <a:srgbClr val="B8860B"/>
          </a:solidFill>
          <a:ln/>
        </p:spPr>
      </p:sp>
      <p:sp>
        <p:nvSpPr>
          <p:cNvPr id="5" name="Text 3"/>
          <p:cNvSpPr/>
          <p:nvPr/>
        </p:nvSpPr>
        <p:spPr>
          <a:xfrm>
            <a:off x="384048" y="685800"/>
            <a:ext cx="5120640" cy="1280160"/>
          </a:xfrm>
          <a:prstGeom prst="rect">
            <a:avLst/>
          </a:prstGeom>
          <a:noFill/>
          <a:ln/>
        </p:spPr>
        <p:txBody>
          <a:bodyPr wrap="square" lIns="0" tIns="0" rIns="0" bIns="0" rtlCol="0" anchor="ctr"/>
          <a:lstStyle/>
          <a:p>
            <a:pPr marL="0" indent="0" algn="l">
              <a:buNone/>
            </a:pPr>
            <a:r>
              <a:rPr lang="en-US" sz="5600" b="1" kern="0" spc="200" dirty="0">
                <a:solidFill>
                  <a:srgbClr val="FFFFFF"/>
                </a:solidFill>
                <a:latin typeface="Georgia" pitchFamily="34" charset="0"/>
                <a:ea typeface="Georgia" pitchFamily="34" charset="-122"/>
                <a:cs typeface="Georgia" pitchFamily="34" charset="-120"/>
              </a:rPr>
              <a:t>NARRATIVE FLOW</a:t>
            </a:r>
            <a:endParaRPr lang="en-US" sz="5600" dirty="0"/>
          </a:p>
        </p:txBody>
      </p:sp>
      <p:sp>
        <p:nvSpPr>
          <p:cNvPr id="6" name="Text 4"/>
          <p:cNvSpPr/>
          <p:nvPr/>
        </p:nvSpPr>
        <p:spPr>
          <a:xfrm>
            <a:off x="384048" y="1965960"/>
            <a:ext cx="5120640" cy="658368"/>
          </a:xfrm>
          <a:prstGeom prst="rect">
            <a:avLst/>
          </a:prstGeom>
          <a:noFill/>
          <a:ln/>
        </p:spPr>
        <p:txBody>
          <a:bodyPr wrap="square" lIns="0" tIns="0" rIns="0" bIns="0" rtlCol="0" anchor="ctr"/>
          <a:lstStyle/>
          <a:p>
            <a:pPr marL="0" indent="0" algn="l">
              <a:buNone/>
            </a:pPr>
            <a:r>
              <a:rPr lang="en-US" sz="3200" i="1" dirty="0">
                <a:solidFill>
                  <a:srgbClr val="D4A017"/>
                </a:solidFill>
                <a:latin typeface="Georgia" pitchFamily="34" charset="0"/>
                <a:ea typeface="Georgia" pitchFamily="34" charset="-122"/>
                <a:cs typeface="Georgia" pitchFamily="34" charset="-120"/>
              </a:rPr>
              <a:t>Story Co-Writer</a:t>
            </a:r>
            <a:endParaRPr lang="en-US" sz="3200" dirty="0"/>
          </a:p>
        </p:txBody>
      </p:sp>
      <p:sp>
        <p:nvSpPr>
          <p:cNvPr id="7" name="Shape 5"/>
          <p:cNvSpPr/>
          <p:nvPr/>
        </p:nvSpPr>
        <p:spPr>
          <a:xfrm>
            <a:off x="384048" y="2697480"/>
            <a:ext cx="4937760" cy="0"/>
          </a:xfrm>
          <a:prstGeom prst="line">
            <a:avLst/>
          </a:prstGeom>
          <a:noFill/>
          <a:ln w="19050">
            <a:solidFill>
              <a:srgbClr val="B8860B"/>
            </a:solidFill>
            <a:prstDash val="solid"/>
          </a:ln>
        </p:spPr>
      </p:sp>
      <p:sp>
        <p:nvSpPr>
          <p:cNvPr id="8" name="Text 6"/>
          <p:cNvSpPr/>
          <p:nvPr/>
        </p:nvSpPr>
        <p:spPr>
          <a:xfrm>
            <a:off x="384048" y="2834640"/>
            <a:ext cx="5120640" cy="777240"/>
          </a:xfrm>
          <a:prstGeom prst="rect">
            <a:avLst/>
          </a:prstGeom>
          <a:noFill/>
          <a:ln/>
        </p:spPr>
        <p:txBody>
          <a:bodyPr wrap="square" lIns="0" tIns="0" rIns="0" bIns="0" rtlCol="0" anchor="ctr"/>
          <a:lstStyle/>
          <a:p>
            <a:pPr marL="0" indent="0" algn="l">
              <a:buNone/>
            </a:pPr>
            <a:r>
              <a:rPr lang="en-US" sz="1400" i="1" dirty="0">
                <a:solidFill>
                  <a:srgbClr val="C5BDB0"/>
                </a:solidFill>
                <a:latin typeface="Calibri" pitchFamily="34" charset="0"/>
                <a:ea typeface="Calibri" pitchFamily="34" charset="-122"/>
                <a:cs typeface="Calibri" pitchFamily="34" charset="-120"/>
              </a:rPr>
              <a:t>An AI-powered fiction writing studio that runs entirely on your machine.</a:t>
            </a:r>
            <a:endParaRPr lang="en-US" sz="1400" dirty="0"/>
          </a:p>
          <a:p>
            <a:pPr marL="0" indent="0" algn="l">
              <a:buNone/>
            </a:pPr>
            <a:r>
              <a:rPr lang="en-US" sz="1400" i="1" dirty="0">
                <a:solidFill>
                  <a:srgbClr val="C5BDB0"/>
                </a:solidFill>
                <a:latin typeface="Calibri" pitchFamily="34" charset="0"/>
                <a:ea typeface="Calibri" pitchFamily="34" charset="-122"/>
                <a:cs typeface="Calibri" pitchFamily="34" charset="-120"/>
              </a:rPr>
              <a:t>No cloud. No subscription. No compromise.</a:t>
            </a:r>
            <a:endParaRPr lang="en-US" sz="1400" dirty="0"/>
          </a:p>
        </p:txBody>
      </p:sp>
      <p:sp>
        <p:nvSpPr>
          <p:cNvPr id="9" name="Shape 7"/>
          <p:cNvSpPr/>
          <p:nvPr/>
        </p:nvSpPr>
        <p:spPr>
          <a:xfrm>
            <a:off x="374904" y="3778389"/>
            <a:ext cx="2377440" cy="493776"/>
          </a:xfrm>
          <a:prstGeom prst="rect">
            <a:avLst/>
          </a:prstGeom>
          <a:solidFill>
            <a:srgbClr val="B8860B"/>
          </a:solidFill>
          <a:ln w="12700">
            <a:solidFill>
              <a:srgbClr val="333333"/>
            </a:solidFill>
            <a:prstDash val="solid"/>
          </a:ln>
          <a:effectLst>
            <a:outerShdw blurRad="127000" dist="50800" dir="8100000" algn="bl" rotWithShape="0">
              <a:srgbClr val="000000">
                <a:alpha val="22000"/>
              </a:srgbClr>
            </a:outerShdw>
          </a:effectLst>
        </p:spPr>
        <p:txBody>
          <a:bodyPr/>
          <a:lstStyle/>
          <a:p>
            <a:endParaRPr lang="en-IN" dirty="0"/>
          </a:p>
        </p:txBody>
      </p:sp>
      <p:sp>
        <p:nvSpPr>
          <p:cNvPr id="10" name="Text 8"/>
          <p:cNvSpPr/>
          <p:nvPr/>
        </p:nvSpPr>
        <p:spPr>
          <a:xfrm>
            <a:off x="356616" y="3767328"/>
            <a:ext cx="2377440" cy="493776"/>
          </a:xfrm>
          <a:prstGeom prst="rect">
            <a:avLst/>
          </a:prstGeom>
          <a:noFill/>
          <a:ln/>
        </p:spPr>
        <p:txBody>
          <a:bodyPr wrap="square" lIns="0" tIns="0" rIns="0" bIns="0" rtlCol="0" anchor="ctr"/>
          <a:lstStyle/>
          <a:p>
            <a:pPr marL="0" indent="0" algn="ctr">
              <a:buNone/>
            </a:pPr>
            <a:r>
              <a:rPr lang="en-US" sz="1000" b="1" kern="0" spc="150" dirty="0">
                <a:solidFill>
                  <a:srgbClr val="0E0C07"/>
                </a:solidFill>
                <a:latin typeface="Calibri" pitchFamily="34" charset="0"/>
                <a:ea typeface="Calibri" pitchFamily="34" charset="-122"/>
                <a:cs typeface="Calibri" pitchFamily="34" charset="-120"/>
              </a:rPr>
              <a:t>PRODUCT PITCH DECK</a:t>
            </a:r>
            <a:endParaRPr lang="en-US" sz="1000" dirty="0"/>
          </a:p>
        </p:txBody>
      </p:sp>
      <p:sp>
        <p:nvSpPr>
          <p:cNvPr id="11" name="Shape 9"/>
          <p:cNvSpPr/>
          <p:nvPr/>
        </p:nvSpPr>
        <p:spPr>
          <a:xfrm>
            <a:off x="2880360" y="3767328"/>
            <a:ext cx="2377440" cy="493776"/>
          </a:xfrm>
          <a:prstGeom prst="rect">
            <a:avLst/>
          </a:prstGeom>
          <a:solidFill>
            <a:srgbClr val="242218"/>
          </a:solidFill>
          <a:ln w="8890">
            <a:solidFill>
              <a:srgbClr val="B8860B"/>
            </a:solidFill>
            <a:prstDash val="solid"/>
          </a:ln>
        </p:spPr>
        <p:txBody>
          <a:bodyPr/>
          <a:lstStyle/>
          <a:p>
            <a:endParaRPr lang="en-IN" dirty="0"/>
          </a:p>
        </p:txBody>
      </p:sp>
      <p:sp>
        <p:nvSpPr>
          <p:cNvPr id="12" name="Text 10"/>
          <p:cNvSpPr/>
          <p:nvPr/>
        </p:nvSpPr>
        <p:spPr>
          <a:xfrm>
            <a:off x="2880360" y="3749039"/>
            <a:ext cx="2377440" cy="493776"/>
          </a:xfrm>
          <a:prstGeom prst="rect">
            <a:avLst/>
          </a:prstGeom>
          <a:noFill/>
          <a:ln/>
        </p:spPr>
        <p:txBody>
          <a:bodyPr wrap="square" lIns="0" tIns="0" rIns="0" bIns="0" rtlCol="0" anchor="ctr"/>
          <a:lstStyle/>
          <a:p>
            <a:pPr marL="0" indent="0" algn="ctr">
              <a:buNone/>
            </a:pPr>
            <a:r>
              <a:rPr lang="en-US" sz="1000" b="1" kern="0" spc="150" dirty="0">
                <a:solidFill>
                  <a:srgbClr val="B8860B"/>
                </a:solidFill>
                <a:latin typeface="Calibri" pitchFamily="34" charset="0"/>
                <a:ea typeface="Calibri" pitchFamily="34" charset="-122"/>
                <a:cs typeface="Calibri" pitchFamily="34" charset="-120"/>
              </a:rPr>
              <a:t>INFOSYS SPRINGBOARD BATCH 13</a:t>
            </a:r>
            <a:endParaRPr lang="en-US" sz="1000" dirty="0"/>
          </a:p>
        </p:txBody>
      </p:sp>
      <p:sp>
        <p:nvSpPr>
          <p:cNvPr id="13" name="Text 11"/>
          <p:cNvSpPr/>
          <p:nvPr/>
        </p:nvSpPr>
        <p:spPr>
          <a:xfrm>
            <a:off x="384048" y="4700016"/>
            <a:ext cx="5120640" cy="256032"/>
          </a:xfrm>
          <a:prstGeom prst="rect">
            <a:avLst/>
          </a:prstGeom>
          <a:noFill/>
          <a:ln/>
        </p:spPr>
        <p:txBody>
          <a:bodyPr wrap="square" lIns="0" tIns="0" rIns="0" bIns="0" rtlCol="0" anchor="ctr"/>
          <a:lstStyle/>
          <a:p>
            <a:pPr marL="0" indent="0" algn="l">
              <a:buNone/>
            </a:pPr>
            <a:r>
              <a:rPr lang="en-US" sz="850" dirty="0">
                <a:solidFill>
                  <a:srgbClr val="8A8470"/>
                </a:solidFill>
                <a:latin typeface="Calibri" pitchFamily="34" charset="0"/>
                <a:ea typeface="Calibri" pitchFamily="34" charset="-122"/>
                <a:cs typeface="Calibri" pitchFamily="34" charset="-120"/>
              </a:rPr>
              <a:t>Team: Subasri B  ·  Bhargavi Anakapalli  ·  Dharmeswaran  ·  Nithya S  ·  Ramya Jayaram  ·  Sriharini</a:t>
            </a:r>
            <a:endParaRPr lang="en-US" sz="850" dirty="0"/>
          </a:p>
        </p:txBody>
      </p:sp>
      <p:sp>
        <p:nvSpPr>
          <p:cNvPr id="14" name="Text 12"/>
          <p:cNvSpPr/>
          <p:nvPr/>
        </p:nvSpPr>
        <p:spPr>
          <a:xfrm>
            <a:off x="5870448" y="320040"/>
            <a:ext cx="3163824" cy="274320"/>
          </a:xfrm>
          <a:prstGeom prst="rect">
            <a:avLst/>
          </a:prstGeom>
          <a:noFill/>
          <a:ln/>
        </p:spPr>
        <p:txBody>
          <a:bodyPr wrap="square" lIns="0" tIns="0" rIns="0" bIns="0" rtlCol="0" anchor="ctr"/>
          <a:lstStyle/>
          <a:p>
            <a:pPr marL="0" indent="0" algn="ctr">
              <a:buNone/>
            </a:pPr>
            <a:r>
              <a:rPr lang="en-US" sz="900" b="1" kern="0" spc="250" dirty="0">
                <a:solidFill>
                  <a:srgbClr val="B8860B"/>
                </a:solidFill>
                <a:latin typeface="Calibri" pitchFamily="34" charset="0"/>
                <a:ea typeface="Calibri" pitchFamily="34" charset="-122"/>
                <a:cs typeface="Calibri" pitchFamily="34" charset="-120"/>
              </a:rPr>
              <a:t>AT A GLANCE</a:t>
            </a:r>
            <a:endParaRPr lang="en-US" sz="900" dirty="0"/>
          </a:p>
        </p:txBody>
      </p:sp>
      <p:sp>
        <p:nvSpPr>
          <p:cNvPr id="15" name="Shape 13"/>
          <p:cNvSpPr/>
          <p:nvPr/>
        </p:nvSpPr>
        <p:spPr>
          <a:xfrm>
            <a:off x="5989320" y="658368"/>
            <a:ext cx="2926080" cy="0"/>
          </a:xfrm>
          <a:prstGeom prst="line">
            <a:avLst/>
          </a:prstGeom>
          <a:noFill/>
          <a:ln w="6350">
            <a:solidFill>
              <a:srgbClr val="B8860B">
                <a:alpha val="50000"/>
              </a:srgbClr>
            </a:solidFill>
            <a:prstDash val="solid"/>
          </a:ln>
        </p:spPr>
      </p:sp>
      <p:sp>
        <p:nvSpPr>
          <p:cNvPr id="16" name="Shape 14"/>
          <p:cNvSpPr/>
          <p:nvPr/>
        </p:nvSpPr>
        <p:spPr>
          <a:xfrm>
            <a:off x="5870448" y="822960"/>
            <a:ext cx="3090672" cy="859536"/>
          </a:xfrm>
          <a:prstGeom prst="rect">
            <a:avLst/>
          </a:prstGeom>
          <a:solidFill>
            <a:srgbClr val="242218"/>
          </a:solidFill>
          <a:ln w="8890">
            <a:solidFill>
              <a:srgbClr val="B8860B"/>
            </a:solidFill>
            <a:prstDash val="solid"/>
          </a:ln>
          <a:effectLst>
            <a:outerShdw blurRad="127000" dist="50800" dir="8100000" algn="bl" rotWithShape="0">
              <a:srgbClr val="000000">
                <a:alpha val="22000"/>
              </a:srgbClr>
            </a:outerShdw>
          </a:effectLst>
        </p:spPr>
      </p:sp>
      <p:sp>
        <p:nvSpPr>
          <p:cNvPr id="17" name="Shape 15"/>
          <p:cNvSpPr/>
          <p:nvPr/>
        </p:nvSpPr>
        <p:spPr>
          <a:xfrm>
            <a:off x="5870448" y="822960"/>
            <a:ext cx="64008" cy="859536"/>
          </a:xfrm>
          <a:prstGeom prst="rect">
            <a:avLst/>
          </a:prstGeom>
          <a:solidFill>
            <a:srgbClr val="B8860B"/>
          </a:solidFill>
          <a:ln w="12700">
            <a:solidFill>
              <a:srgbClr val="333333"/>
            </a:solidFill>
            <a:prstDash val="solid"/>
          </a:ln>
        </p:spPr>
      </p:sp>
      <p:sp>
        <p:nvSpPr>
          <p:cNvPr id="18" name="Text 16"/>
          <p:cNvSpPr/>
          <p:nvPr/>
        </p:nvSpPr>
        <p:spPr>
          <a:xfrm>
            <a:off x="6035040" y="914400"/>
            <a:ext cx="2834640" cy="29260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10 Writing Actions</a:t>
            </a:r>
            <a:endParaRPr lang="en-US" sz="1400" dirty="0"/>
          </a:p>
        </p:txBody>
      </p:sp>
      <p:sp>
        <p:nvSpPr>
          <p:cNvPr id="19" name="Text 17"/>
          <p:cNvSpPr/>
          <p:nvPr/>
        </p:nvSpPr>
        <p:spPr>
          <a:xfrm>
            <a:off x="6035040" y="1261872"/>
            <a:ext cx="2834640" cy="329184"/>
          </a:xfrm>
          <a:prstGeom prst="rect">
            <a:avLst/>
          </a:prstGeom>
          <a:noFill/>
          <a:ln/>
        </p:spPr>
        <p:txBody>
          <a:bodyPr wrap="square" lIns="0" tIns="0" rIns="0" bIns="0" rtlCol="0" anchor="ctr"/>
          <a:lstStyle/>
          <a:p>
            <a:pPr marL="0" indent="0" algn="l">
              <a:buNone/>
            </a:pPr>
            <a:r>
              <a:rPr lang="en-US" sz="1000" i="1" dirty="0">
                <a:solidFill>
                  <a:srgbClr val="C5BDB0"/>
                </a:solidFill>
                <a:latin typeface="Calibri" pitchFamily="34" charset="0"/>
                <a:ea typeface="Calibri" pitchFamily="34" charset="-122"/>
                <a:cs typeface="Calibri" pitchFamily="34" charset="-120"/>
              </a:rPr>
              <a:t>Continue · Twist · Flashback · Dialogue…</a:t>
            </a:r>
            <a:endParaRPr lang="en-US" sz="1000" dirty="0"/>
          </a:p>
        </p:txBody>
      </p:sp>
      <p:sp>
        <p:nvSpPr>
          <p:cNvPr id="20" name="Shape 18"/>
          <p:cNvSpPr/>
          <p:nvPr/>
        </p:nvSpPr>
        <p:spPr>
          <a:xfrm>
            <a:off x="5870448" y="1865376"/>
            <a:ext cx="3090672" cy="859536"/>
          </a:xfrm>
          <a:prstGeom prst="rect">
            <a:avLst/>
          </a:prstGeom>
          <a:solidFill>
            <a:srgbClr val="242218"/>
          </a:solidFill>
          <a:ln w="8890">
            <a:solidFill>
              <a:srgbClr val="B8860B"/>
            </a:solidFill>
            <a:prstDash val="solid"/>
          </a:ln>
          <a:effectLst>
            <a:outerShdw blurRad="127000" dist="50800" dir="8100000" algn="bl" rotWithShape="0">
              <a:srgbClr val="000000">
                <a:alpha val="22000"/>
              </a:srgbClr>
            </a:outerShdw>
          </a:effectLst>
        </p:spPr>
      </p:sp>
      <p:sp>
        <p:nvSpPr>
          <p:cNvPr id="21" name="Shape 19"/>
          <p:cNvSpPr/>
          <p:nvPr/>
        </p:nvSpPr>
        <p:spPr>
          <a:xfrm>
            <a:off x="5870448" y="1865376"/>
            <a:ext cx="64008" cy="859536"/>
          </a:xfrm>
          <a:prstGeom prst="rect">
            <a:avLst/>
          </a:prstGeom>
          <a:solidFill>
            <a:srgbClr val="B8860B"/>
          </a:solidFill>
          <a:ln w="12700">
            <a:solidFill>
              <a:srgbClr val="333333"/>
            </a:solidFill>
            <a:prstDash val="solid"/>
          </a:ln>
        </p:spPr>
      </p:sp>
      <p:sp>
        <p:nvSpPr>
          <p:cNvPr id="22" name="Text 20"/>
          <p:cNvSpPr/>
          <p:nvPr/>
        </p:nvSpPr>
        <p:spPr>
          <a:xfrm>
            <a:off x="6035040" y="1956816"/>
            <a:ext cx="2834640" cy="29260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8 Story Genres</a:t>
            </a:r>
            <a:endParaRPr lang="en-US" sz="1400" dirty="0"/>
          </a:p>
        </p:txBody>
      </p:sp>
      <p:sp>
        <p:nvSpPr>
          <p:cNvPr id="23" name="Text 21"/>
          <p:cNvSpPr/>
          <p:nvPr/>
        </p:nvSpPr>
        <p:spPr>
          <a:xfrm>
            <a:off x="6035040" y="2304288"/>
            <a:ext cx="2834640" cy="329184"/>
          </a:xfrm>
          <a:prstGeom prst="rect">
            <a:avLst/>
          </a:prstGeom>
          <a:noFill/>
          <a:ln/>
        </p:spPr>
        <p:txBody>
          <a:bodyPr wrap="square" lIns="0" tIns="0" rIns="0" bIns="0" rtlCol="0" anchor="ctr"/>
          <a:lstStyle/>
          <a:p>
            <a:pPr marL="0" indent="0" algn="l">
              <a:buNone/>
            </a:pPr>
            <a:r>
              <a:rPr lang="en-US" sz="1000" i="1" dirty="0">
                <a:solidFill>
                  <a:srgbClr val="C5BDB0"/>
                </a:solidFill>
                <a:latin typeface="Calibri" pitchFamily="34" charset="0"/>
                <a:ea typeface="Calibri" pitchFamily="34" charset="-122"/>
                <a:cs typeface="Calibri" pitchFamily="34" charset="-120"/>
              </a:rPr>
              <a:t>Fantasy · Sci-Fi · Thriller · Romance…</a:t>
            </a:r>
            <a:endParaRPr lang="en-US" sz="1000" dirty="0"/>
          </a:p>
        </p:txBody>
      </p:sp>
      <p:sp>
        <p:nvSpPr>
          <p:cNvPr id="24" name="Shape 22"/>
          <p:cNvSpPr/>
          <p:nvPr/>
        </p:nvSpPr>
        <p:spPr>
          <a:xfrm>
            <a:off x="5870448" y="2907792"/>
            <a:ext cx="3090672" cy="859536"/>
          </a:xfrm>
          <a:prstGeom prst="rect">
            <a:avLst/>
          </a:prstGeom>
          <a:solidFill>
            <a:srgbClr val="242218"/>
          </a:solidFill>
          <a:ln w="8890">
            <a:solidFill>
              <a:srgbClr val="B8860B"/>
            </a:solidFill>
            <a:prstDash val="solid"/>
          </a:ln>
          <a:effectLst>
            <a:outerShdw blurRad="127000" dist="50800" dir="8100000" algn="bl" rotWithShape="0">
              <a:srgbClr val="000000">
                <a:alpha val="22000"/>
              </a:srgbClr>
            </a:outerShdw>
          </a:effectLst>
        </p:spPr>
      </p:sp>
      <p:sp>
        <p:nvSpPr>
          <p:cNvPr id="25" name="Shape 23"/>
          <p:cNvSpPr/>
          <p:nvPr/>
        </p:nvSpPr>
        <p:spPr>
          <a:xfrm>
            <a:off x="5870448" y="2907792"/>
            <a:ext cx="64008" cy="859536"/>
          </a:xfrm>
          <a:prstGeom prst="rect">
            <a:avLst/>
          </a:prstGeom>
          <a:solidFill>
            <a:srgbClr val="B8860B"/>
          </a:solidFill>
          <a:ln w="12700">
            <a:solidFill>
              <a:srgbClr val="333333"/>
            </a:solidFill>
            <a:prstDash val="solid"/>
          </a:ln>
        </p:spPr>
      </p:sp>
      <p:sp>
        <p:nvSpPr>
          <p:cNvPr id="26" name="Text 24"/>
          <p:cNvSpPr/>
          <p:nvPr/>
        </p:nvSpPr>
        <p:spPr>
          <a:xfrm>
            <a:off x="6035040" y="2999232"/>
            <a:ext cx="2834640" cy="29260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6 Workshop Tools</a:t>
            </a:r>
            <a:endParaRPr lang="en-US" sz="1400" dirty="0"/>
          </a:p>
        </p:txBody>
      </p:sp>
      <p:sp>
        <p:nvSpPr>
          <p:cNvPr id="27" name="Text 25"/>
          <p:cNvSpPr/>
          <p:nvPr/>
        </p:nvSpPr>
        <p:spPr>
          <a:xfrm>
            <a:off x="6035040" y="3346704"/>
            <a:ext cx="2834640" cy="329184"/>
          </a:xfrm>
          <a:prstGeom prst="rect">
            <a:avLst/>
          </a:prstGeom>
          <a:noFill/>
          <a:ln/>
        </p:spPr>
        <p:txBody>
          <a:bodyPr wrap="square" lIns="0" tIns="0" rIns="0" bIns="0" rtlCol="0" anchor="ctr"/>
          <a:lstStyle/>
          <a:p>
            <a:pPr marL="0" indent="0" algn="l">
              <a:buNone/>
            </a:pPr>
            <a:r>
              <a:rPr lang="en-US" sz="1000" i="1" dirty="0">
                <a:solidFill>
                  <a:srgbClr val="C5BDB0"/>
                </a:solidFill>
                <a:latin typeface="Calibri" pitchFamily="34" charset="0"/>
                <a:ea typeface="Calibri" pitchFamily="34" charset="-122"/>
                <a:cs typeface="Calibri" pitchFamily="34" charset="-120"/>
              </a:rPr>
              <a:t>Character · World · Plot · Prose · Coach…</a:t>
            </a:r>
            <a:endParaRPr lang="en-US" sz="1000" dirty="0"/>
          </a:p>
        </p:txBody>
      </p:sp>
      <p:sp>
        <p:nvSpPr>
          <p:cNvPr id="28" name="Shape 26"/>
          <p:cNvSpPr/>
          <p:nvPr/>
        </p:nvSpPr>
        <p:spPr>
          <a:xfrm>
            <a:off x="5870448" y="3950208"/>
            <a:ext cx="3090672" cy="859536"/>
          </a:xfrm>
          <a:prstGeom prst="rect">
            <a:avLst/>
          </a:prstGeom>
          <a:solidFill>
            <a:srgbClr val="242218"/>
          </a:solidFill>
          <a:ln w="8890">
            <a:solidFill>
              <a:srgbClr val="B8860B"/>
            </a:solidFill>
            <a:prstDash val="solid"/>
          </a:ln>
          <a:effectLst>
            <a:outerShdw blurRad="127000" dist="50800" dir="8100000" algn="bl" rotWithShape="0">
              <a:srgbClr val="000000">
                <a:alpha val="22000"/>
              </a:srgbClr>
            </a:outerShdw>
          </a:effectLst>
        </p:spPr>
      </p:sp>
      <p:sp>
        <p:nvSpPr>
          <p:cNvPr id="29" name="Shape 27"/>
          <p:cNvSpPr/>
          <p:nvPr/>
        </p:nvSpPr>
        <p:spPr>
          <a:xfrm>
            <a:off x="5870448" y="3950208"/>
            <a:ext cx="64008" cy="859536"/>
          </a:xfrm>
          <a:prstGeom prst="rect">
            <a:avLst/>
          </a:prstGeom>
          <a:solidFill>
            <a:srgbClr val="B8860B"/>
          </a:solidFill>
          <a:ln w="12700">
            <a:solidFill>
              <a:srgbClr val="333333"/>
            </a:solidFill>
            <a:prstDash val="solid"/>
          </a:ln>
        </p:spPr>
      </p:sp>
      <p:sp>
        <p:nvSpPr>
          <p:cNvPr id="30" name="Text 28"/>
          <p:cNvSpPr/>
          <p:nvPr/>
        </p:nvSpPr>
        <p:spPr>
          <a:xfrm>
            <a:off x="6035040" y="4041648"/>
            <a:ext cx="2834640" cy="29260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₹0 Running Cost</a:t>
            </a:r>
            <a:endParaRPr lang="en-US" sz="1400" dirty="0"/>
          </a:p>
        </p:txBody>
      </p:sp>
      <p:sp>
        <p:nvSpPr>
          <p:cNvPr id="31" name="Text 29"/>
          <p:cNvSpPr/>
          <p:nvPr/>
        </p:nvSpPr>
        <p:spPr>
          <a:xfrm>
            <a:off x="6035040" y="4389120"/>
            <a:ext cx="2834640" cy="329184"/>
          </a:xfrm>
          <a:prstGeom prst="rect">
            <a:avLst/>
          </a:prstGeom>
          <a:noFill/>
          <a:ln/>
        </p:spPr>
        <p:txBody>
          <a:bodyPr wrap="square" lIns="0" tIns="0" rIns="0" bIns="0" rtlCol="0" anchor="ctr"/>
          <a:lstStyle/>
          <a:p>
            <a:pPr marL="0" indent="0" algn="l">
              <a:buNone/>
            </a:pPr>
            <a:r>
              <a:rPr lang="en-US" sz="1000" i="1" dirty="0">
                <a:solidFill>
                  <a:srgbClr val="C5BDB0"/>
                </a:solidFill>
                <a:latin typeface="Calibri" pitchFamily="34" charset="0"/>
                <a:ea typeface="Calibri" pitchFamily="34" charset="-122"/>
                <a:cs typeface="Calibri" pitchFamily="34" charset="-120"/>
              </a:rPr>
              <a:t>Fully local. No tokens. No API fees.</a:t>
            </a:r>
            <a:endParaRPr lang="en-US" sz="1000" dirty="0"/>
          </a:p>
        </p:txBody>
      </p:sp>
      <p:sp>
        <p:nvSpPr>
          <p:cNvPr id="32" name="TextBox 31">
            <a:extLst>
              <a:ext uri="{FF2B5EF4-FFF2-40B4-BE49-F238E27FC236}">
                <a16:creationId xmlns:a16="http://schemas.microsoft.com/office/drawing/2014/main" id="{061D893F-17D9-0D42-89F6-5E002AAE039F}"/>
              </a:ext>
            </a:extLst>
          </p:cNvPr>
          <p:cNvSpPr txBox="1"/>
          <p:nvPr/>
        </p:nvSpPr>
        <p:spPr>
          <a:xfrm>
            <a:off x="292608" y="4526279"/>
            <a:ext cx="2707804" cy="223138"/>
          </a:xfrm>
          <a:prstGeom prst="rect">
            <a:avLst/>
          </a:prstGeom>
          <a:noFill/>
        </p:spPr>
        <p:txBody>
          <a:bodyPr wrap="square" rtlCol="0">
            <a:spAutoFit/>
          </a:bodyPr>
          <a:lstStyle/>
          <a:p>
            <a:r>
              <a:rPr lang="en-IN" sz="850" dirty="0">
                <a:solidFill>
                  <a:schemeClr val="tx1">
                    <a:lumMod val="50000"/>
                    <a:lumOff val="50000"/>
                  </a:schemeClr>
                </a:solidFill>
              </a:rPr>
              <a:t>Mentor: </a:t>
            </a:r>
            <a:r>
              <a:rPr lang="en-IN" sz="850" dirty="0" err="1">
                <a:solidFill>
                  <a:schemeClr val="tx1">
                    <a:lumMod val="50000"/>
                    <a:lumOff val="50000"/>
                  </a:schemeClr>
                </a:solidFill>
              </a:rPr>
              <a:t>Mr.Rojar</a:t>
            </a:r>
            <a:r>
              <a:rPr lang="en-IN" sz="850" dirty="0">
                <a:solidFill>
                  <a:schemeClr val="tx1">
                    <a:lumMod val="50000"/>
                    <a:lumOff val="50000"/>
                  </a:schemeClr>
                </a:solidFill>
              </a:rPr>
              <a:t>, Infosys Springboard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E0C07"/>
          </a:solidFill>
          <a:ln/>
        </p:spPr>
      </p:sp>
      <p:sp>
        <p:nvSpPr>
          <p:cNvPr id="3" name="Shape 1"/>
          <p:cNvSpPr/>
          <p:nvPr/>
        </p:nvSpPr>
        <p:spPr>
          <a:xfrm>
            <a:off x="0" y="987552"/>
            <a:ext cx="9144000" cy="64008"/>
          </a:xfrm>
          <a:prstGeom prst="rect">
            <a:avLst/>
          </a:prstGeom>
          <a:solidFill>
            <a:srgbClr val="B8860B"/>
          </a:solidFill>
          <a:ln/>
        </p:spPr>
      </p:sp>
      <p:sp>
        <p:nvSpPr>
          <p:cNvPr id="4" name="Text 2"/>
          <p:cNvSpPr/>
          <p:nvPr/>
        </p:nvSpPr>
        <p:spPr>
          <a:xfrm>
            <a:off x="457200" y="36576"/>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01  /  THE PROBLEM</a:t>
            </a:r>
            <a:endParaRPr lang="en-US" sz="1000" dirty="0"/>
          </a:p>
        </p:txBody>
      </p:sp>
      <p:sp>
        <p:nvSpPr>
          <p:cNvPr id="5" name="Text 3"/>
          <p:cNvSpPr/>
          <p:nvPr/>
        </p:nvSpPr>
        <p:spPr>
          <a:xfrm>
            <a:off x="457200" y="384048"/>
            <a:ext cx="8412480" cy="475488"/>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Writers are underserved by the tools available to them.</a:t>
            </a:r>
            <a:endParaRPr lang="en-US" sz="2000" dirty="0"/>
          </a:p>
        </p:txBody>
      </p:sp>
      <p:sp>
        <p:nvSpPr>
          <p:cNvPr id="6" name="Shape 4"/>
          <p:cNvSpPr/>
          <p:nvPr/>
        </p:nvSpPr>
        <p:spPr>
          <a:xfrm>
            <a:off x="256032" y="1188720"/>
            <a:ext cx="2715768" cy="3730752"/>
          </a:xfrm>
          <a:prstGeom prst="rect">
            <a:avLst/>
          </a:prstGeom>
          <a:solidFill>
            <a:srgbClr val="FFFFFF"/>
          </a:solidFill>
          <a:ln w="11430">
            <a:solidFill>
              <a:srgbClr val="EDE9E1"/>
            </a:solidFill>
            <a:prstDash val="solid"/>
          </a:ln>
          <a:effectLst>
            <a:outerShdw blurRad="76200" dist="25400" dir="8100000" algn="bl" rotWithShape="0">
              <a:srgbClr val="000000">
                <a:alpha val="12000"/>
              </a:srgbClr>
            </a:outerShdw>
          </a:effectLst>
        </p:spPr>
      </p:sp>
      <p:sp>
        <p:nvSpPr>
          <p:cNvPr id="7" name="Shape 5"/>
          <p:cNvSpPr/>
          <p:nvPr/>
        </p:nvSpPr>
        <p:spPr>
          <a:xfrm>
            <a:off x="256032" y="1188720"/>
            <a:ext cx="2715768" cy="64008"/>
          </a:xfrm>
          <a:prstGeom prst="rect">
            <a:avLst/>
          </a:prstGeom>
          <a:solidFill>
            <a:srgbClr val="B8860B"/>
          </a:solidFill>
          <a:ln w="12700">
            <a:solidFill>
              <a:srgbClr val="333333"/>
            </a:solidFill>
            <a:prstDash val="solid"/>
          </a:ln>
        </p:spPr>
      </p:sp>
      <p:sp>
        <p:nvSpPr>
          <p:cNvPr id="8" name="Shape 6"/>
          <p:cNvSpPr/>
          <p:nvPr/>
        </p:nvSpPr>
        <p:spPr>
          <a:xfrm>
            <a:off x="420624" y="1316736"/>
            <a:ext cx="2395728" cy="256032"/>
          </a:xfrm>
          <a:prstGeom prst="rect">
            <a:avLst/>
          </a:prstGeom>
          <a:solidFill>
            <a:srgbClr val="FFF8E7"/>
          </a:solidFill>
          <a:ln w="7620">
            <a:solidFill>
              <a:srgbClr val="B8860B"/>
            </a:solidFill>
            <a:prstDash val="solid"/>
          </a:ln>
        </p:spPr>
      </p:sp>
      <p:sp>
        <p:nvSpPr>
          <p:cNvPr id="9" name="Text 7"/>
          <p:cNvSpPr/>
          <p:nvPr/>
        </p:nvSpPr>
        <p:spPr>
          <a:xfrm>
            <a:off x="420624" y="1316736"/>
            <a:ext cx="2395728" cy="256032"/>
          </a:xfrm>
          <a:prstGeom prst="rect">
            <a:avLst/>
          </a:prstGeom>
          <a:noFill/>
          <a:ln/>
        </p:spPr>
        <p:txBody>
          <a:bodyPr wrap="square" lIns="0" tIns="0" rIns="0" bIns="0" rtlCol="0" anchor="ctr"/>
          <a:lstStyle/>
          <a:p>
            <a:pPr marL="0" indent="0" algn="ctr">
              <a:buNone/>
            </a:pPr>
            <a:r>
              <a:rPr lang="en-US" sz="900" b="1" kern="0" spc="100" dirty="0">
                <a:solidFill>
                  <a:srgbClr val="B8860B"/>
                </a:solidFill>
                <a:latin typeface="Calibri" pitchFamily="34" charset="0"/>
                <a:ea typeface="Calibri" pitchFamily="34" charset="-122"/>
                <a:cs typeface="Calibri" pitchFamily="34" charset="-120"/>
              </a:rPr>
              <a:t>Creative Stagnation</a:t>
            </a:r>
            <a:endParaRPr lang="en-US" sz="900" dirty="0"/>
          </a:p>
        </p:txBody>
      </p:sp>
      <p:sp>
        <p:nvSpPr>
          <p:cNvPr id="10" name="Text 8"/>
          <p:cNvSpPr/>
          <p:nvPr/>
        </p:nvSpPr>
        <p:spPr>
          <a:xfrm>
            <a:off x="420624" y="1682496"/>
            <a:ext cx="566928" cy="548640"/>
          </a:xfrm>
          <a:prstGeom prst="rect">
            <a:avLst/>
          </a:prstGeom>
          <a:noFill/>
          <a:ln/>
        </p:spPr>
        <p:txBody>
          <a:bodyPr wrap="square" lIns="0" tIns="0" rIns="0" bIns="0" rtlCol="0" anchor="ctr"/>
          <a:lstStyle/>
          <a:p>
            <a:pPr marL="0" indent="0" algn="l">
              <a:buNone/>
            </a:pPr>
            <a:r>
              <a:rPr lang="en-US" sz="3200" b="1" dirty="0">
                <a:solidFill>
                  <a:srgbClr val="B8860B"/>
                </a:solidFill>
                <a:latin typeface="Georgia" pitchFamily="34" charset="0"/>
                <a:ea typeface="Georgia" pitchFamily="34" charset="-122"/>
                <a:cs typeface="Georgia" pitchFamily="34" charset="-120"/>
              </a:rPr>
              <a:t>01</a:t>
            </a:r>
            <a:endParaRPr lang="en-US" sz="3200" dirty="0"/>
          </a:p>
        </p:txBody>
      </p:sp>
      <p:sp>
        <p:nvSpPr>
          <p:cNvPr id="11" name="Text 9"/>
          <p:cNvSpPr/>
          <p:nvPr/>
        </p:nvSpPr>
        <p:spPr>
          <a:xfrm>
            <a:off x="420624" y="2304288"/>
            <a:ext cx="2395728" cy="438912"/>
          </a:xfrm>
          <a:prstGeom prst="rect">
            <a:avLst/>
          </a:prstGeom>
          <a:noFill/>
          <a:ln/>
        </p:spPr>
        <p:txBody>
          <a:bodyPr wrap="square" lIns="0" tIns="0" rIns="0" bIns="0" rtlCol="0" anchor="ctr"/>
          <a:lstStyle/>
          <a:p>
            <a:pPr marL="0" indent="0" algn="l">
              <a:buNone/>
            </a:pPr>
            <a:r>
              <a:rPr lang="en-US" sz="1400" b="1" dirty="0">
                <a:solidFill>
                  <a:srgbClr val="0E0C07"/>
                </a:solidFill>
                <a:latin typeface="Georgia" pitchFamily="34" charset="0"/>
                <a:ea typeface="Georgia" pitchFamily="34" charset="-122"/>
                <a:cs typeface="Georgia" pitchFamily="34" charset="-120"/>
              </a:rPr>
              <a:t>The Blank Page Problem</a:t>
            </a:r>
            <a:endParaRPr lang="en-US" sz="1400" dirty="0"/>
          </a:p>
        </p:txBody>
      </p:sp>
      <p:sp>
        <p:nvSpPr>
          <p:cNvPr id="12" name="Shape 10"/>
          <p:cNvSpPr/>
          <p:nvPr/>
        </p:nvSpPr>
        <p:spPr>
          <a:xfrm>
            <a:off x="420624" y="2779776"/>
            <a:ext cx="2194560" cy="0"/>
          </a:xfrm>
          <a:prstGeom prst="line">
            <a:avLst/>
          </a:prstGeom>
          <a:noFill/>
          <a:ln w="10160">
            <a:solidFill>
              <a:srgbClr val="EDE9E1"/>
            </a:solidFill>
            <a:prstDash val="solid"/>
          </a:ln>
        </p:spPr>
      </p:sp>
      <p:sp>
        <p:nvSpPr>
          <p:cNvPr id="13" name="Text 11"/>
          <p:cNvSpPr/>
          <p:nvPr/>
        </p:nvSpPr>
        <p:spPr>
          <a:xfrm>
            <a:off x="420624" y="2871216"/>
            <a:ext cx="2395728" cy="1965960"/>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Over 73% of aspiring writers report abandoning stories due to creative blocks, loss of direction, or declining momentum. No tool on the market acts as a true AI collaborator — one that understands narrative structure, genre conventions, and the writer's own established world.</a:t>
            </a:r>
            <a:endParaRPr lang="en-US" sz="1000" dirty="0"/>
          </a:p>
          <a:p>
            <a:pPr marL="0" indent="0" algn="l">
              <a:buNone/>
            </a:pPr>
            <a:endParaRPr lang="en-US" sz="1000" dirty="0"/>
          </a:p>
          <a:p>
            <a:pPr marL="0" indent="0" algn="l">
              <a:buNone/>
            </a:pPr>
            <a:r>
              <a:rPr lang="en-US" sz="1000" dirty="0">
                <a:solidFill>
                  <a:srgbClr val="8A8470"/>
                </a:solidFill>
                <a:latin typeface="Calibri" pitchFamily="34" charset="0"/>
                <a:ea typeface="Calibri" pitchFamily="34" charset="-122"/>
                <a:cs typeface="Calibri" pitchFamily="34" charset="-120"/>
              </a:rPr>
              <a:t>Existing tools offer generic suggestions with no awareness of character, tone, or story history.</a:t>
            </a:r>
            <a:endParaRPr lang="en-US" sz="1000" dirty="0"/>
          </a:p>
        </p:txBody>
      </p:sp>
      <p:sp>
        <p:nvSpPr>
          <p:cNvPr id="14" name="Shape 12"/>
          <p:cNvSpPr/>
          <p:nvPr/>
        </p:nvSpPr>
        <p:spPr>
          <a:xfrm>
            <a:off x="3154680" y="1188720"/>
            <a:ext cx="2715768" cy="3730752"/>
          </a:xfrm>
          <a:prstGeom prst="rect">
            <a:avLst/>
          </a:prstGeom>
          <a:solidFill>
            <a:srgbClr val="FFFFFF"/>
          </a:solidFill>
          <a:ln w="11430">
            <a:solidFill>
              <a:srgbClr val="EDE9E1"/>
            </a:solidFill>
            <a:prstDash val="solid"/>
          </a:ln>
          <a:effectLst>
            <a:outerShdw blurRad="76200" dist="25400" dir="8100000" algn="bl" rotWithShape="0">
              <a:srgbClr val="000000">
                <a:alpha val="12000"/>
              </a:srgbClr>
            </a:outerShdw>
          </a:effectLst>
        </p:spPr>
      </p:sp>
      <p:sp>
        <p:nvSpPr>
          <p:cNvPr id="15" name="Shape 13"/>
          <p:cNvSpPr/>
          <p:nvPr/>
        </p:nvSpPr>
        <p:spPr>
          <a:xfrm>
            <a:off x="3154680" y="1188720"/>
            <a:ext cx="2715768" cy="64008"/>
          </a:xfrm>
          <a:prstGeom prst="rect">
            <a:avLst/>
          </a:prstGeom>
          <a:solidFill>
            <a:srgbClr val="B8860B"/>
          </a:solidFill>
          <a:ln w="12700">
            <a:solidFill>
              <a:srgbClr val="333333"/>
            </a:solidFill>
            <a:prstDash val="solid"/>
          </a:ln>
        </p:spPr>
      </p:sp>
      <p:sp>
        <p:nvSpPr>
          <p:cNvPr id="16" name="Shape 14"/>
          <p:cNvSpPr/>
          <p:nvPr/>
        </p:nvSpPr>
        <p:spPr>
          <a:xfrm>
            <a:off x="3319272" y="1316736"/>
            <a:ext cx="2395728" cy="256032"/>
          </a:xfrm>
          <a:prstGeom prst="rect">
            <a:avLst/>
          </a:prstGeom>
          <a:solidFill>
            <a:srgbClr val="FFF8E7"/>
          </a:solidFill>
          <a:ln w="7620">
            <a:solidFill>
              <a:srgbClr val="B8860B"/>
            </a:solidFill>
            <a:prstDash val="solid"/>
          </a:ln>
        </p:spPr>
      </p:sp>
      <p:sp>
        <p:nvSpPr>
          <p:cNvPr id="17" name="Text 15"/>
          <p:cNvSpPr/>
          <p:nvPr/>
        </p:nvSpPr>
        <p:spPr>
          <a:xfrm>
            <a:off x="3319272" y="1316736"/>
            <a:ext cx="2395728" cy="256032"/>
          </a:xfrm>
          <a:prstGeom prst="rect">
            <a:avLst/>
          </a:prstGeom>
          <a:noFill/>
          <a:ln/>
        </p:spPr>
        <p:txBody>
          <a:bodyPr wrap="square" lIns="0" tIns="0" rIns="0" bIns="0" rtlCol="0" anchor="ctr"/>
          <a:lstStyle/>
          <a:p>
            <a:pPr marL="0" indent="0" algn="ctr">
              <a:buNone/>
            </a:pPr>
            <a:r>
              <a:rPr lang="en-US" sz="900" b="1" kern="0" spc="100" dirty="0">
                <a:solidFill>
                  <a:srgbClr val="B8860B"/>
                </a:solidFill>
                <a:latin typeface="Calibri" pitchFamily="34" charset="0"/>
                <a:ea typeface="Calibri" pitchFamily="34" charset="-122"/>
                <a:cs typeface="Calibri" pitchFamily="34" charset="-120"/>
              </a:rPr>
              <a:t>Data Risk + High Cost</a:t>
            </a:r>
            <a:endParaRPr lang="en-US" sz="900" dirty="0"/>
          </a:p>
        </p:txBody>
      </p:sp>
      <p:sp>
        <p:nvSpPr>
          <p:cNvPr id="18" name="Text 16"/>
          <p:cNvSpPr/>
          <p:nvPr/>
        </p:nvSpPr>
        <p:spPr>
          <a:xfrm>
            <a:off x="3319272" y="1682496"/>
            <a:ext cx="566928" cy="548640"/>
          </a:xfrm>
          <a:prstGeom prst="rect">
            <a:avLst/>
          </a:prstGeom>
          <a:noFill/>
          <a:ln/>
        </p:spPr>
        <p:txBody>
          <a:bodyPr wrap="square" lIns="0" tIns="0" rIns="0" bIns="0" rtlCol="0" anchor="ctr"/>
          <a:lstStyle/>
          <a:p>
            <a:pPr marL="0" indent="0" algn="l">
              <a:buNone/>
            </a:pPr>
            <a:r>
              <a:rPr lang="en-US" sz="3200" b="1" dirty="0">
                <a:solidFill>
                  <a:srgbClr val="B8860B"/>
                </a:solidFill>
                <a:latin typeface="Georgia" pitchFamily="34" charset="0"/>
                <a:ea typeface="Georgia" pitchFamily="34" charset="-122"/>
                <a:cs typeface="Georgia" pitchFamily="34" charset="-120"/>
              </a:rPr>
              <a:t>02</a:t>
            </a:r>
            <a:endParaRPr lang="en-US" sz="3200" dirty="0"/>
          </a:p>
        </p:txBody>
      </p:sp>
      <p:sp>
        <p:nvSpPr>
          <p:cNvPr id="19" name="Text 17"/>
          <p:cNvSpPr/>
          <p:nvPr/>
        </p:nvSpPr>
        <p:spPr>
          <a:xfrm>
            <a:off x="3319272" y="2304288"/>
            <a:ext cx="2395728" cy="438912"/>
          </a:xfrm>
          <a:prstGeom prst="rect">
            <a:avLst/>
          </a:prstGeom>
          <a:noFill/>
          <a:ln/>
        </p:spPr>
        <p:txBody>
          <a:bodyPr wrap="square" lIns="0" tIns="0" rIns="0" bIns="0" rtlCol="0" anchor="ctr"/>
          <a:lstStyle/>
          <a:p>
            <a:pPr marL="0" indent="0" algn="l">
              <a:buNone/>
            </a:pPr>
            <a:r>
              <a:rPr lang="en-US" sz="1400" b="1" dirty="0">
                <a:solidFill>
                  <a:srgbClr val="0E0C07"/>
                </a:solidFill>
                <a:latin typeface="Georgia" pitchFamily="34" charset="0"/>
                <a:ea typeface="Georgia" pitchFamily="34" charset="-122"/>
                <a:cs typeface="Georgia" pitchFamily="34" charset="-120"/>
              </a:rPr>
              <a:t>Privacy &amp; Cost Barriers</a:t>
            </a:r>
            <a:endParaRPr lang="en-US" sz="1400" dirty="0"/>
          </a:p>
        </p:txBody>
      </p:sp>
      <p:sp>
        <p:nvSpPr>
          <p:cNvPr id="20" name="Shape 18"/>
          <p:cNvSpPr/>
          <p:nvPr/>
        </p:nvSpPr>
        <p:spPr>
          <a:xfrm>
            <a:off x="3319272" y="2779776"/>
            <a:ext cx="2194560" cy="0"/>
          </a:xfrm>
          <a:prstGeom prst="line">
            <a:avLst/>
          </a:prstGeom>
          <a:noFill/>
          <a:ln w="10160">
            <a:solidFill>
              <a:srgbClr val="EDE9E1"/>
            </a:solidFill>
            <a:prstDash val="solid"/>
          </a:ln>
        </p:spPr>
      </p:sp>
      <p:sp>
        <p:nvSpPr>
          <p:cNvPr id="21" name="Text 19"/>
          <p:cNvSpPr/>
          <p:nvPr/>
        </p:nvSpPr>
        <p:spPr>
          <a:xfrm>
            <a:off x="3319272" y="2871216"/>
            <a:ext cx="2395728" cy="1965960"/>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Cloud-based AI writing tools — ChatGPT, Sudowrite, Jasper — charge $19–$99/month and transmit all story content to external servers. For writers developing original IP, this is an unacceptable risk.</a:t>
            </a:r>
            <a:endParaRPr lang="en-US" sz="1000" dirty="0"/>
          </a:p>
          <a:p>
            <a:pPr marL="0" indent="0" algn="l">
              <a:buNone/>
            </a:pPr>
            <a:endParaRPr lang="en-US" sz="1000" dirty="0"/>
          </a:p>
          <a:p>
            <a:pPr marL="0" indent="0" algn="l">
              <a:buNone/>
            </a:pPr>
            <a:r>
              <a:rPr lang="en-US" sz="1000" dirty="0">
                <a:solidFill>
                  <a:srgbClr val="8A8470"/>
                </a:solidFill>
                <a:latin typeface="Calibri" pitchFamily="34" charset="0"/>
                <a:ea typeface="Calibri" pitchFamily="34" charset="-122"/>
                <a:cs typeface="Calibri" pitchFamily="34" charset="-120"/>
              </a:rPr>
              <a:t>Character names, world-building details, plot structures, and unpublished prose are all exposed to third-party infrastructure with no guaranteed data deletion.</a:t>
            </a:r>
            <a:endParaRPr lang="en-US" sz="1000" dirty="0"/>
          </a:p>
        </p:txBody>
      </p:sp>
      <p:sp>
        <p:nvSpPr>
          <p:cNvPr id="22" name="Shape 20"/>
          <p:cNvSpPr/>
          <p:nvPr/>
        </p:nvSpPr>
        <p:spPr>
          <a:xfrm>
            <a:off x="6053328" y="1188720"/>
            <a:ext cx="2715768" cy="3730752"/>
          </a:xfrm>
          <a:prstGeom prst="rect">
            <a:avLst/>
          </a:prstGeom>
          <a:solidFill>
            <a:srgbClr val="FFFFFF"/>
          </a:solidFill>
          <a:ln w="11430">
            <a:solidFill>
              <a:srgbClr val="EDE9E1"/>
            </a:solidFill>
            <a:prstDash val="solid"/>
          </a:ln>
          <a:effectLst>
            <a:outerShdw blurRad="76200" dist="25400" dir="8100000" algn="bl" rotWithShape="0">
              <a:srgbClr val="000000">
                <a:alpha val="12000"/>
              </a:srgbClr>
            </a:outerShdw>
          </a:effectLst>
        </p:spPr>
      </p:sp>
      <p:sp>
        <p:nvSpPr>
          <p:cNvPr id="23" name="Shape 21"/>
          <p:cNvSpPr/>
          <p:nvPr/>
        </p:nvSpPr>
        <p:spPr>
          <a:xfrm>
            <a:off x="6053328" y="1188720"/>
            <a:ext cx="2715768" cy="64008"/>
          </a:xfrm>
          <a:prstGeom prst="rect">
            <a:avLst/>
          </a:prstGeom>
          <a:solidFill>
            <a:srgbClr val="B8860B"/>
          </a:solidFill>
          <a:ln w="12700">
            <a:solidFill>
              <a:srgbClr val="333333"/>
            </a:solidFill>
            <a:prstDash val="solid"/>
          </a:ln>
        </p:spPr>
      </p:sp>
      <p:sp>
        <p:nvSpPr>
          <p:cNvPr id="24" name="Shape 22"/>
          <p:cNvSpPr/>
          <p:nvPr/>
        </p:nvSpPr>
        <p:spPr>
          <a:xfrm>
            <a:off x="6217920" y="1316736"/>
            <a:ext cx="2395728" cy="256032"/>
          </a:xfrm>
          <a:prstGeom prst="rect">
            <a:avLst/>
          </a:prstGeom>
          <a:solidFill>
            <a:srgbClr val="FFF8E7"/>
          </a:solidFill>
          <a:ln w="7620">
            <a:solidFill>
              <a:srgbClr val="B8860B"/>
            </a:solidFill>
            <a:prstDash val="solid"/>
          </a:ln>
        </p:spPr>
      </p:sp>
      <p:sp>
        <p:nvSpPr>
          <p:cNvPr id="25" name="Text 23"/>
          <p:cNvSpPr/>
          <p:nvPr/>
        </p:nvSpPr>
        <p:spPr>
          <a:xfrm>
            <a:off x="6217920" y="1316736"/>
            <a:ext cx="2395728" cy="256032"/>
          </a:xfrm>
          <a:prstGeom prst="rect">
            <a:avLst/>
          </a:prstGeom>
          <a:noFill/>
          <a:ln/>
        </p:spPr>
        <p:txBody>
          <a:bodyPr wrap="square" lIns="0" tIns="0" rIns="0" bIns="0" rtlCol="0" anchor="ctr"/>
          <a:lstStyle/>
          <a:p>
            <a:pPr marL="0" indent="0" algn="ctr">
              <a:buNone/>
            </a:pPr>
            <a:r>
              <a:rPr lang="en-US" sz="900" b="1" kern="0" spc="100" dirty="0">
                <a:solidFill>
                  <a:srgbClr val="B8860B"/>
                </a:solidFill>
                <a:latin typeface="Calibri" pitchFamily="34" charset="0"/>
                <a:ea typeface="Calibri" pitchFamily="34" charset="-122"/>
                <a:cs typeface="Calibri" pitchFamily="34" charset="-120"/>
              </a:rPr>
              <a:t>Poor Quality Output</a:t>
            </a:r>
            <a:endParaRPr lang="en-US" sz="900" dirty="0"/>
          </a:p>
        </p:txBody>
      </p:sp>
      <p:sp>
        <p:nvSpPr>
          <p:cNvPr id="26" name="Text 24"/>
          <p:cNvSpPr/>
          <p:nvPr/>
        </p:nvSpPr>
        <p:spPr>
          <a:xfrm>
            <a:off x="6217920" y="1682496"/>
            <a:ext cx="566928" cy="548640"/>
          </a:xfrm>
          <a:prstGeom prst="rect">
            <a:avLst/>
          </a:prstGeom>
          <a:noFill/>
          <a:ln/>
        </p:spPr>
        <p:txBody>
          <a:bodyPr wrap="square" lIns="0" tIns="0" rIns="0" bIns="0" rtlCol="0" anchor="ctr"/>
          <a:lstStyle/>
          <a:p>
            <a:pPr marL="0" indent="0" algn="l">
              <a:buNone/>
            </a:pPr>
            <a:r>
              <a:rPr lang="en-US" sz="3200" b="1" dirty="0">
                <a:solidFill>
                  <a:srgbClr val="B8860B"/>
                </a:solidFill>
                <a:latin typeface="Georgia" pitchFamily="34" charset="0"/>
                <a:ea typeface="Georgia" pitchFamily="34" charset="-122"/>
                <a:cs typeface="Georgia" pitchFamily="34" charset="-120"/>
              </a:rPr>
              <a:t>03</a:t>
            </a:r>
            <a:endParaRPr lang="en-US" sz="3200" dirty="0"/>
          </a:p>
        </p:txBody>
      </p:sp>
      <p:sp>
        <p:nvSpPr>
          <p:cNvPr id="27" name="Text 25"/>
          <p:cNvSpPr/>
          <p:nvPr/>
        </p:nvSpPr>
        <p:spPr>
          <a:xfrm>
            <a:off x="6217920" y="2304288"/>
            <a:ext cx="2395728" cy="438912"/>
          </a:xfrm>
          <a:prstGeom prst="rect">
            <a:avLst/>
          </a:prstGeom>
          <a:noFill/>
          <a:ln/>
        </p:spPr>
        <p:txBody>
          <a:bodyPr wrap="square" lIns="0" tIns="0" rIns="0" bIns="0" rtlCol="0" anchor="ctr"/>
          <a:lstStyle/>
          <a:p>
            <a:pPr marL="0" indent="0" algn="l">
              <a:buNone/>
            </a:pPr>
            <a:r>
              <a:rPr lang="en-US" sz="1400" b="1" dirty="0">
                <a:solidFill>
                  <a:srgbClr val="0E0C07"/>
                </a:solidFill>
                <a:latin typeface="Georgia" pitchFamily="34" charset="0"/>
                <a:ea typeface="Georgia" pitchFamily="34" charset="-122"/>
                <a:cs typeface="Georgia" pitchFamily="34" charset="-120"/>
              </a:rPr>
              <a:t>Context-Blind Generation</a:t>
            </a:r>
            <a:endParaRPr lang="en-US" sz="1400" dirty="0"/>
          </a:p>
        </p:txBody>
      </p:sp>
      <p:sp>
        <p:nvSpPr>
          <p:cNvPr id="28" name="Shape 26"/>
          <p:cNvSpPr/>
          <p:nvPr/>
        </p:nvSpPr>
        <p:spPr>
          <a:xfrm>
            <a:off x="6217920" y="2779776"/>
            <a:ext cx="2194560" cy="0"/>
          </a:xfrm>
          <a:prstGeom prst="line">
            <a:avLst/>
          </a:prstGeom>
          <a:noFill/>
          <a:ln w="10160">
            <a:solidFill>
              <a:srgbClr val="EDE9E1"/>
            </a:solidFill>
            <a:prstDash val="solid"/>
          </a:ln>
        </p:spPr>
      </p:sp>
      <p:sp>
        <p:nvSpPr>
          <p:cNvPr id="29" name="Text 27"/>
          <p:cNvSpPr/>
          <p:nvPr/>
        </p:nvSpPr>
        <p:spPr>
          <a:xfrm>
            <a:off x="6217920" y="2871216"/>
            <a:ext cx="2395728" cy="1965960"/>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Current AI tools start every prompt from zero. They have no memory of the writer's established characters, world rules, or narrative voice. The result is flat, inconsistent prose that fails to match the author's style.</a:t>
            </a:r>
            <a:endParaRPr lang="en-US" sz="1000" dirty="0"/>
          </a:p>
          <a:p>
            <a:pPr marL="0" indent="0" algn="l">
              <a:buNone/>
            </a:pPr>
            <a:endParaRPr lang="en-US" sz="1000" dirty="0"/>
          </a:p>
          <a:p>
            <a:pPr marL="0" indent="0" algn="l">
              <a:buNone/>
            </a:pPr>
            <a:r>
              <a:rPr lang="en-US" sz="1000" dirty="0">
                <a:solidFill>
                  <a:srgbClr val="8A8470"/>
                </a:solidFill>
                <a:latin typeface="Calibri" pitchFamily="34" charset="0"/>
                <a:ea typeface="Calibri" pitchFamily="34" charset="-122"/>
                <a:cs typeface="Calibri" pitchFamily="34" charset="-120"/>
              </a:rPr>
              <a:t>There is no system that persists character traits, world logic, and tonal preferences across a long-form writing session — until now.</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860B"/>
          </a:solidFill>
          <a:ln/>
        </p:spPr>
      </p:sp>
      <p:sp>
        <p:nvSpPr>
          <p:cNvPr id="3" name="Text 1"/>
          <p:cNvSpPr/>
          <p:nvPr/>
        </p:nvSpPr>
        <p:spPr>
          <a:xfrm>
            <a:off x="457200" y="182880"/>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02  /  THE SOLUTION</a:t>
            </a:r>
            <a:endParaRPr lang="en-US" sz="1000" dirty="0"/>
          </a:p>
        </p:txBody>
      </p:sp>
      <p:sp>
        <p:nvSpPr>
          <p:cNvPr id="4" name="Text 2"/>
          <p:cNvSpPr/>
          <p:nvPr/>
        </p:nvSpPr>
        <p:spPr>
          <a:xfrm>
            <a:off x="457200" y="530352"/>
            <a:ext cx="5394960" cy="1005840"/>
          </a:xfrm>
          <a:prstGeom prst="rect">
            <a:avLst/>
          </a:prstGeom>
          <a:noFill/>
          <a:ln/>
        </p:spPr>
        <p:txBody>
          <a:bodyPr wrap="square" lIns="0" tIns="0" rIns="0" bIns="0"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Narrative Flow — Story Co-Writer</a:t>
            </a:r>
            <a:endParaRPr lang="en-US" sz="4200" dirty="0"/>
          </a:p>
        </p:txBody>
      </p:sp>
      <p:sp>
        <p:nvSpPr>
          <p:cNvPr id="5" name="Shape 3"/>
          <p:cNvSpPr/>
          <p:nvPr/>
        </p:nvSpPr>
        <p:spPr>
          <a:xfrm>
            <a:off x="457200" y="1572768"/>
            <a:ext cx="5029200" cy="0"/>
          </a:xfrm>
          <a:prstGeom prst="line">
            <a:avLst/>
          </a:prstGeom>
          <a:noFill/>
          <a:ln w="19050">
            <a:solidFill>
              <a:srgbClr val="B8860B"/>
            </a:solidFill>
            <a:prstDash val="solid"/>
          </a:ln>
        </p:spPr>
      </p:sp>
      <p:sp>
        <p:nvSpPr>
          <p:cNvPr id="6" name="Text 4"/>
          <p:cNvSpPr/>
          <p:nvPr/>
        </p:nvSpPr>
        <p:spPr>
          <a:xfrm>
            <a:off x="457200" y="1691640"/>
            <a:ext cx="5029200" cy="1115568"/>
          </a:xfrm>
          <a:prstGeom prst="rect">
            <a:avLst/>
          </a:prstGeom>
          <a:noFill/>
          <a:ln/>
        </p:spPr>
        <p:txBody>
          <a:bodyPr wrap="square" lIns="0" tIns="0" rIns="0" bIns="0" rtlCol="0" anchor="ctr"/>
          <a:lstStyle/>
          <a:p>
            <a:pPr marL="0" indent="0" algn="l">
              <a:buNone/>
            </a:pPr>
            <a:r>
              <a:rPr lang="en-US" sz="1250" dirty="0">
                <a:solidFill>
                  <a:srgbClr val="C5BDB0"/>
                </a:solidFill>
                <a:latin typeface="Calibri" pitchFamily="34" charset="0"/>
                <a:ea typeface="Calibri" pitchFamily="34" charset="-122"/>
                <a:cs typeface="Calibri" pitchFamily="34" charset="-120"/>
              </a:rPr>
              <a:t>A full-stack AI writing studio that runs entirely on your machine. No subscriptions. No data leaks. No generic output. Narrative Flow knows your characters, your world, and your voice — and collaborates with you passage by passage to build a complete manuscript.</a:t>
            </a:r>
            <a:endParaRPr lang="en-US" sz="1250" dirty="0"/>
          </a:p>
        </p:txBody>
      </p:sp>
      <p:sp>
        <p:nvSpPr>
          <p:cNvPr id="7" name="Shape 5"/>
          <p:cNvSpPr/>
          <p:nvPr/>
        </p:nvSpPr>
        <p:spPr>
          <a:xfrm>
            <a:off x="457200" y="2907792"/>
            <a:ext cx="5029200" cy="292608"/>
          </a:xfrm>
          <a:prstGeom prst="rect">
            <a:avLst/>
          </a:prstGeom>
          <a:solidFill>
            <a:srgbClr val="1A1810"/>
          </a:solidFill>
          <a:ln w="6350">
            <a:solidFill>
              <a:srgbClr val="2E2B1E"/>
            </a:solidFill>
            <a:prstDash val="solid"/>
          </a:ln>
        </p:spPr>
      </p:sp>
      <p:sp>
        <p:nvSpPr>
          <p:cNvPr id="8" name="Shape 6"/>
          <p:cNvSpPr/>
          <p:nvPr/>
        </p:nvSpPr>
        <p:spPr>
          <a:xfrm>
            <a:off x="457200" y="2907792"/>
            <a:ext cx="54864" cy="292608"/>
          </a:xfrm>
          <a:prstGeom prst="rect">
            <a:avLst/>
          </a:prstGeom>
          <a:solidFill>
            <a:srgbClr val="B8860B"/>
          </a:solidFill>
          <a:ln w="12700">
            <a:solidFill>
              <a:srgbClr val="333333"/>
            </a:solidFill>
            <a:prstDash val="solid"/>
          </a:ln>
        </p:spPr>
      </p:sp>
      <p:sp>
        <p:nvSpPr>
          <p:cNvPr id="9" name="Text 7"/>
          <p:cNvSpPr/>
          <p:nvPr/>
        </p:nvSpPr>
        <p:spPr>
          <a:xfrm>
            <a:off x="603504" y="2907792"/>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Context-aware AI that remembers your characters &amp; world rules</a:t>
            </a:r>
            <a:endParaRPr lang="en-US" sz="1100" dirty="0"/>
          </a:p>
        </p:txBody>
      </p:sp>
      <p:sp>
        <p:nvSpPr>
          <p:cNvPr id="10" name="Shape 8"/>
          <p:cNvSpPr/>
          <p:nvPr/>
        </p:nvSpPr>
        <p:spPr>
          <a:xfrm>
            <a:off x="457200" y="3246120"/>
            <a:ext cx="5029200" cy="292608"/>
          </a:xfrm>
          <a:prstGeom prst="rect">
            <a:avLst/>
          </a:prstGeom>
          <a:solidFill>
            <a:srgbClr val="1A1810"/>
          </a:solidFill>
          <a:ln w="6350">
            <a:solidFill>
              <a:srgbClr val="2E2B1E"/>
            </a:solidFill>
            <a:prstDash val="solid"/>
          </a:ln>
        </p:spPr>
      </p:sp>
      <p:sp>
        <p:nvSpPr>
          <p:cNvPr id="11" name="Shape 9"/>
          <p:cNvSpPr/>
          <p:nvPr/>
        </p:nvSpPr>
        <p:spPr>
          <a:xfrm>
            <a:off x="457200" y="3246120"/>
            <a:ext cx="54864" cy="292608"/>
          </a:xfrm>
          <a:prstGeom prst="rect">
            <a:avLst/>
          </a:prstGeom>
          <a:solidFill>
            <a:srgbClr val="B8860B"/>
          </a:solidFill>
          <a:ln w="12700">
            <a:solidFill>
              <a:srgbClr val="333333"/>
            </a:solidFill>
            <a:prstDash val="solid"/>
          </a:ln>
        </p:spPr>
      </p:sp>
      <p:sp>
        <p:nvSpPr>
          <p:cNvPr id="12" name="Text 10"/>
          <p:cNvSpPr/>
          <p:nvPr/>
        </p:nvSpPr>
        <p:spPr>
          <a:xfrm>
            <a:off x="603504" y="3246120"/>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10 targeted writing actions — not just 'continue writing'</a:t>
            </a:r>
            <a:endParaRPr lang="en-US" sz="1100" dirty="0"/>
          </a:p>
        </p:txBody>
      </p:sp>
      <p:sp>
        <p:nvSpPr>
          <p:cNvPr id="13" name="Shape 11"/>
          <p:cNvSpPr/>
          <p:nvPr/>
        </p:nvSpPr>
        <p:spPr>
          <a:xfrm>
            <a:off x="457200" y="3584448"/>
            <a:ext cx="5029200" cy="292608"/>
          </a:xfrm>
          <a:prstGeom prst="rect">
            <a:avLst/>
          </a:prstGeom>
          <a:solidFill>
            <a:srgbClr val="1A1810"/>
          </a:solidFill>
          <a:ln w="6350">
            <a:solidFill>
              <a:srgbClr val="2E2B1E"/>
            </a:solidFill>
            <a:prstDash val="solid"/>
          </a:ln>
        </p:spPr>
      </p:sp>
      <p:sp>
        <p:nvSpPr>
          <p:cNvPr id="14" name="Shape 12"/>
          <p:cNvSpPr/>
          <p:nvPr/>
        </p:nvSpPr>
        <p:spPr>
          <a:xfrm>
            <a:off x="457200" y="3584448"/>
            <a:ext cx="54864" cy="292608"/>
          </a:xfrm>
          <a:prstGeom prst="rect">
            <a:avLst/>
          </a:prstGeom>
          <a:solidFill>
            <a:srgbClr val="B8860B"/>
          </a:solidFill>
          <a:ln w="12700">
            <a:solidFill>
              <a:srgbClr val="333333"/>
            </a:solidFill>
            <a:prstDash val="solid"/>
          </a:ln>
        </p:spPr>
      </p:sp>
      <p:sp>
        <p:nvSpPr>
          <p:cNvPr id="15" name="Text 13"/>
          <p:cNvSpPr/>
          <p:nvPr/>
        </p:nvSpPr>
        <p:spPr>
          <a:xfrm>
            <a:off x="603504" y="3584448"/>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Genre + tone + POV + scene mood on every single passage</a:t>
            </a:r>
            <a:endParaRPr lang="en-US" sz="1100" dirty="0"/>
          </a:p>
        </p:txBody>
      </p:sp>
      <p:sp>
        <p:nvSpPr>
          <p:cNvPr id="16" name="Shape 14"/>
          <p:cNvSpPr/>
          <p:nvPr/>
        </p:nvSpPr>
        <p:spPr>
          <a:xfrm>
            <a:off x="457200" y="3922776"/>
            <a:ext cx="5029200" cy="292608"/>
          </a:xfrm>
          <a:prstGeom prst="rect">
            <a:avLst/>
          </a:prstGeom>
          <a:solidFill>
            <a:srgbClr val="1A1810"/>
          </a:solidFill>
          <a:ln w="6350">
            <a:solidFill>
              <a:srgbClr val="2E2B1E"/>
            </a:solidFill>
            <a:prstDash val="solid"/>
          </a:ln>
        </p:spPr>
      </p:sp>
      <p:sp>
        <p:nvSpPr>
          <p:cNvPr id="17" name="Shape 15"/>
          <p:cNvSpPr/>
          <p:nvPr/>
        </p:nvSpPr>
        <p:spPr>
          <a:xfrm>
            <a:off x="457200" y="3922776"/>
            <a:ext cx="54864" cy="292608"/>
          </a:xfrm>
          <a:prstGeom prst="rect">
            <a:avLst/>
          </a:prstGeom>
          <a:solidFill>
            <a:srgbClr val="B8860B"/>
          </a:solidFill>
          <a:ln w="12700">
            <a:solidFill>
              <a:srgbClr val="333333"/>
            </a:solidFill>
            <a:prstDash val="solid"/>
          </a:ln>
        </p:spPr>
      </p:sp>
      <p:sp>
        <p:nvSpPr>
          <p:cNvPr id="18" name="Text 16"/>
          <p:cNvSpPr/>
          <p:nvPr/>
        </p:nvSpPr>
        <p:spPr>
          <a:xfrm>
            <a:off x="603504" y="3922776"/>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Full dual-page book viewer with A5 print-ready PDF export</a:t>
            </a:r>
            <a:endParaRPr lang="en-US" sz="1100" dirty="0"/>
          </a:p>
        </p:txBody>
      </p:sp>
      <p:sp>
        <p:nvSpPr>
          <p:cNvPr id="19" name="Shape 17"/>
          <p:cNvSpPr/>
          <p:nvPr/>
        </p:nvSpPr>
        <p:spPr>
          <a:xfrm>
            <a:off x="457200" y="4261104"/>
            <a:ext cx="5029200" cy="292608"/>
          </a:xfrm>
          <a:prstGeom prst="rect">
            <a:avLst/>
          </a:prstGeom>
          <a:solidFill>
            <a:srgbClr val="1A1810"/>
          </a:solidFill>
          <a:ln w="6350">
            <a:solidFill>
              <a:srgbClr val="2E2B1E"/>
            </a:solidFill>
            <a:prstDash val="solid"/>
          </a:ln>
        </p:spPr>
      </p:sp>
      <p:sp>
        <p:nvSpPr>
          <p:cNvPr id="20" name="Shape 18"/>
          <p:cNvSpPr/>
          <p:nvPr/>
        </p:nvSpPr>
        <p:spPr>
          <a:xfrm>
            <a:off x="457200" y="4261104"/>
            <a:ext cx="54864" cy="292608"/>
          </a:xfrm>
          <a:prstGeom prst="rect">
            <a:avLst/>
          </a:prstGeom>
          <a:solidFill>
            <a:srgbClr val="B8860B"/>
          </a:solidFill>
          <a:ln w="12700">
            <a:solidFill>
              <a:srgbClr val="333333"/>
            </a:solidFill>
            <a:prstDash val="solid"/>
          </a:ln>
        </p:spPr>
      </p:sp>
      <p:sp>
        <p:nvSpPr>
          <p:cNvPr id="21" name="Text 19"/>
          <p:cNvSpPr/>
          <p:nvPr/>
        </p:nvSpPr>
        <p:spPr>
          <a:xfrm>
            <a:off x="603504" y="4261104"/>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6-tool Author's Workshop for deep story development</a:t>
            </a:r>
            <a:endParaRPr lang="en-US" sz="1100" dirty="0"/>
          </a:p>
        </p:txBody>
      </p:sp>
      <p:sp>
        <p:nvSpPr>
          <p:cNvPr id="22" name="Shape 20"/>
          <p:cNvSpPr/>
          <p:nvPr/>
        </p:nvSpPr>
        <p:spPr>
          <a:xfrm>
            <a:off x="457200" y="4599432"/>
            <a:ext cx="5029200" cy="292608"/>
          </a:xfrm>
          <a:prstGeom prst="rect">
            <a:avLst/>
          </a:prstGeom>
          <a:solidFill>
            <a:srgbClr val="1A1810"/>
          </a:solidFill>
          <a:ln w="6350">
            <a:solidFill>
              <a:srgbClr val="2E2B1E"/>
            </a:solidFill>
            <a:prstDash val="solid"/>
          </a:ln>
        </p:spPr>
      </p:sp>
      <p:sp>
        <p:nvSpPr>
          <p:cNvPr id="23" name="Shape 21"/>
          <p:cNvSpPr/>
          <p:nvPr/>
        </p:nvSpPr>
        <p:spPr>
          <a:xfrm>
            <a:off x="457200" y="4599432"/>
            <a:ext cx="54864" cy="292608"/>
          </a:xfrm>
          <a:prstGeom prst="rect">
            <a:avLst/>
          </a:prstGeom>
          <a:solidFill>
            <a:srgbClr val="B8860B"/>
          </a:solidFill>
          <a:ln w="12700">
            <a:solidFill>
              <a:srgbClr val="333333"/>
            </a:solidFill>
            <a:prstDash val="solid"/>
          </a:ln>
        </p:spPr>
      </p:sp>
      <p:sp>
        <p:nvSpPr>
          <p:cNvPr id="24" name="Text 22"/>
          <p:cNvSpPr/>
          <p:nvPr/>
        </p:nvSpPr>
        <p:spPr>
          <a:xfrm>
            <a:off x="603504" y="4599432"/>
            <a:ext cx="4828032" cy="292608"/>
          </a:xfrm>
          <a:prstGeom prst="rect">
            <a:avLst/>
          </a:prstGeom>
          <a:noFill/>
          <a:ln/>
        </p:spPr>
        <p:txBody>
          <a:bodyPr wrap="square" lIns="0" tIns="0" rIns="0" bIns="0" rtlCol="0" anchor="ctr"/>
          <a:lstStyle/>
          <a:p>
            <a:pPr marL="0" indent="0" algn="l">
              <a:buNone/>
            </a:pPr>
            <a:r>
              <a:rPr lang="en-US" sz="1100" dirty="0">
                <a:solidFill>
                  <a:srgbClr val="D4A017"/>
                </a:solidFill>
                <a:latin typeface="Calibri" pitchFamily="34" charset="0"/>
                <a:ea typeface="Calibri" pitchFamily="34" charset="-122"/>
                <a:cs typeface="Calibri" pitchFamily="34" charset="-120"/>
              </a:rPr>
              <a:t>✦  Complete per-user history: auto-save, search, pin, archive</a:t>
            </a:r>
            <a:endParaRPr lang="en-US" sz="1100" dirty="0"/>
          </a:p>
        </p:txBody>
      </p:sp>
      <p:sp>
        <p:nvSpPr>
          <p:cNvPr id="25" name="Shape 23"/>
          <p:cNvSpPr/>
          <p:nvPr/>
        </p:nvSpPr>
        <p:spPr>
          <a:xfrm>
            <a:off x="5760720" y="164592"/>
            <a:ext cx="3154680" cy="4800600"/>
          </a:xfrm>
          <a:prstGeom prst="rect">
            <a:avLst/>
          </a:prstGeom>
          <a:solidFill>
            <a:srgbClr val="1A1810"/>
          </a:solidFill>
          <a:ln w="12700">
            <a:solidFill>
              <a:srgbClr val="B8860B"/>
            </a:solidFill>
            <a:prstDash val="solid"/>
          </a:ln>
          <a:effectLst>
            <a:outerShdw blurRad="127000" dist="50800" dir="8100000" algn="bl" rotWithShape="0">
              <a:srgbClr val="000000">
                <a:alpha val="22000"/>
              </a:srgbClr>
            </a:outerShdw>
          </a:effectLst>
        </p:spPr>
      </p:sp>
      <p:sp>
        <p:nvSpPr>
          <p:cNvPr id="26" name="Text 24"/>
          <p:cNvSpPr/>
          <p:nvPr/>
        </p:nvSpPr>
        <p:spPr>
          <a:xfrm>
            <a:off x="5760720" y="384048"/>
            <a:ext cx="3154680" cy="274320"/>
          </a:xfrm>
          <a:prstGeom prst="rect">
            <a:avLst/>
          </a:prstGeom>
          <a:noFill/>
          <a:ln/>
        </p:spPr>
        <p:txBody>
          <a:bodyPr wrap="square" lIns="0" tIns="0" rIns="0" bIns="0" rtlCol="0" anchor="ctr"/>
          <a:lstStyle/>
          <a:p>
            <a:pPr marL="0" indent="0" algn="ctr">
              <a:buNone/>
            </a:pPr>
            <a:r>
              <a:rPr lang="en-US" sz="900" b="1" kern="0" spc="250" dirty="0">
                <a:solidFill>
                  <a:srgbClr val="B8860B"/>
                </a:solidFill>
                <a:latin typeface="Calibri" pitchFamily="34" charset="0"/>
                <a:ea typeface="Calibri" pitchFamily="34" charset="-122"/>
                <a:cs typeface="Calibri" pitchFamily="34" charset="-120"/>
              </a:rPr>
              <a:t>BY THE NUMBERS</a:t>
            </a:r>
            <a:endParaRPr lang="en-US" sz="900" dirty="0"/>
          </a:p>
        </p:txBody>
      </p:sp>
      <p:sp>
        <p:nvSpPr>
          <p:cNvPr id="27" name="Shape 25"/>
          <p:cNvSpPr/>
          <p:nvPr/>
        </p:nvSpPr>
        <p:spPr>
          <a:xfrm>
            <a:off x="5943600" y="713232"/>
            <a:ext cx="2788920" cy="0"/>
          </a:xfrm>
          <a:prstGeom prst="line">
            <a:avLst/>
          </a:prstGeom>
          <a:noFill/>
          <a:ln w="6350">
            <a:solidFill>
              <a:srgbClr val="B8860B">
                <a:alpha val="50000"/>
              </a:srgbClr>
            </a:solidFill>
            <a:prstDash val="solid"/>
          </a:ln>
        </p:spPr>
      </p:sp>
      <p:sp>
        <p:nvSpPr>
          <p:cNvPr id="28" name="Shape 26"/>
          <p:cNvSpPr/>
          <p:nvPr/>
        </p:nvSpPr>
        <p:spPr>
          <a:xfrm>
            <a:off x="5943600" y="1737360"/>
            <a:ext cx="2788920" cy="0"/>
          </a:xfrm>
          <a:prstGeom prst="line">
            <a:avLst/>
          </a:prstGeom>
          <a:noFill/>
          <a:ln w="7620">
            <a:solidFill>
              <a:srgbClr val="2A2720"/>
            </a:solidFill>
            <a:prstDash val="solid"/>
          </a:ln>
        </p:spPr>
      </p:sp>
      <p:sp>
        <p:nvSpPr>
          <p:cNvPr id="29" name="Text 27"/>
          <p:cNvSpPr/>
          <p:nvPr/>
        </p:nvSpPr>
        <p:spPr>
          <a:xfrm>
            <a:off x="5806440" y="877824"/>
            <a:ext cx="822960" cy="731520"/>
          </a:xfrm>
          <a:prstGeom prst="rect">
            <a:avLst/>
          </a:prstGeom>
          <a:noFill/>
          <a:ln/>
        </p:spPr>
        <p:txBody>
          <a:bodyPr wrap="square" lIns="0" tIns="0" rIns="0" bIns="0" rtlCol="0" anchor="ctr"/>
          <a:lstStyle/>
          <a:p>
            <a:pPr marL="0" indent="0" algn="ctr">
              <a:buNone/>
            </a:pPr>
            <a:r>
              <a:rPr lang="en-US" sz="4600" b="1" dirty="0">
                <a:solidFill>
                  <a:srgbClr val="F0C040"/>
                </a:solidFill>
                <a:latin typeface="Georgia" pitchFamily="34" charset="0"/>
                <a:ea typeface="Georgia" pitchFamily="34" charset="-122"/>
                <a:cs typeface="Georgia" pitchFamily="34" charset="-120"/>
              </a:rPr>
              <a:t>10</a:t>
            </a:r>
            <a:endParaRPr lang="en-US" sz="4600" dirty="0"/>
          </a:p>
        </p:txBody>
      </p:sp>
      <p:sp>
        <p:nvSpPr>
          <p:cNvPr id="30" name="Text 28"/>
          <p:cNvSpPr/>
          <p:nvPr/>
        </p:nvSpPr>
        <p:spPr>
          <a:xfrm>
            <a:off x="6656832" y="914400"/>
            <a:ext cx="210312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Georgia" pitchFamily="34" charset="0"/>
                <a:ea typeface="Georgia" pitchFamily="34" charset="-122"/>
                <a:cs typeface="Georgia" pitchFamily="34" charset="-120"/>
              </a:rPr>
              <a:t>Writing Actions</a:t>
            </a:r>
            <a:endParaRPr lang="en-US" sz="1200" dirty="0"/>
          </a:p>
        </p:txBody>
      </p:sp>
      <p:sp>
        <p:nvSpPr>
          <p:cNvPr id="31" name="Text 29"/>
          <p:cNvSpPr/>
          <p:nvPr/>
        </p:nvSpPr>
        <p:spPr>
          <a:xfrm>
            <a:off x="6656832" y="1207008"/>
            <a:ext cx="2103120" cy="502920"/>
          </a:xfrm>
          <a:prstGeom prst="rect">
            <a:avLst/>
          </a:prstGeom>
          <a:noFill/>
          <a:ln/>
        </p:spPr>
        <p:txBody>
          <a:bodyPr wrap="square" lIns="0" tIns="0" rIns="0" bIns="0" rtlCol="0" anchor="ctr"/>
          <a:lstStyle/>
          <a:p>
            <a:pPr marL="0" indent="0" algn="l">
              <a:buNone/>
            </a:pPr>
            <a:r>
              <a:rPr lang="en-US" sz="850" dirty="0">
                <a:solidFill>
                  <a:srgbClr val="8A8470"/>
                </a:solidFill>
                <a:latin typeface="Calibri" pitchFamily="34" charset="0"/>
                <a:ea typeface="Calibri" pitchFamily="34" charset="-122"/>
                <a:cs typeface="Calibri" pitchFamily="34" charset="-120"/>
              </a:rPr>
              <a:t>Continue · Enhance · Rewrite</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Plot Twist · Dialogue · Describe</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Foreshadow · Raise Stakes</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Flashback · End Chapter</a:t>
            </a:r>
            <a:endParaRPr lang="en-US" sz="850" dirty="0"/>
          </a:p>
        </p:txBody>
      </p:sp>
      <p:sp>
        <p:nvSpPr>
          <p:cNvPr id="32" name="Shape 30"/>
          <p:cNvSpPr/>
          <p:nvPr/>
        </p:nvSpPr>
        <p:spPr>
          <a:xfrm>
            <a:off x="5943600" y="2743200"/>
            <a:ext cx="2788920" cy="0"/>
          </a:xfrm>
          <a:prstGeom prst="line">
            <a:avLst/>
          </a:prstGeom>
          <a:noFill/>
          <a:ln w="7620">
            <a:solidFill>
              <a:srgbClr val="2A2720"/>
            </a:solidFill>
            <a:prstDash val="solid"/>
          </a:ln>
        </p:spPr>
      </p:sp>
      <p:sp>
        <p:nvSpPr>
          <p:cNvPr id="33" name="Text 31"/>
          <p:cNvSpPr/>
          <p:nvPr/>
        </p:nvSpPr>
        <p:spPr>
          <a:xfrm>
            <a:off x="5806440" y="1883664"/>
            <a:ext cx="822960" cy="731520"/>
          </a:xfrm>
          <a:prstGeom prst="rect">
            <a:avLst/>
          </a:prstGeom>
          <a:noFill/>
          <a:ln/>
        </p:spPr>
        <p:txBody>
          <a:bodyPr wrap="square" lIns="0" tIns="0" rIns="0" bIns="0" rtlCol="0" anchor="ctr"/>
          <a:lstStyle/>
          <a:p>
            <a:pPr marL="0" indent="0" algn="ctr">
              <a:buNone/>
            </a:pPr>
            <a:r>
              <a:rPr lang="en-US" sz="4600" b="1" dirty="0">
                <a:solidFill>
                  <a:srgbClr val="F0C040"/>
                </a:solidFill>
                <a:latin typeface="Georgia" pitchFamily="34" charset="0"/>
                <a:ea typeface="Georgia" pitchFamily="34" charset="-122"/>
                <a:cs typeface="Georgia" pitchFamily="34" charset="-120"/>
              </a:rPr>
              <a:t>8</a:t>
            </a:r>
            <a:endParaRPr lang="en-US" sz="4600" dirty="0"/>
          </a:p>
        </p:txBody>
      </p:sp>
      <p:sp>
        <p:nvSpPr>
          <p:cNvPr id="34" name="Text 32"/>
          <p:cNvSpPr/>
          <p:nvPr/>
        </p:nvSpPr>
        <p:spPr>
          <a:xfrm>
            <a:off x="6656832" y="1920240"/>
            <a:ext cx="210312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Georgia" pitchFamily="34" charset="0"/>
                <a:ea typeface="Georgia" pitchFamily="34" charset="-122"/>
                <a:cs typeface="Georgia" pitchFamily="34" charset="-120"/>
              </a:rPr>
              <a:t>Story Genres</a:t>
            </a:r>
            <a:endParaRPr lang="en-US" sz="1200" dirty="0"/>
          </a:p>
        </p:txBody>
      </p:sp>
      <p:sp>
        <p:nvSpPr>
          <p:cNvPr id="35" name="Text 33"/>
          <p:cNvSpPr/>
          <p:nvPr/>
        </p:nvSpPr>
        <p:spPr>
          <a:xfrm>
            <a:off x="6656832" y="2212848"/>
            <a:ext cx="2103120" cy="502920"/>
          </a:xfrm>
          <a:prstGeom prst="rect">
            <a:avLst/>
          </a:prstGeom>
          <a:noFill/>
          <a:ln/>
        </p:spPr>
        <p:txBody>
          <a:bodyPr wrap="square" lIns="0" tIns="0" rIns="0" bIns="0" rtlCol="0" anchor="ctr"/>
          <a:lstStyle/>
          <a:p>
            <a:pPr marL="0" indent="0" algn="l">
              <a:buNone/>
            </a:pPr>
            <a:r>
              <a:rPr lang="en-US" sz="850" dirty="0">
                <a:solidFill>
                  <a:srgbClr val="8A8470"/>
                </a:solidFill>
                <a:latin typeface="Calibri" pitchFamily="34" charset="0"/>
                <a:ea typeface="Calibri" pitchFamily="34" charset="-122"/>
                <a:cs typeface="Calibri" pitchFamily="34" charset="-120"/>
              </a:rPr>
              <a:t>Fantasy · Sci-Fi · Thriller</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Romance · Horror · Mystery</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Historical · Literary</a:t>
            </a:r>
            <a:endParaRPr lang="en-US" sz="850" dirty="0"/>
          </a:p>
        </p:txBody>
      </p:sp>
      <p:sp>
        <p:nvSpPr>
          <p:cNvPr id="36" name="Shape 34"/>
          <p:cNvSpPr/>
          <p:nvPr/>
        </p:nvSpPr>
        <p:spPr>
          <a:xfrm>
            <a:off x="5943600" y="3749040"/>
            <a:ext cx="2788920" cy="0"/>
          </a:xfrm>
          <a:prstGeom prst="line">
            <a:avLst/>
          </a:prstGeom>
          <a:noFill/>
          <a:ln w="7620">
            <a:solidFill>
              <a:srgbClr val="2A2720"/>
            </a:solidFill>
            <a:prstDash val="solid"/>
          </a:ln>
        </p:spPr>
      </p:sp>
      <p:sp>
        <p:nvSpPr>
          <p:cNvPr id="37" name="Text 35"/>
          <p:cNvSpPr/>
          <p:nvPr/>
        </p:nvSpPr>
        <p:spPr>
          <a:xfrm>
            <a:off x="5806440" y="2889504"/>
            <a:ext cx="822960" cy="731520"/>
          </a:xfrm>
          <a:prstGeom prst="rect">
            <a:avLst/>
          </a:prstGeom>
          <a:noFill/>
          <a:ln/>
        </p:spPr>
        <p:txBody>
          <a:bodyPr wrap="square" lIns="0" tIns="0" rIns="0" bIns="0" rtlCol="0" anchor="ctr"/>
          <a:lstStyle/>
          <a:p>
            <a:pPr marL="0" indent="0" algn="ctr">
              <a:buNone/>
            </a:pPr>
            <a:r>
              <a:rPr lang="en-US" sz="4600" b="1" dirty="0">
                <a:solidFill>
                  <a:srgbClr val="F0C040"/>
                </a:solidFill>
                <a:latin typeface="Georgia" pitchFamily="34" charset="0"/>
                <a:ea typeface="Georgia" pitchFamily="34" charset="-122"/>
                <a:cs typeface="Georgia" pitchFamily="34" charset="-120"/>
              </a:rPr>
              <a:t>6</a:t>
            </a:r>
            <a:endParaRPr lang="en-US" sz="4600" dirty="0"/>
          </a:p>
        </p:txBody>
      </p:sp>
      <p:sp>
        <p:nvSpPr>
          <p:cNvPr id="38" name="Text 36"/>
          <p:cNvSpPr/>
          <p:nvPr/>
        </p:nvSpPr>
        <p:spPr>
          <a:xfrm>
            <a:off x="6656832" y="2926080"/>
            <a:ext cx="210312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Georgia" pitchFamily="34" charset="0"/>
                <a:ea typeface="Georgia" pitchFamily="34" charset="-122"/>
                <a:cs typeface="Georgia" pitchFamily="34" charset="-120"/>
              </a:rPr>
              <a:t>Workshop Tools</a:t>
            </a:r>
            <a:endParaRPr lang="en-US" sz="1200" dirty="0"/>
          </a:p>
        </p:txBody>
      </p:sp>
      <p:sp>
        <p:nvSpPr>
          <p:cNvPr id="39" name="Text 37"/>
          <p:cNvSpPr/>
          <p:nvPr/>
        </p:nvSpPr>
        <p:spPr>
          <a:xfrm>
            <a:off x="6656832" y="3218688"/>
            <a:ext cx="2103120" cy="502920"/>
          </a:xfrm>
          <a:prstGeom prst="rect">
            <a:avLst/>
          </a:prstGeom>
          <a:noFill/>
          <a:ln/>
        </p:spPr>
        <p:txBody>
          <a:bodyPr wrap="square" lIns="0" tIns="0" rIns="0" bIns="0" rtlCol="0" anchor="ctr"/>
          <a:lstStyle/>
          <a:p>
            <a:pPr marL="0" indent="0" algn="l">
              <a:buNone/>
            </a:pPr>
            <a:r>
              <a:rPr lang="en-US" sz="850" dirty="0">
                <a:solidFill>
                  <a:srgbClr val="8A8470"/>
                </a:solidFill>
                <a:latin typeface="Calibri" pitchFamily="34" charset="0"/>
                <a:ea typeface="Calibri" pitchFamily="34" charset="-122"/>
                <a:cs typeface="Calibri" pitchFamily="34" charset="-120"/>
              </a:rPr>
              <a:t>Character Forge · World Architect</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Plot Architect · Dialogue Coach</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Prose Doctor · Story Analyst</a:t>
            </a:r>
            <a:endParaRPr lang="en-US" sz="850" dirty="0"/>
          </a:p>
        </p:txBody>
      </p:sp>
      <p:sp>
        <p:nvSpPr>
          <p:cNvPr id="40" name="Shape 38"/>
          <p:cNvSpPr/>
          <p:nvPr/>
        </p:nvSpPr>
        <p:spPr>
          <a:xfrm>
            <a:off x="5943600" y="4754880"/>
            <a:ext cx="2788920" cy="0"/>
          </a:xfrm>
          <a:prstGeom prst="line">
            <a:avLst/>
          </a:prstGeom>
          <a:noFill/>
          <a:ln w="7620">
            <a:solidFill>
              <a:srgbClr val="2A2720"/>
            </a:solidFill>
            <a:prstDash val="solid"/>
          </a:ln>
        </p:spPr>
      </p:sp>
      <p:sp>
        <p:nvSpPr>
          <p:cNvPr id="41" name="Text 39"/>
          <p:cNvSpPr/>
          <p:nvPr/>
        </p:nvSpPr>
        <p:spPr>
          <a:xfrm>
            <a:off x="5806440" y="3895344"/>
            <a:ext cx="822960" cy="731520"/>
          </a:xfrm>
          <a:prstGeom prst="rect">
            <a:avLst/>
          </a:prstGeom>
          <a:noFill/>
          <a:ln/>
        </p:spPr>
        <p:txBody>
          <a:bodyPr wrap="square" lIns="0" tIns="0" rIns="0" bIns="0" rtlCol="0" anchor="ctr"/>
          <a:lstStyle/>
          <a:p>
            <a:pPr marL="0" indent="0" algn="ctr">
              <a:buNone/>
            </a:pPr>
            <a:r>
              <a:rPr lang="en-US" sz="4600" b="1" dirty="0">
                <a:solidFill>
                  <a:srgbClr val="F0C040"/>
                </a:solidFill>
                <a:latin typeface="Georgia" pitchFamily="34" charset="0"/>
                <a:ea typeface="Georgia" pitchFamily="34" charset="-122"/>
                <a:cs typeface="Georgia" pitchFamily="34" charset="-120"/>
              </a:rPr>
              <a:t>0</a:t>
            </a:r>
            <a:endParaRPr lang="en-US" sz="4600" dirty="0"/>
          </a:p>
        </p:txBody>
      </p:sp>
      <p:sp>
        <p:nvSpPr>
          <p:cNvPr id="42" name="Text 40"/>
          <p:cNvSpPr/>
          <p:nvPr/>
        </p:nvSpPr>
        <p:spPr>
          <a:xfrm>
            <a:off x="6656832" y="3931920"/>
            <a:ext cx="210312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Georgia" pitchFamily="34" charset="0"/>
                <a:ea typeface="Georgia" pitchFamily="34" charset="-122"/>
                <a:cs typeface="Georgia" pitchFamily="34" charset="-120"/>
              </a:rPr>
              <a:t>Cloud Dependency</a:t>
            </a:r>
            <a:endParaRPr lang="en-US" sz="1200" dirty="0"/>
          </a:p>
        </p:txBody>
      </p:sp>
      <p:sp>
        <p:nvSpPr>
          <p:cNvPr id="43" name="Text 41"/>
          <p:cNvSpPr/>
          <p:nvPr/>
        </p:nvSpPr>
        <p:spPr>
          <a:xfrm>
            <a:off x="6656832" y="4224528"/>
            <a:ext cx="2103120" cy="502920"/>
          </a:xfrm>
          <a:prstGeom prst="rect">
            <a:avLst/>
          </a:prstGeom>
          <a:noFill/>
          <a:ln/>
        </p:spPr>
        <p:txBody>
          <a:bodyPr wrap="square" lIns="0" tIns="0" rIns="0" bIns="0" rtlCol="0" anchor="ctr"/>
          <a:lstStyle/>
          <a:p>
            <a:pPr marL="0" indent="0" algn="l">
              <a:buNone/>
            </a:pPr>
            <a:r>
              <a:rPr lang="en-US" sz="850" dirty="0">
                <a:solidFill>
                  <a:srgbClr val="8A8470"/>
                </a:solidFill>
                <a:latin typeface="Calibri" pitchFamily="34" charset="0"/>
                <a:ea typeface="Calibri" pitchFamily="34" charset="-122"/>
                <a:cs typeface="Calibri" pitchFamily="34" charset="-120"/>
              </a:rPr>
              <a:t>All inference via Ollama locally.</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No API key. No internet.</a:t>
            </a:r>
            <a:endParaRPr lang="en-US" sz="850" dirty="0"/>
          </a:p>
          <a:p>
            <a:pPr marL="0" indent="0" algn="l">
              <a:buNone/>
            </a:pPr>
            <a:r>
              <a:rPr lang="en-US" sz="850" dirty="0">
                <a:solidFill>
                  <a:srgbClr val="8A8470"/>
                </a:solidFill>
                <a:latin typeface="Calibri" pitchFamily="34" charset="0"/>
                <a:ea typeface="Calibri" pitchFamily="34" charset="-122"/>
                <a:cs typeface="Calibri" pitchFamily="34" charset="-120"/>
              </a:rPr>
              <a:t>No data leaves your machine.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E0C07"/>
          </a:solidFill>
          <a:ln/>
        </p:spPr>
      </p:sp>
      <p:sp>
        <p:nvSpPr>
          <p:cNvPr id="3" name="Shape 1"/>
          <p:cNvSpPr/>
          <p:nvPr/>
        </p:nvSpPr>
        <p:spPr>
          <a:xfrm>
            <a:off x="0" y="987552"/>
            <a:ext cx="9144000" cy="64008"/>
          </a:xfrm>
          <a:prstGeom prst="rect">
            <a:avLst/>
          </a:prstGeom>
          <a:solidFill>
            <a:srgbClr val="B8860B"/>
          </a:solidFill>
          <a:ln/>
        </p:spPr>
      </p:sp>
      <p:sp>
        <p:nvSpPr>
          <p:cNvPr id="4" name="Text 2"/>
          <p:cNvSpPr/>
          <p:nvPr/>
        </p:nvSpPr>
        <p:spPr>
          <a:xfrm>
            <a:off x="457200" y="36576"/>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03  /  HOW IT WORKS</a:t>
            </a:r>
            <a:endParaRPr lang="en-US" sz="1000" dirty="0"/>
          </a:p>
        </p:txBody>
      </p:sp>
      <p:sp>
        <p:nvSpPr>
          <p:cNvPr id="5" name="Text 3"/>
          <p:cNvSpPr/>
          <p:nvPr/>
        </p:nvSpPr>
        <p:spPr>
          <a:xfrm>
            <a:off x="457200" y="384048"/>
            <a:ext cx="8412480" cy="475488"/>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From blank page to published manuscript — in three steps.</a:t>
            </a:r>
            <a:endParaRPr lang="en-US" sz="2000" dirty="0"/>
          </a:p>
        </p:txBody>
      </p:sp>
      <p:sp>
        <p:nvSpPr>
          <p:cNvPr id="6" name="Shape 4"/>
          <p:cNvSpPr/>
          <p:nvPr/>
        </p:nvSpPr>
        <p:spPr>
          <a:xfrm>
            <a:off x="256032" y="1188720"/>
            <a:ext cx="2715768" cy="3730752"/>
          </a:xfrm>
          <a:prstGeom prst="rect">
            <a:avLst/>
          </a:prstGeom>
          <a:solidFill>
            <a:srgbClr val="FFFFFF"/>
          </a:solidFill>
          <a:ln w="10160">
            <a:solidFill>
              <a:srgbClr val="EDE9E1"/>
            </a:solidFill>
            <a:prstDash val="solid"/>
          </a:ln>
          <a:effectLst>
            <a:outerShdw blurRad="127000" dist="50800" dir="8100000" algn="bl" rotWithShape="0">
              <a:srgbClr val="000000">
                <a:alpha val="22000"/>
              </a:srgbClr>
            </a:outerShdw>
          </a:effectLst>
        </p:spPr>
      </p:sp>
      <p:sp>
        <p:nvSpPr>
          <p:cNvPr id="7" name="Shape 5"/>
          <p:cNvSpPr/>
          <p:nvPr/>
        </p:nvSpPr>
        <p:spPr>
          <a:xfrm>
            <a:off x="256032" y="1188720"/>
            <a:ext cx="2715768" cy="64008"/>
          </a:xfrm>
          <a:prstGeom prst="rect">
            <a:avLst/>
          </a:prstGeom>
          <a:solidFill>
            <a:srgbClr val="B8860B"/>
          </a:solidFill>
          <a:ln w="12700">
            <a:solidFill>
              <a:srgbClr val="333333"/>
            </a:solidFill>
            <a:prstDash val="solid"/>
          </a:ln>
        </p:spPr>
      </p:sp>
      <p:sp>
        <p:nvSpPr>
          <p:cNvPr id="8" name="Text 6"/>
          <p:cNvSpPr/>
          <p:nvPr/>
        </p:nvSpPr>
        <p:spPr>
          <a:xfrm>
            <a:off x="420624" y="1316736"/>
            <a:ext cx="594360" cy="530352"/>
          </a:xfrm>
          <a:prstGeom prst="rect">
            <a:avLst/>
          </a:prstGeom>
          <a:noFill/>
          <a:ln/>
        </p:spPr>
        <p:txBody>
          <a:bodyPr wrap="square" lIns="0" tIns="0" rIns="0" bIns="0" rtlCol="0" anchor="ctr"/>
          <a:lstStyle/>
          <a:p>
            <a:pPr marL="0" indent="0" algn="l">
              <a:buNone/>
            </a:pPr>
            <a:r>
              <a:rPr lang="en-US" sz="3000" b="1" dirty="0">
                <a:solidFill>
                  <a:srgbClr val="B8860B"/>
                </a:solidFill>
                <a:latin typeface="Georgia" pitchFamily="34" charset="0"/>
                <a:ea typeface="Georgia" pitchFamily="34" charset="-122"/>
                <a:cs typeface="Georgia" pitchFamily="34" charset="-120"/>
              </a:rPr>
              <a:t>01</a:t>
            </a:r>
            <a:endParaRPr lang="en-US" sz="3000" dirty="0"/>
          </a:p>
        </p:txBody>
      </p:sp>
      <p:sp>
        <p:nvSpPr>
          <p:cNvPr id="9" name="Text 7"/>
          <p:cNvSpPr/>
          <p:nvPr/>
        </p:nvSpPr>
        <p:spPr>
          <a:xfrm>
            <a:off x="420624" y="1901952"/>
            <a:ext cx="2395728" cy="420624"/>
          </a:xfrm>
          <a:prstGeom prst="rect">
            <a:avLst/>
          </a:prstGeom>
          <a:noFill/>
          <a:ln/>
        </p:spPr>
        <p:txBody>
          <a:bodyPr wrap="square" lIns="0" tIns="0" rIns="0" bIns="0" rtlCol="0" anchor="ctr"/>
          <a:lstStyle/>
          <a:p>
            <a:pPr marL="0" indent="0" algn="l">
              <a:buNone/>
            </a:pPr>
            <a:r>
              <a:rPr lang="en-US" sz="1450" b="1" dirty="0">
                <a:solidFill>
                  <a:srgbClr val="0E0C07"/>
                </a:solidFill>
                <a:latin typeface="Georgia" pitchFamily="34" charset="0"/>
                <a:ea typeface="Georgia" pitchFamily="34" charset="-122"/>
                <a:cs typeface="Georgia" pitchFamily="34" charset="-120"/>
              </a:rPr>
              <a:t>Configure Your World</a:t>
            </a:r>
            <a:endParaRPr lang="en-US" sz="1450" dirty="0"/>
          </a:p>
        </p:txBody>
      </p:sp>
      <p:sp>
        <p:nvSpPr>
          <p:cNvPr id="10" name="Text 8"/>
          <p:cNvSpPr/>
          <p:nvPr/>
        </p:nvSpPr>
        <p:spPr>
          <a:xfrm>
            <a:off x="420624" y="2322576"/>
            <a:ext cx="2395728" cy="256032"/>
          </a:xfrm>
          <a:prstGeom prst="rect">
            <a:avLst/>
          </a:prstGeom>
          <a:noFill/>
          <a:ln/>
        </p:spPr>
        <p:txBody>
          <a:bodyPr wrap="square" lIns="0" tIns="0" rIns="0" bIns="0" rtlCol="0" anchor="ctr"/>
          <a:lstStyle/>
          <a:p>
            <a:pPr marL="0" indent="0" algn="l">
              <a:buNone/>
            </a:pPr>
            <a:r>
              <a:rPr lang="en-US" sz="1000" i="1" dirty="0">
                <a:solidFill>
                  <a:srgbClr val="D4A017"/>
                </a:solidFill>
                <a:latin typeface="Calibri" pitchFamily="34" charset="0"/>
                <a:ea typeface="Calibri" pitchFamily="34" charset="-122"/>
                <a:cs typeface="Calibri" pitchFamily="34" charset="-120"/>
              </a:rPr>
              <a:t>Set the creative context</a:t>
            </a:r>
            <a:endParaRPr lang="en-US" sz="1000" dirty="0"/>
          </a:p>
        </p:txBody>
      </p:sp>
      <p:sp>
        <p:nvSpPr>
          <p:cNvPr id="11" name="Shape 9"/>
          <p:cNvSpPr/>
          <p:nvPr/>
        </p:nvSpPr>
        <p:spPr>
          <a:xfrm>
            <a:off x="420624" y="2633472"/>
            <a:ext cx="2194560" cy="0"/>
          </a:xfrm>
          <a:prstGeom prst="line">
            <a:avLst/>
          </a:prstGeom>
          <a:noFill/>
          <a:ln w="10160">
            <a:solidFill>
              <a:srgbClr val="EDE9E1"/>
            </a:solidFill>
            <a:prstDash val="solid"/>
          </a:ln>
        </p:spPr>
      </p:sp>
      <p:sp>
        <p:nvSpPr>
          <p:cNvPr id="12" name="Text 10"/>
          <p:cNvSpPr/>
          <p:nvPr/>
        </p:nvSpPr>
        <p:spPr>
          <a:xfrm>
            <a:off x="420624" y="2715768"/>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Choose from 8 genres &amp; 6 narrative tones</a:t>
            </a:r>
            <a:endParaRPr lang="en-US" sz="1000" dirty="0"/>
          </a:p>
        </p:txBody>
      </p:sp>
      <p:sp>
        <p:nvSpPr>
          <p:cNvPr id="13" name="Text 11"/>
          <p:cNvSpPr/>
          <p:nvPr/>
        </p:nvSpPr>
        <p:spPr>
          <a:xfrm>
            <a:off x="420624" y="3054096"/>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Select scene mood from 8 emotional registers</a:t>
            </a:r>
            <a:endParaRPr lang="en-US" sz="1000" dirty="0"/>
          </a:p>
        </p:txBody>
      </p:sp>
      <p:sp>
        <p:nvSpPr>
          <p:cNvPr id="14" name="Text 12"/>
          <p:cNvSpPr/>
          <p:nvPr/>
        </p:nvSpPr>
        <p:spPr>
          <a:xfrm>
            <a:off x="420624" y="3392424"/>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Set point of view: 1st or 3rd person</a:t>
            </a:r>
            <a:endParaRPr lang="en-US" sz="1000" dirty="0"/>
          </a:p>
        </p:txBody>
      </p:sp>
      <p:sp>
        <p:nvSpPr>
          <p:cNvPr id="15" name="Text 13"/>
          <p:cNvSpPr/>
          <p:nvPr/>
        </p:nvSpPr>
        <p:spPr>
          <a:xfrm>
            <a:off x="420624" y="3730752"/>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Define character names, roles &amp; traits</a:t>
            </a:r>
            <a:endParaRPr lang="en-US" sz="1000" dirty="0"/>
          </a:p>
        </p:txBody>
      </p:sp>
      <p:sp>
        <p:nvSpPr>
          <p:cNvPr id="16" name="Text 14"/>
          <p:cNvSpPr/>
          <p:nvPr/>
        </p:nvSpPr>
        <p:spPr>
          <a:xfrm>
            <a:off x="420624" y="4069080"/>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Describe your world's rules, setting &amp; history</a:t>
            </a:r>
            <a:endParaRPr lang="en-US" sz="1000" dirty="0"/>
          </a:p>
        </p:txBody>
      </p:sp>
      <p:sp>
        <p:nvSpPr>
          <p:cNvPr id="17" name="Text 15"/>
          <p:cNvSpPr/>
          <p:nvPr/>
        </p:nvSpPr>
        <p:spPr>
          <a:xfrm>
            <a:off x="420624" y="4407408"/>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AI locks all context into every prompt it builds</a:t>
            </a:r>
            <a:endParaRPr lang="en-US" sz="1000" dirty="0"/>
          </a:p>
        </p:txBody>
      </p:sp>
      <p:sp>
        <p:nvSpPr>
          <p:cNvPr id="18" name="Text 16"/>
          <p:cNvSpPr/>
          <p:nvPr/>
        </p:nvSpPr>
        <p:spPr>
          <a:xfrm>
            <a:off x="2971800" y="2697480"/>
            <a:ext cx="182880" cy="457200"/>
          </a:xfrm>
          <a:prstGeom prst="rect">
            <a:avLst/>
          </a:prstGeom>
          <a:noFill/>
          <a:ln/>
        </p:spPr>
        <p:txBody>
          <a:bodyPr wrap="square" lIns="0" tIns="0" rIns="0" bIns="0" rtlCol="0" anchor="ctr"/>
          <a:lstStyle/>
          <a:p>
            <a:pPr marL="0" indent="0" algn="ctr">
              <a:buNone/>
            </a:pPr>
            <a:r>
              <a:rPr lang="en-US" sz="1800" dirty="0">
                <a:solidFill>
                  <a:srgbClr val="B8860B"/>
                </a:solidFill>
              </a:rPr>
              <a:t>→</a:t>
            </a:r>
            <a:endParaRPr lang="en-US" sz="1800" dirty="0"/>
          </a:p>
        </p:txBody>
      </p:sp>
      <p:sp>
        <p:nvSpPr>
          <p:cNvPr id="19" name="Shape 17"/>
          <p:cNvSpPr/>
          <p:nvPr/>
        </p:nvSpPr>
        <p:spPr>
          <a:xfrm>
            <a:off x="3154680" y="1188720"/>
            <a:ext cx="2715768" cy="3730752"/>
          </a:xfrm>
          <a:prstGeom prst="rect">
            <a:avLst/>
          </a:prstGeom>
          <a:solidFill>
            <a:srgbClr val="0E0C07"/>
          </a:solidFill>
          <a:ln w="15240">
            <a:solidFill>
              <a:srgbClr val="B8860B"/>
            </a:solidFill>
            <a:prstDash val="solid"/>
          </a:ln>
          <a:effectLst>
            <a:outerShdw blurRad="127000" dist="50800" dir="8100000" algn="bl" rotWithShape="0">
              <a:srgbClr val="000000">
                <a:alpha val="22000"/>
              </a:srgbClr>
            </a:outerShdw>
          </a:effectLst>
        </p:spPr>
      </p:sp>
      <p:sp>
        <p:nvSpPr>
          <p:cNvPr id="20" name="Shape 18"/>
          <p:cNvSpPr/>
          <p:nvPr/>
        </p:nvSpPr>
        <p:spPr>
          <a:xfrm>
            <a:off x="3154680" y="1188720"/>
            <a:ext cx="2715768" cy="64008"/>
          </a:xfrm>
          <a:prstGeom prst="rect">
            <a:avLst/>
          </a:prstGeom>
          <a:solidFill>
            <a:srgbClr val="B8860B"/>
          </a:solidFill>
          <a:ln w="12700">
            <a:solidFill>
              <a:srgbClr val="333333"/>
            </a:solidFill>
            <a:prstDash val="solid"/>
          </a:ln>
        </p:spPr>
      </p:sp>
      <p:sp>
        <p:nvSpPr>
          <p:cNvPr id="21" name="Text 19"/>
          <p:cNvSpPr/>
          <p:nvPr/>
        </p:nvSpPr>
        <p:spPr>
          <a:xfrm>
            <a:off x="3319272" y="1316736"/>
            <a:ext cx="594360" cy="530352"/>
          </a:xfrm>
          <a:prstGeom prst="rect">
            <a:avLst/>
          </a:prstGeom>
          <a:noFill/>
          <a:ln/>
        </p:spPr>
        <p:txBody>
          <a:bodyPr wrap="square" lIns="0" tIns="0" rIns="0" bIns="0" rtlCol="0" anchor="ctr"/>
          <a:lstStyle/>
          <a:p>
            <a:pPr marL="0" indent="0" algn="l">
              <a:buNone/>
            </a:pPr>
            <a:r>
              <a:rPr lang="en-US" sz="3000" b="1" dirty="0">
                <a:solidFill>
                  <a:srgbClr val="B8860B"/>
                </a:solidFill>
                <a:latin typeface="Georgia" pitchFamily="34" charset="0"/>
                <a:ea typeface="Georgia" pitchFamily="34" charset="-122"/>
                <a:cs typeface="Georgia" pitchFamily="34" charset="-120"/>
              </a:rPr>
              <a:t>02</a:t>
            </a:r>
            <a:endParaRPr lang="en-US" sz="3000" dirty="0"/>
          </a:p>
        </p:txBody>
      </p:sp>
      <p:sp>
        <p:nvSpPr>
          <p:cNvPr id="22" name="Text 20"/>
          <p:cNvSpPr/>
          <p:nvPr/>
        </p:nvSpPr>
        <p:spPr>
          <a:xfrm>
            <a:off x="3319272" y="1901952"/>
            <a:ext cx="2395728" cy="420624"/>
          </a:xfrm>
          <a:prstGeom prst="rect">
            <a:avLst/>
          </a:prstGeom>
          <a:noFill/>
          <a:ln/>
        </p:spPr>
        <p:txBody>
          <a:bodyPr wrap="square" lIns="0" tIns="0" rIns="0" bIns="0" rtlCol="0" anchor="ctr"/>
          <a:lstStyle/>
          <a:p>
            <a:pPr marL="0" indent="0" algn="l">
              <a:buNone/>
            </a:pPr>
            <a:r>
              <a:rPr lang="en-US" sz="1450" b="1" dirty="0">
                <a:solidFill>
                  <a:srgbClr val="FFFFFF"/>
                </a:solidFill>
                <a:latin typeface="Georgia" pitchFamily="34" charset="0"/>
                <a:ea typeface="Georgia" pitchFamily="34" charset="-122"/>
                <a:cs typeface="Georgia" pitchFamily="34" charset="-120"/>
              </a:rPr>
              <a:t>Co-Write in Real Time</a:t>
            </a:r>
            <a:endParaRPr lang="en-US" sz="1450" dirty="0"/>
          </a:p>
        </p:txBody>
      </p:sp>
      <p:sp>
        <p:nvSpPr>
          <p:cNvPr id="23" name="Text 21"/>
          <p:cNvSpPr/>
          <p:nvPr/>
        </p:nvSpPr>
        <p:spPr>
          <a:xfrm>
            <a:off x="3319272" y="2322576"/>
            <a:ext cx="2395728" cy="256032"/>
          </a:xfrm>
          <a:prstGeom prst="rect">
            <a:avLst/>
          </a:prstGeom>
          <a:noFill/>
          <a:ln/>
        </p:spPr>
        <p:txBody>
          <a:bodyPr wrap="square" lIns="0" tIns="0" rIns="0" bIns="0" rtlCol="0" anchor="ctr"/>
          <a:lstStyle/>
          <a:p>
            <a:pPr marL="0" indent="0" algn="l">
              <a:buNone/>
            </a:pPr>
            <a:r>
              <a:rPr lang="en-US" sz="1000" i="1" dirty="0">
                <a:solidFill>
                  <a:srgbClr val="D4A017"/>
                </a:solidFill>
                <a:latin typeface="Calibri" pitchFamily="34" charset="0"/>
                <a:ea typeface="Calibri" pitchFamily="34" charset="-122"/>
                <a:cs typeface="Calibri" pitchFamily="34" charset="-120"/>
              </a:rPr>
              <a:t>Collaborate passage by passage</a:t>
            </a:r>
            <a:endParaRPr lang="en-US" sz="1000" dirty="0"/>
          </a:p>
        </p:txBody>
      </p:sp>
      <p:sp>
        <p:nvSpPr>
          <p:cNvPr id="24" name="Shape 22"/>
          <p:cNvSpPr/>
          <p:nvPr/>
        </p:nvSpPr>
        <p:spPr>
          <a:xfrm>
            <a:off x="3319272" y="2633472"/>
            <a:ext cx="2194560" cy="0"/>
          </a:xfrm>
          <a:prstGeom prst="line">
            <a:avLst/>
          </a:prstGeom>
          <a:noFill/>
          <a:ln w="10160">
            <a:solidFill>
              <a:srgbClr val="2E2B1E"/>
            </a:solidFill>
            <a:prstDash val="solid"/>
          </a:ln>
        </p:spPr>
      </p:sp>
      <p:sp>
        <p:nvSpPr>
          <p:cNvPr id="25" name="Text 23"/>
          <p:cNvSpPr/>
          <p:nvPr/>
        </p:nvSpPr>
        <p:spPr>
          <a:xfrm>
            <a:off x="3319272" y="2715768"/>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Type a scene direction in the Write Zone</a:t>
            </a:r>
            <a:endParaRPr lang="en-US" sz="1000" dirty="0"/>
          </a:p>
        </p:txBody>
      </p:sp>
      <p:sp>
        <p:nvSpPr>
          <p:cNvPr id="26" name="Text 24"/>
          <p:cNvSpPr/>
          <p:nvPr/>
        </p:nvSpPr>
        <p:spPr>
          <a:xfrm>
            <a:off x="3319272" y="3054096"/>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Select from 10 targeted writing actions</a:t>
            </a:r>
            <a:endParaRPr lang="en-US" sz="1000" dirty="0"/>
          </a:p>
        </p:txBody>
      </p:sp>
      <p:sp>
        <p:nvSpPr>
          <p:cNvPr id="27" name="Text 25"/>
          <p:cNvSpPr/>
          <p:nvPr/>
        </p:nvSpPr>
        <p:spPr>
          <a:xfrm>
            <a:off x="3319272" y="3392424"/>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Watch live token-by-token AI streaming output</a:t>
            </a:r>
            <a:endParaRPr lang="en-US" sz="1000" dirty="0"/>
          </a:p>
        </p:txBody>
      </p:sp>
      <p:sp>
        <p:nvSpPr>
          <p:cNvPr id="28" name="Text 26"/>
          <p:cNvSpPr/>
          <p:nvPr/>
        </p:nvSpPr>
        <p:spPr>
          <a:xfrm>
            <a:off x="3319272" y="3730752"/>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Auto-extraction updates characters &amp; world after each pass</a:t>
            </a:r>
            <a:endParaRPr lang="en-US" sz="1000" dirty="0"/>
          </a:p>
        </p:txBody>
      </p:sp>
      <p:sp>
        <p:nvSpPr>
          <p:cNvPr id="29" name="Text 27"/>
          <p:cNvSpPr/>
          <p:nvPr/>
        </p:nvSpPr>
        <p:spPr>
          <a:xfrm>
            <a:off x="3319272" y="4069080"/>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Accept, regenerate, or switch action instantly</a:t>
            </a:r>
            <a:endParaRPr lang="en-US" sz="1000" dirty="0"/>
          </a:p>
        </p:txBody>
      </p:sp>
      <p:sp>
        <p:nvSpPr>
          <p:cNvPr id="30" name="Text 28"/>
          <p:cNvSpPr/>
          <p:nvPr/>
        </p:nvSpPr>
        <p:spPr>
          <a:xfrm>
            <a:off x="3319272" y="4407408"/>
            <a:ext cx="2395728" cy="310896"/>
          </a:xfrm>
          <a:prstGeom prst="rect">
            <a:avLst/>
          </a:prstGeom>
          <a:noFill/>
          <a:ln/>
        </p:spPr>
        <p:txBody>
          <a:bodyPr wrap="square" lIns="0" tIns="0" rIns="0" bIns="0" rtlCol="0" anchor="ctr"/>
          <a:lstStyle/>
          <a:p>
            <a:pPr marL="0" indent="0" algn="l">
              <a:buNone/>
            </a:pPr>
            <a:r>
              <a:rPr lang="en-US" sz="1000" dirty="0">
                <a:solidFill>
                  <a:srgbClr val="C5BDB0"/>
                </a:solidFill>
                <a:latin typeface="Calibri" pitchFamily="34" charset="0"/>
                <a:ea typeface="Calibri" pitchFamily="34" charset="-122"/>
                <a:cs typeface="Calibri" pitchFamily="34" charset="-120"/>
              </a:rPr>
              <a:t>— Every passage auto-saved to your story history</a:t>
            </a:r>
            <a:endParaRPr lang="en-US" sz="1000" dirty="0"/>
          </a:p>
        </p:txBody>
      </p:sp>
      <p:sp>
        <p:nvSpPr>
          <p:cNvPr id="31" name="Text 29"/>
          <p:cNvSpPr/>
          <p:nvPr/>
        </p:nvSpPr>
        <p:spPr>
          <a:xfrm>
            <a:off x="5870448" y="2697480"/>
            <a:ext cx="182880" cy="457200"/>
          </a:xfrm>
          <a:prstGeom prst="rect">
            <a:avLst/>
          </a:prstGeom>
          <a:noFill/>
          <a:ln/>
        </p:spPr>
        <p:txBody>
          <a:bodyPr wrap="square" lIns="0" tIns="0" rIns="0" bIns="0" rtlCol="0" anchor="ctr"/>
          <a:lstStyle/>
          <a:p>
            <a:pPr marL="0" indent="0" algn="ctr">
              <a:buNone/>
            </a:pPr>
            <a:r>
              <a:rPr lang="en-US" sz="1800" dirty="0">
                <a:solidFill>
                  <a:srgbClr val="B8860B"/>
                </a:solidFill>
              </a:rPr>
              <a:t>→</a:t>
            </a:r>
            <a:endParaRPr lang="en-US" sz="1800" dirty="0"/>
          </a:p>
        </p:txBody>
      </p:sp>
      <p:sp>
        <p:nvSpPr>
          <p:cNvPr id="32" name="Shape 30"/>
          <p:cNvSpPr/>
          <p:nvPr/>
        </p:nvSpPr>
        <p:spPr>
          <a:xfrm>
            <a:off x="6053328" y="1188720"/>
            <a:ext cx="2715768" cy="3730752"/>
          </a:xfrm>
          <a:prstGeom prst="rect">
            <a:avLst/>
          </a:prstGeom>
          <a:solidFill>
            <a:srgbClr val="FFFFFF"/>
          </a:solidFill>
          <a:ln w="10160">
            <a:solidFill>
              <a:srgbClr val="EDE9E1"/>
            </a:solidFill>
            <a:prstDash val="solid"/>
          </a:ln>
          <a:effectLst>
            <a:outerShdw blurRad="127000" dist="50800" dir="8100000" algn="bl" rotWithShape="0">
              <a:srgbClr val="000000">
                <a:alpha val="22000"/>
              </a:srgbClr>
            </a:outerShdw>
          </a:effectLst>
        </p:spPr>
      </p:sp>
      <p:sp>
        <p:nvSpPr>
          <p:cNvPr id="33" name="Shape 31"/>
          <p:cNvSpPr/>
          <p:nvPr/>
        </p:nvSpPr>
        <p:spPr>
          <a:xfrm>
            <a:off x="6053328" y="1188720"/>
            <a:ext cx="2715768" cy="64008"/>
          </a:xfrm>
          <a:prstGeom prst="rect">
            <a:avLst/>
          </a:prstGeom>
          <a:solidFill>
            <a:srgbClr val="B8860B"/>
          </a:solidFill>
          <a:ln w="12700">
            <a:solidFill>
              <a:srgbClr val="333333"/>
            </a:solidFill>
            <a:prstDash val="solid"/>
          </a:ln>
        </p:spPr>
      </p:sp>
      <p:sp>
        <p:nvSpPr>
          <p:cNvPr id="34" name="Text 32"/>
          <p:cNvSpPr/>
          <p:nvPr/>
        </p:nvSpPr>
        <p:spPr>
          <a:xfrm>
            <a:off x="6217920" y="1316736"/>
            <a:ext cx="594360" cy="530352"/>
          </a:xfrm>
          <a:prstGeom prst="rect">
            <a:avLst/>
          </a:prstGeom>
          <a:noFill/>
          <a:ln/>
        </p:spPr>
        <p:txBody>
          <a:bodyPr wrap="square" lIns="0" tIns="0" rIns="0" bIns="0" rtlCol="0" anchor="ctr"/>
          <a:lstStyle/>
          <a:p>
            <a:pPr marL="0" indent="0" algn="l">
              <a:buNone/>
            </a:pPr>
            <a:r>
              <a:rPr lang="en-US" sz="3000" b="1" dirty="0">
                <a:solidFill>
                  <a:srgbClr val="B8860B"/>
                </a:solidFill>
                <a:latin typeface="Georgia" pitchFamily="34" charset="0"/>
                <a:ea typeface="Georgia" pitchFamily="34" charset="-122"/>
                <a:cs typeface="Georgia" pitchFamily="34" charset="-120"/>
              </a:rPr>
              <a:t>03</a:t>
            </a:r>
            <a:endParaRPr lang="en-US" sz="3000" dirty="0"/>
          </a:p>
        </p:txBody>
      </p:sp>
      <p:sp>
        <p:nvSpPr>
          <p:cNvPr id="35" name="Text 33"/>
          <p:cNvSpPr/>
          <p:nvPr/>
        </p:nvSpPr>
        <p:spPr>
          <a:xfrm>
            <a:off x="6217920" y="1901952"/>
            <a:ext cx="2395728" cy="420624"/>
          </a:xfrm>
          <a:prstGeom prst="rect">
            <a:avLst/>
          </a:prstGeom>
          <a:noFill/>
          <a:ln/>
        </p:spPr>
        <p:txBody>
          <a:bodyPr wrap="square" lIns="0" tIns="0" rIns="0" bIns="0" rtlCol="0" anchor="ctr"/>
          <a:lstStyle/>
          <a:p>
            <a:pPr marL="0" indent="0" algn="l">
              <a:buNone/>
            </a:pPr>
            <a:r>
              <a:rPr lang="en-US" sz="1450" b="1" dirty="0">
                <a:solidFill>
                  <a:srgbClr val="0E0C07"/>
                </a:solidFill>
                <a:latin typeface="Georgia" pitchFamily="34" charset="0"/>
                <a:ea typeface="Georgia" pitchFamily="34" charset="-122"/>
                <a:cs typeface="Georgia" pitchFamily="34" charset="-120"/>
              </a:rPr>
              <a:t>Publish Your Book</a:t>
            </a:r>
            <a:endParaRPr lang="en-US" sz="1450" dirty="0"/>
          </a:p>
        </p:txBody>
      </p:sp>
      <p:sp>
        <p:nvSpPr>
          <p:cNvPr id="36" name="Text 34"/>
          <p:cNvSpPr/>
          <p:nvPr/>
        </p:nvSpPr>
        <p:spPr>
          <a:xfrm>
            <a:off x="6217920" y="2322576"/>
            <a:ext cx="2395728" cy="256032"/>
          </a:xfrm>
          <a:prstGeom prst="rect">
            <a:avLst/>
          </a:prstGeom>
          <a:noFill/>
          <a:ln/>
        </p:spPr>
        <p:txBody>
          <a:bodyPr wrap="square" lIns="0" tIns="0" rIns="0" bIns="0" rtlCol="0" anchor="ctr"/>
          <a:lstStyle/>
          <a:p>
            <a:pPr marL="0" indent="0" algn="l">
              <a:buNone/>
            </a:pPr>
            <a:r>
              <a:rPr lang="en-US" sz="1000" i="1" dirty="0">
                <a:solidFill>
                  <a:srgbClr val="D4A017"/>
                </a:solidFill>
                <a:latin typeface="Calibri" pitchFamily="34" charset="0"/>
                <a:ea typeface="Calibri" pitchFamily="34" charset="-122"/>
                <a:cs typeface="Calibri" pitchFamily="34" charset="-120"/>
              </a:rPr>
              <a:t>From screen to print-ready PDF</a:t>
            </a:r>
            <a:endParaRPr lang="en-US" sz="1000" dirty="0"/>
          </a:p>
        </p:txBody>
      </p:sp>
      <p:sp>
        <p:nvSpPr>
          <p:cNvPr id="37" name="Shape 35"/>
          <p:cNvSpPr/>
          <p:nvPr/>
        </p:nvSpPr>
        <p:spPr>
          <a:xfrm>
            <a:off x="6217920" y="2633472"/>
            <a:ext cx="2194560" cy="0"/>
          </a:xfrm>
          <a:prstGeom prst="line">
            <a:avLst/>
          </a:prstGeom>
          <a:noFill/>
          <a:ln w="10160">
            <a:solidFill>
              <a:srgbClr val="EDE9E1"/>
            </a:solidFill>
            <a:prstDash val="solid"/>
          </a:ln>
        </p:spPr>
      </p:sp>
      <p:sp>
        <p:nvSpPr>
          <p:cNvPr id="38" name="Text 36"/>
          <p:cNvSpPr/>
          <p:nvPr/>
        </p:nvSpPr>
        <p:spPr>
          <a:xfrm>
            <a:off x="6217920" y="2715768"/>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Add any passage to your Book with one click</a:t>
            </a:r>
            <a:endParaRPr lang="en-US" sz="1000" dirty="0"/>
          </a:p>
        </p:txBody>
      </p:sp>
      <p:sp>
        <p:nvSpPr>
          <p:cNvPr id="39" name="Text 37"/>
          <p:cNvSpPr/>
          <p:nvPr/>
        </p:nvSpPr>
        <p:spPr>
          <a:xfrm>
            <a:off x="6217920" y="3054096"/>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View full manuscript in dual-page book spread</a:t>
            </a:r>
            <a:endParaRPr lang="en-US" sz="1000" dirty="0"/>
          </a:p>
        </p:txBody>
      </p:sp>
      <p:sp>
        <p:nvSpPr>
          <p:cNvPr id="40" name="Text 38"/>
          <p:cNvSpPr/>
          <p:nvPr/>
        </p:nvSpPr>
        <p:spPr>
          <a:xfrm>
            <a:off x="6217920" y="3392424"/>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Apply Bold / Italic / Underline per passage</a:t>
            </a:r>
            <a:endParaRPr lang="en-US" sz="1000" dirty="0"/>
          </a:p>
        </p:txBody>
      </p:sp>
      <p:sp>
        <p:nvSpPr>
          <p:cNvPr id="41" name="Text 39"/>
          <p:cNvSpPr/>
          <p:nvPr/>
        </p:nvSpPr>
        <p:spPr>
          <a:xfrm>
            <a:off x="6217920" y="3730752"/>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Toggle serif / sans-serif reading font</a:t>
            </a:r>
            <a:endParaRPr lang="en-US" sz="1000" dirty="0"/>
          </a:p>
        </p:txBody>
      </p:sp>
      <p:sp>
        <p:nvSpPr>
          <p:cNvPr id="42" name="Text 40"/>
          <p:cNvSpPr/>
          <p:nvPr/>
        </p:nvSpPr>
        <p:spPr>
          <a:xfrm>
            <a:off x="6217920" y="4069080"/>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Export A5 print-ready PDF with cover page</a:t>
            </a:r>
            <a:endParaRPr lang="en-US" sz="1000" dirty="0"/>
          </a:p>
        </p:txBody>
      </p:sp>
      <p:sp>
        <p:nvSpPr>
          <p:cNvPr id="43" name="Text 41"/>
          <p:cNvSpPr/>
          <p:nvPr/>
        </p:nvSpPr>
        <p:spPr>
          <a:xfrm>
            <a:off x="6217920" y="4407408"/>
            <a:ext cx="2395728" cy="310896"/>
          </a:xfrm>
          <a:prstGeom prst="rect">
            <a:avLst/>
          </a:prstGeom>
          <a:noFill/>
          <a:ln/>
        </p:spPr>
        <p:txBody>
          <a:bodyPr wrap="square" lIns="0" tIns="0" rIns="0" bIns="0" rtlCol="0" anchor="ctr"/>
          <a:lstStyle/>
          <a:p>
            <a:pPr marL="0" indent="0" algn="l">
              <a:buNone/>
            </a:pPr>
            <a:r>
              <a:rPr lang="en-US" sz="1000" dirty="0">
                <a:solidFill>
                  <a:srgbClr val="8A8470"/>
                </a:solidFill>
                <a:latin typeface="Calibri" pitchFamily="34" charset="0"/>
                <a:ea typeface="Calibri" pitchFamily="34" charset="-122"/>
                <a:cs typeface="Calibri" pitchFamily="34" charset="-120"/>
              </a:rPr>
              <a:t>— Chapter headers, drop caps &amp; page numbers included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860B"/>
          </a:solidFill>
          <a:ln/>
        </p:spPr>
      </p:sp>
      <p:sp>
        <p:nvSpPr>
          <p:cNvPr id="3" name="Text 1"/>
          <p:cNvSpPr/>
          <p:nvPr/>
        </p:nvSpPr>
        <p:spPr>
          <a:xfrm>
            <a:off x="457200" y="164592"/>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04  /  KEY FEATURES</a:t>
            </a:r>
            <a:endParaRPr lang="en-US" sz="1000" dirty="0"/>
          </a:p>
        </p:txBody>
      </p:sp>
      <p:sp>
        <p:nvSpPr>
          <p:cNvPr id="4" name="Text 2"/>
          <p:cNvSpPr/>
          <p:nvPr/>
        </p:nvSpPr>
        <p:spPr>
          <a:xfrm>
            <a:off x="457200" y="493776"/>
            <a:ext cx="8412480" cy="402336"/>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Everything a serious writer needs. Nothing they don't.</a:t>
            </a:r>
            <a:endParaRPr lang="en-US" sz="2000" dirty="0"/>
          </a:p>
        </p:txBody>
      </p:sp>
      <p:sp>
        <p:nvSpPr>
          <p:cNvPr id="5" name="Shape 3"/>
          <p:cNvSpPr/>
          <p:nvPr/>
        </p:nvSpPr>
        <p:spPr>
          <a:xfrm>
            <a:off x="256032" y="1078992"/>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6" name="Shape 4"/>
          <p:cNvSpPr/>
          <p:nvPr/>
        </p:nvSpPr>
        <p:spPr>
          <a:xfrm>
            <a:off x="256032" y="1078992"/>
            <a:ext cx="2715768" cy="64008"/>
          </a:xfrm>
          <a:prstGeom prst="rect">
            <a:avLst/>
          </a:prstGeom>
          <a:solidFill>
            <a:srgbClr val="B8860B"/>
          </a:solidFill>
          <a:ln w="12700">
            <a:solidFill>
              <a:srgbClr val="333333"/>
            </a:solidFill>
            <a:prstDash val="solid"/>
          </a:ln>
        </p:spPr>
      </p:sp>
      <p:pic>
        <p:nvPicPr>
          <p:cNvPr id="7" name="Image 0" descr="preencoded.png"/>
          <p:cNvPicPr>
            <a:picLocks noChangeAspect="1"/>
          </p:cNvPicPr>
          <p:nvPr/>
        </p:nvPicPr>
        <p:blipFill>
          <a:blip r:embed="rId3"/>
          <a:stretch>
            <a:fillRect/>
          </a:stretch>
        </p:blipFill>
        <p:spPr>
          <a:xfrm>
            <a:off x="420624" y="1243584"/>
            <a:ext cx="329184" cy="329184"/>
          </a:xfrm>
          <a:prstGeom prst="rect">
            <a:avLst/>
          </a:prstGeom>
        </p:spPr>
      </p:pic>
      <p:sp>
        <p:nvSpPr>
          <p:cNvPr id="8" name="Text 5"/>
          <p:cNvSpPr/>
          <p:nvPr/>
        </p:nvSpPr>
        <p:spPr>
          <a:xfrm>
            <a:off x="850392" y="1225296"/>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The Forge</a:t>
            </a:r>
            <a:endParaRPr lang="en-US" sz="1350" dirty="0"/>
          </a:p>
        </p:txBody>
      </p:sp>
      <p:sp>
        <p:nvSpPr>
          <p:cNvPr id="9" name="Text 6"/>
          <p:cNvSpPr/>
          <p:nvPr/>
        </p:nvSpPr>
        <p:spPr>
          <a:xfrm>
            <a:off x="850392" y="1499616"/>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Live AI Writing Engine</a:t>
            </a:r>
            <a:endParaRPr lang="en-US" sz="900" dirty="0"/>
          </a:p>
        </p:txBody>
      </p:sp>
      <p:sp>
        <p:nvSpPr>
          <p:cNvPr id="10" name="Shape 7"/>
          <p:cNvSpPr/>
          <p:nvPr/>
        </p:nvSpPr>
        <p:spPr>
          <a:xfrm>
            <a:off x="420624" y="1792224"/>
            <a:ext cx="2395728" cy="0"/>
          </a:xfrm>
          <a:prstGeom prst="line">
            <a:avLst/>
          </a:prstGeom>
          <a:noFill/>
          <a:ln w="8890">
            <a:solidFill>
              <a:srgbClr val="2E2B1E"/>
            </a:solidFill>
            <a:prstDash val="solid"/>
          </a:ln>
        </p:spPr>
      </p:sp>
      <p:sp>
        <p:nvSpPr>
          <p:cNvPr id="11" name="Text 8"/>
          <p:cNvSpPr/>
          <p:nvPr/>
        </p:nvSpPr>
        <p:spPr>
          <a:xfrm>
            <a:off x="420624" y="1883664"/>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10 action types with live token streaming. Genre, tone, POV, and scene mood all encoded into every single prompt. Characters and world context auto-extracted and persisted after each passage.</a:t>
            </a:r>
            <a:endParaRPr lang="en-US" sz="980" dirty="0"/>
          </a:p>
        </p:txBody>
      </p:sp>
      <p:sp>
        <p:nvSpPr>
          <p:cNvPr id="12" name="Shape 9"/>
          <p:cNvSpPr/>
          <p:nvPr/>
        </p:nvSpPr>
        <p:spPr>
          <a:xfrm>
            <a:off x="3154680" y="1078992"/>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13" name="Shape 10"/>
          <p:cNvSpPr/>
          <p:nvPr/>
        </p:nvSpPr>
        <p:spPr>
          <a:xfrm>
            <a:off x="3154680" y="1078992"/>
            <a:ext cx="2715768" cy="64008"/>
          </a:xfrm>
          <a:prstGeom prst="rect">
            <a:avLst/>
          </a:prstGeom>
          <a:solidFill>
            <a:srgbClr val="B8860B"/>
          </a:solidFill>
          <a:ln w="12700">
            <a:solidFill>
              <a:srgbClr val="333333"/>
            </a:solidFill>
            <a:prstDash val="solid"/>
          </a:ln>
        </p:spPr>
      </p:sp>
      <p:pic>
        <p:nvPicPr>
          <p:cNvPr id="14" name="Image 1" descr="preencoded.png"/>
          <p:cNvPicPr>
            <a:picLocks noChangeAspect="1"/>
          </p:cNvPicPr>
          <p:nvPr/>
        </p:nvPicPr>
        <p:blipFill>
          <a:blip r:embed="rId4"/>
          <a:stretch>
            <a:fillRect/>
          </a:stretch>
        </p:blipFill>
        <p:spPr>
          <a:xfrm>
            <a:off x="3319272" y="1243584"/>
            <a:ext cx="329184" cy="329184"/>
          </a:xfrm>
          <a:prstGeom prst="rect">
            <a:avLst/>
          </a:prstGeom>
        </p:spPr>
      </p:pic>
      <p:sp>
        <p:nvSpPr>
          <p:cNvPr id="15" name="Text 11"/>
          <p:cNvSpPr/>
          <p:nvPr/>
        </p:nvSpPr>
        <p:spPr>
          <a:xfrm>
            <a:off x="3749040" y="1225296"/>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Book Viewer</a:t>
            </a:r>
            <a:endParaRPr lang="en-US" sz="1350" dirty="0"/>
          </a:p>
        </p:txBody>
      </p:sp>
      <p:sp>
        <p:nvSpPr>
          <p:cNvPr id="16" name="Text 12"/>
          <p:cNvSpPr/>
          <p:nvPr/>
        </p:nvSpPr>
        <p:spPr>
          <a:xfrm>
            <a:off x="3749040" y="1499616"/>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Dual-Page Manuscript Spread</a:t>
            </a:r>
            <a:endParaRPr lang="en-US" sz="900" dirty="0"/>
          </a:p>
        </p:txBody>
      </p:sp>
      <p:sp>
        <p:nvSpPr>
          <p:cNvPr id="17" name="Shape 13"/>
          <p:cNvSpPr/>
          <p:nvPr/>
        </p:nvSpPr>
        <p:spPr>
          <a:xfrm>
            <a:off x="3319272" y="1792224"/>
            <a:ext cx="2395728" cy="0"/>
          </a:xfrm>
          <a:prstGeom prst="line">
            <a:avLst/>
          </a:prstGeom>
          <a:noFill/>
          <a:ln w="8890">
            <a:solidFill>
              <a:srgbClr val="2E2B1E"/>
            </a:solidFill>
            <a:prstDash val="solid"/>
          </a:ln>
        </p:spPr>
      </p:sp>
      <p:sp>
        <p:nvSpPr>
          <p:cNvPr id="18" name="Text 14"/>
          <p:cNvSpPr/>
          <p:nvPr/>
        </p:nvSpPr>
        <p:spPr>
          <a:xfrm>
            <a:off x="3319272" y="1883664"/>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Open book layout with automatic pagination at 16 lines/page. B/I/U toolbar, serif/sans-serif toggle. Smooth page transitions. Add passages with one click from the Write Zone.</a:t>
            </a:r>
            <a:endParaRPr lang="en-US" sz="980" dirty="0"/>
          </a:p>
        </p:txBody>
      </p:sp>
      <p:sp>
        <p:nvSpPr>
          <p:cNvPr id="19" name="Shape 15"/>
          <p:cNvSpPr/>
          <p:nvPr/>
        </p:nvSpPr>
        <p:spPr>
          <a:xfrm>
            <a:off x="6053328" y="1078992"/>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20" name="Shape 16"/>
          <p:cNvSpPr/>
          <p:nvPr/>
        </p:nvSpPr>
        <p:spPr>
          <a:xfrm>
            <a:off x="6053328" y="1078992"/>
            <a:ext cx="2715768" cy="64008"/>
          </a:xfrm>
          <a:prstGeom prst="rect">
            <a:avLst/>
          </a:prstGeom>
          <a:solidFill>
            <a:srgbClr val="B8860B"/>
          </a:solidFill>
          <a:ln w="12700">
            <a:solidFill>
              <a:srgbClr val="333333"/>
            </a:solidFill>
            <a:prstDash val="solid"/>
          </a:ln>
        </p:spPr>
      </p:sp>
      <p:pic>
        <p:nvPicPr>
          <p:cNvPr id="21" name="Image 2" descr="preencoded.png"/>
          <p:cNvPicPr>
            <a:picLocks noChangeAspect="1"/>
          </p:cNvPicPr>
          <p:nvPr/>
        </p:nvPicPr>
        <p:blipFill>
          <a:blip r:embed="rId5"/>
          <a:stretch>
            <a:fillRect/>
          </a:stretch>
        </p:blipFill>
        <p:spPr>
          <a:xfrm>
            <a:off x="6217920" y="1243584"/>
            <a:ext cx="329184" cy="329184"/>
          </a:xfrm>
          <a:prstGeom prst="rect">
            <a:avLst/>
          </a:prstGeom>
        </p:spPr>
      </p:pic>
      <p:sp>
        <p:nvSpPr>
          <p:cNvPr id="22" name="Text 17"/>
          <p:cNvSpPr/>
          <p:nvPr/>
        </p:nvSpPr>
        <p:spPr>
          <a:xfrm>
            <a:off x="6647688" y="1225296"/>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Author's Workshop</a:t>
            </a:r>
            <a:endParaRPr lang="en-US" sz="1350" dirty="0"/>
          </a:p>
        </p:txBody>
      </p:sp>
      <p:sp>
        <p:nvSpPr>
          <p:cNvPr id="23" name="Text 18"/>
          <p:cNvSpPr/>
          <p:nvPr/>
        </p:nvSpPr>
        <p:spPr>
          <a:xfrm>
            <a:off x="6647688" y="1499616"/>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6 Professional Writing Tools</a:t>
            </a:r>
            <a:endParaRPr lang="en-US" sz="900" dirty="0"/>
          </a:p>
        </p:txBody>
      </p:sp>
      <p:sp>
        <p:nvSpPr>
          <p:cNvPr id="24" name="Shape 19"/>
          <p:cNvSpPr/>
          <p:nvPr/>
        </p:nvSpPr>
        <p:spPr>
          <a:xfrm>
            <a:off x="6217920" y="1792224"/>
            <a:ext cx="2395728" cy="0"/>
          </a:xfrm>
          <a:prstGeom prst="line">
            <a:avLst/>
          </a:prstGeom>
          <a:noFill/>
          <a:ln w="8890">
            <a:solidFill>
              <a:srgbClr val="2E2B1E"/>
            </a:solidFill>
            <a:prstDash val="solid"/>
          </a:ln>
        </p:spPr>
      </p:sp>
      <p:sp>
        <p:nvSpPr>
          <p:cNvPr id="25" name="Text 20"/>
          <p:cNvSpPr/>
          <p:nvPr/>
        </p:nvSpPr>
        <p:spPr>
          <a:xfrm>
            <a:off x="6217920" y="1883664"/>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Character Forge · World Architect · Plot Architect (5 frameworks: Three Act, Hero's Journey, Save the Cat, Five Act, Kishōtenketsu) · Dialogue Coach · Prose Doctor · Story Analyst.</a:t>
            </a:r>
            <a:endParaRPr lang="en-US" sz="980" dirty="0"/>
          </a:p>
        </p:txBody>
      </p:sp>
      <p:sp>
        <p:nvSpPr>
          <p:cNvPr id="26" name="Shape 21"/>
          <p:cNvSpPr/>
          <p:nvPr/>
        </p:nvSpPr>
        <p:spPr>
          <a:xfrm>
            <a:off x="256032" y="3072384"/>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27" name="Shape 22"/>
          <p:cNvSpPr/>
          <p:nvPr/>
        </p:nvSpPr>
        <p:spPr>
          <a:xfrm>
            <a:off x="256032" y="3072384"/>
            <a:ext cx="2715768" cy="64008"/>
          </a:xfrm>
          <a:prstGeom prst="rect">
            <a:avLst/>
          </a:prstGeom>
          <a:solidFill>
            <a:srgbClr val="B8860B"/>
          </a:solidFill>
          <a:ln w="12700">
            <a:solidFill>
              <a:srgbClr val="333333"/>
            </a:solidFill>
            <a:prstDash val="solid"/>
          </a:ln>
        </p:spPr>
      </p:sp>
      <p:pic>
        <p:nvPicPr>
          <p:cNvPr id="28" name="Image 3" descr="preencoded.png"/>
          <p:cNvPicPr>
            <a:picLocks noChangeAspect="1"/>
          </p:cNvPicPr>
          <p:nvPr/>
        </p:nvPicPr>
        <p:blipFill>
          <a:blip r:embed="rId6"/>
          <a:stretch>
            <a:fillRect/>
          </a:stretch>
        </p:blipFill>
        <p:spPr>
          <a:xfrm>
            <a:off x="420624" y="3236976"/>
            <a:ext cx="329184" cy="329184"/>
          </a:xfrm>
          <a:prstGeom prst="rect">
            <a:avLst/>
          </a:prstGeom>
        </p:spPr>
      </p:pic>
      <p:sp>
        <p:nvSpPr>
          <p:cNvPr id="29" name="Text 23"/>
          <p:cNvSpPr/>
          <p:nvPr/>
        </p:nvSpPr>
        <p:spPr>
          <a:xfrm>
            <a:off x="850392" y="3218688"/>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PDF Export</a:t>
            </a:r>
            <a:endParaRPr lang="en-US" sz="1350" dirty="0"/>
          </a:p>
        </p:txBody>
      </p:sp>
      <p:sp>
        <p:nvSpPr>
          <p:cNvPr id="30" name="Text 24"/>
          <p:cNvSpPr/>
          <p:nvPr/>
        </p:nvSpPr>
        <p:spPr>
          <a:xfrm>
            <a:off x="850392" y="3493008"/>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A5 Print-Ready Output</a:t>
            </a:r>
            <a:endParaRPr lang="en-US" sz="900" dirty="0"/>
          </a:p>
        </p:txBody>
      </p:sp>
      <p:sp>
        <p:nvSpPr>
          <p:cNvPr id="31" name="Shape 25"/>
          <p:cNvSpPr/>
          <p:nvPr/>
        </p:nvSpPr>
        <p:spPr>
          <a:xfrm>
            <a:off x="420624" y="3785616"/>
            <a:ext cx="2395728" cy="0"/>
          </a:xfrm>
          <a:prstGeom prst="line">
            <a:avLst/>
          </a:prstGeom>
          <a:noFill/>
          <a:ln w="8890">
            <a:solidFill>
              <a:srgbClr val="2E2B1E"/>
            </a:solidFill>
            <a:prstDash val="solid"/>
          </a:ln>
        </p:spPr>
      </p:sp>
      <p:sp>
        <p:nvSpPr>
          <p:cNvPr id="32" name="Text 26"/>
          <p:cNvSpPr/>
          <p:nvPr/>
        </p:nvSpPr>
        <p:spPr>
          <a:xfrm>
            <a:off x="420624" y="3877056"/>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ReportLab-generated A5 PDF with custom cover, drop caps, chapter headers, and alternating page numbers. Font auto-detects across Windows, macOS, and Linux.</a:t>
            </a:r>
            <a:endParaRPr lang="en-US" sz="980" dirty="0"/>
          </a:p>
        </p:txBody>
      </p:sp>
      <p:sp>
        <p:nvSpPr>
          <p:cNvPr id="33" name="Shape 27"/>
          <p:cNvSpPr/>
          <p:nvPr/>
        </p:nvSpPr>
        <p:spPr>
          <a:xfrm>
            <a:off x="3154680" y="3072384"/>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34" name="Shape 28"/>
          <p:cNvSpPr/>
          <p:nvPr/>
        </p:nvSpPr>
        <p:spPr>
          <a:xfrm>
            <a:off x="3154680" y="3072384"/>
            <a:ext cx="2715768" cy="64008"/>
          </a:xfrm>
          <a:prstGeom prst="rect">
            <a:avLst/>
          </a:prstGeom>
          <a:solidFill>
            <a:srgbClr val="B8860B"/>
          </a:solidFill>
          <a:ln w="12700">
            <a:solidFill>
              <a:srgbClr val="333333"/>
            </a:solidFill>
            <a:prstDash val="solid"/>
          </a:ln>
        </p:spPr>
      </p:sp>
      <p:pic>
        <p:nvPicPr>
          <p:cNvPr id="35" name="Image 4" descr="preencoded.png"/>
          <p:cNvPicPr>
            <a:picLocks noChangeAspect="1"/>
          </p:cNvPicPr>
          <p:nvPr/>
        </p:nvPicPr>
        <p:blipFill>
          <a:blip r:embed="rId7"/>
          <a:stretch>
            <a:fillRect/>
          </a:stretch>
        </p:blipFill>
        <p:spPr>
          <a:xfrm>
            <a:off x="3319272" y="3236976"/>
            <a:ext cx="329184" cy="329184"/>
          </a:xfrm>
          <a:prstGeom prst="rect">
            <a:avLst/>
          </a:prstGeom>
        </p:spPr>
      </p:pic>
      <p:sp>
        <p:nvSpPr>
          <p:cNvPr id="36" name="Text 29"/>
          <p:cNvSpPr/>
          <p:nvPr/>
        </p:nvSpPr>
        <p:spPr>
          <a:xfrm>
            <a:off x="3749040" y="3218688"/>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Story Compass</a:t>
            </a:r>
            <a:endParaRPr lang="en-US" sz="1350" dirty="0"/>
          </a:p>
        </p:txBody>
      </p:sp>
      <p:sp>
        <p:nvSpPr>
          <p:cNvPr id="37" name="Text 30"/>
          <p:cNvSpPr/>
          <p:nvPr/>
        </p:nvSpPr>
        <p:spPr>
          <a:xfrm>
            <a:off x="3749040" y="3493008"/>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Personal AI Writing Coach</a:t>
            </a:r>
            <a:endParaRPr lang="en-US" sz="900" dirty="0"/>
          </a:p>
        </p:txBody>
      </p:sp>
      <p:sp>
        <p:nvSpPr>
          <p:cNvPr id="38" name="Shape 31"/>
          <p:cNvSpPr/>
          <p:nvPr/>
        </p:nvSpPr>
        <p:spPr>
          <a:xfrm>
            <a:off x="3319272" y="3785616"/>
            <a:ext cx="2395728" cy="0"/>
          </a:xfrm>
          <a:prstGeom prst="line">
            <a:avLst/>
          </a:prstGeom>
          <a:noFill/>
          <a:ln w="8890">
            <a:solidFill>
              <a:srgbClr val="2E2B1E"/>
            </a:solidFill>
            <a:prstDash val="solid"/>
          </a:ln>
        </p:spPr>
      </p:sp>
      <p:sp>
        <p:nvSpPr>
          <p:cNvPr id="39" name="Text 32"/>
          <p:cNvSpPr/>
          <p:nvPr/>
        </p:nvSpPr>
        <p:spPr>
          <a:xfrm>
            <a:off x="3319272" y="3877056"/>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8 quick-craft shortcuts: Overcome Block, Pacing Guide, Subtext, Show Don't Tell, Tension Building, Voice Consistency, World-Building, and Dialogue Naturalness. Full craft Q&amp;A.</a:t>
            </a:r>
            <a:endParaRPr lang="en-US" sz="980" dirty="0"/>
          </a:p>
        </p:txBody>
      </p:sp>
      <p:sp>
        <p:nvSpPr>
          <p:cNvPr id="40" name="Shape 33"/>
          <p:cNvSpPr/>
          <p:nvPr/>
        </p:nvSpPr>
        <p:spPr>
          <a:xfrm>
            <a:off x="6053328" y="3072384"/>
            <a:ext cx="2715768" cy="1865376"/>
          </a:xfrm>
          <a:prstGeom prst="rect">
            <a:avLst/>
          </a:prstGeom>
          <a:solidFill>
            <a:srgbClr val="1A1810"/>
          </a:solidFill>
          <a:ln w="10160">
            <a:solidFill>
              <a:srgbClr val="2A2720"/>
            </a:solidFill>
            <a:prstDash val="solid"/>
          </a:ln>
          <a:effectLst>
            <a:outerShdw blurRad="127000" dist="50800" dir="8100000" algn="bl" rotWithShape="0">
              <a:srgbClr val="000000">
                <a:alpha val="22000"/>
              </a:srgbClr>
            </a:outerShdw>
          </a:effectLst>
        </p:spPr>
      </p:sp>
      <p:sp>
        <p:nvSpPr>
          <p:cNvPr id="41" name="Shape 34"/>
          <p:cNvSpPr/>
          <p:nvPr/>
        </p:nvSpPr>
        <p:spPr>
          <a:xfrm>
            <a:off x="6053328" y="3072384"/>
            <a:ext cx="2715768" cy="64008"/>
          </a:xfrm>
          <a:prstGeom prst="rect">
            <a:avLst/>
          </a:prstGeom>
          <a:solidFill>
            <a:srgbClr val="B8860B"/>
          </a:solidFill>
          <a:ln w="12700">
            <a:solidFill>
              <a:srgbClr val="333333"/>
            </a:solidFill>
            <a:prstDash val="solid"/>
          </a:ln>
        </p:spPr>
      </p:sp>
      <p:pic>
        <p:nvPicPr>
          <p:cNvPr id="42" name="Image 5" descr="preencoded.png"/>
          <p:cNvPicPr>
            <a:picLocks noChangeAspect="1"/>
          </p:cNvPicPr>
          <p:nvPr/>
        </p:nvPicPr>
        <p:blipFill>
          <a:blip r:embed="rId8"/>
          <a:stretch>
            <a:fillRect/>
          </a:stretch>
        </p:blipFill>
        <p:spPr>
          <a:xfrm>
            <a:off x="6217920" y="3236976"/>
            <a:ext cx="329184" cy="329184"/>
          </a:xfrm>
          <a:prstGeom prst="rect">
            <a:avLst/>
          </a:prstGeom>
        </p:spPr>
      </p:pic>
      <p:sp>
        <p:nvSpPr>
          <p:cNvPr id="43" name="Text 35"/>
          <p:cNvSpPr/>
          <p:nvPr/>
        </p:nvSpPr>
        <p:spPr>
          <a:xfrm>
            <a:off x="6647688" y="3218688"/>
            <a:ext cx="1965960" cy="274320"/>
          </a:xfrm>
          <a:prstGeom prst="rect">
            <a:avLst/>
          </a:prstGeom>
          <a:noFill/>
          <a:ln/>
        </p:spPr>
        <p:txBody>
          <a:bodyPr wrap="square" lIns="0" tIns="0" rIns="0" bIns="0" rtlCol="0" anchor="ctr"/>
          <a:lstStyle/>
          <a:p>
            <a:pPr marL="0" indent="0" algn="l">
              <a:buNone/>
            </a:pPr>
            <a:r>
              <a:rPr lang="en-US" sz="1350" b="1" dirty="0">
                <a:solidFill>
                  <a:srgbClr val="FFFFFF"/>
                </a:solidFill>
                <a:latin typeface="Georgia" pitchFamily="34" charset="0"/>
                <a:ea typeface="Georgia" pitchFamily="34" charset="-122"/>
                <a:cs typeface="Georgia" pitchFamily="34" charset="-120"/>
              </a:rPr>
              <a:t>Story History</a:t>
            </a:r>
            <a:endParaRPr lang="en-US" sz="1350" dirty="0"/>
          </a:p>
        </p:txBody>
      </p:sp>
      <p:sp>
        <p:nvSpPr>
          <p:cNvPr id="44" name="Text 36"/>
          <p:cNvSpPr/>
          <p:nvPr/>
        </p:nvSpPr>
        <p:spPr>
          <a:xfrm>
            <a:off x="6647688" y="3493008"/>
            <a:ext cx="1965960" cy="219456"/>
          </a:xfrm>
          <a:prstGeom prst="rect">
            <a:avLst/>
          </a:prstGeom>
          <a:noFill/>
          <a:ln/>
        </p:spPr>
        <p:txBody>
          <a:bodyPr wrap="square" lIns="0" tIns="0" rIns="0" bIns="0" rtlCol="0" anchor="ctr"/>
          <a:lstStyle/>
          <a:p>
            <a:pPr marL="0" indent="0" algn="l">
              <a:buNone/>
            </a:pPr>
            <a:r>
              <a:rPr lang="en-US" sz="900" i="1" dirty="0">
                <a:solidFill>
                  <a:srgbClr val="D4A017"/>
                </a:solidFill>
                <a:latin typeface="Calibri" pitchFamily="34" charset="0"/>
                <a:ea typeface="Calibri" pitchFamily="34" charset="-122"/>
                <a:cs typeface="Calibri" pitchFamily="34" charset="-120"/>
              </a:rPr>
              <a:t>Complete Session Management</a:t>
            </a:r>
            <a:endParaRPr lang="en-US" sz="900" dirty="0"/>
          </a:p>
        </p:txBody>
      </p:sp>
      <p:sp>
        <p:nvSpPr>
          <p:cNvPr id="45" name="Shape 37"/>
          <p:cNvSpPr/>
          <p:nvPr/>
        </p:nvSpPr>
        <p:spPr>
          <a:xfrm>
            <a:off x="6217920" y="3785616"/>
            <a:ext cx="2395728" cy="0"/>
          </a:xfrm>
          <a:prstGeom prst="line">
            <a:avLst/>
          </a:prstGeom>
          <a:noFill/>
          <a:ln w="8890">
            <a:solidFill>
              <a:srgbClr val="2E2B1E"/>
            </a:solidFill>
            <a:prstDash val="solid"/>
          </a:ln>
        </p:spPr>
      </p:sp>
      <p:sp>
        <p:nvSpPr>
          <p:cNvPr id="46" name="Text 38"/>
          <p:cNvSpPr/>
          <p:nvPr/>
        </p:nvSpPr>
        <p:spPr>
          <a:xfrm>
            <a:off x="6217920" y="3877056"/>
            <a:ext cx="2395728" cy="987552"/>
          </a:xfrm>
          <a:prstGeom prst="rect">
            <a:avLst/>
          </a:prstGeom>
          <a:noFill/>
          <a:ln/>
        </p:spPr>
        <p:txBody>
          <a:bodyPr wrap="square" lIns="0" tIns="0" rIns="0" bIns="0" rtlCol="0" anchor="ctr"/>
          <a:lstStyle/>
          <a:p>
            <a:pPr marL="0" indent="0" algn="l">
              <a:buNone/>
            </a:pPr>
            <a:r>
              <a:rPr lang="en-US" sz="980" dirty="0">
                <a:solidFill>
                  <a:srgbClr val="C5BDB0"/>
                </a:solidFill>
                <a:latin typeface="Calibri" pitchFamily="34" charset="0"/>
                <a:ea typeface="Calibri" pitchFamily="34" charset="-122"/>
                <a:cs typeface="Calibri" pitchFamily="34" charset="-120"/>
              </a:rPr>
              <a:t>Per-user SHA-256 auth with persistent JSON history. Auto-save after every passage. Search, pin, archive, rename, share, and delete stories. Full metadata: genre, word count, timestamp.</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E0C07"/>
          </a:solidFill>
          <a:ln/>
        </p:spPr>
      </p:sp>
      <p:sp>
        <p:nvSpPr>
          <p:cNvPr id="3" name="Shape 1"/>
          <p:cNvSpPr/>
          <p:nvPr/>
        </p:nvSpPr>
        <p:spPr>
          <a:xfrm>
            <a:off x="0" y="987552"/>
            <a:ext cx="9144000" cy="64008"/>
          </a:xfrm>
          <a:prstGeom prst="rect">
            <a:avLst/>
          </a:prstGeom>
          <a:solidFill>
            <a:srgbClr val="B8860B"/>
          </a:solidFill>
          <a:ln/>
        </p:spPr>
      </p:sp>
      <p:sp>
        <p:nvSpPr>
          <p:cNvPr id="4" name="Text 2"/>
          <p:cNvSpPr/>
          <p:nvPr/>
        </p:nvSpPr>
        <p:spPr>
          <a:xfrm>
            <a:off x="457200" y="36576"/>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05  /  PRODUCT IN ACTION</a:t>
            </a:r>
            <a:endParaRPr lang="en-US" sz="1000" dirty="0"/>
          </a:p>
        </p:txBody>
      </p:sp>
      <p:sp>
        <p:nvSpPr>
          <p:cNvPr id="5" name="Text 3"/>
          <p:cNvSpPr/>
          <p:nvPr/>
        </p:nvSpPr>
        <p:spPr>
          <a:xfrm>
            <a:off x="457200" y="384048"/>
            <a:ext cx="8412480" cy="475488"/>
          </a:xfrm>
          <a:prstGeom prst="rect">
            <a:avLst/>
          </a:prstGeom>
          <a:noFill/>
          <a:ln/>
        </p:spPr>
        <p:txBody>
          <a:bodyPr wrap="square" lIns="0" tIns="0" rIns="0" bIns="0" rtlCol="0" anchor="ctr"/>
          <a:lstStyle/>
          <a:p>
            <a:pPr marL="0" indent="0" algn="l">
              <a:buNone/>
            </a:pPr>
            <a:r>
              <a:rPr lang="en-US" sz="1900" b="1" dirty="0">
                <a:solidFill>
                  <a:srgbClr val="FFFFFF"/>
                </a:solidFill>
                <a:latin typeface="Georgia" pitchFamily="34" charset="0"/>
                <a:ea typeface="Georgia" pitchFamily="34" charset="-122"/>
                <a:cs typeface="Georgia" pitchFamily="34" charset="-120"/>
              </a:rPr>
              <a:t>A complete writing environment — from first word to final page.</a:t>
            </a:r>
            <a:endParaRPr lang="en-US" sz="1900" dirty="0"/>
          </a:p>
        </p:txBody>
      </p:sp>
      <p:sp>
        <p:nvSpPr>
          <p:cNvPr id="6" name="Shape 4"/>
          <p:cNvSpPr/>
          <p:nvPr/>
        </p:nvSpPr>
        <p:spPr>
          <a:xfrm>
            <a:off x="256032" y="1188720"/>
            <a:ext cx="5138928" cy="3730752"/>
          </a:xfrm>
          <a:prstGeom prst="rect">
            <a:avLst/>
          </a:prstGeom>
          <a:solidFill>
            <a:srgbClr val="0E0C07"/>
          </a:solidFill>
          <a:ln w="15240">
            <a:solidFill>
              <a:srgbClr val="B8860B"/>
            </a:solidFill>
            <a:prstDash val="solid"/>
          </a:ln>
          <a:effectLst>
            <a:outerShdw blurRad="127000" dist="50800" dir="8100000" algn="bl" rotWithShape="0">
              <a:srgbClr val="000000">
                <a:alpha val="22000"/>
              </a:srgbClr>
            </a:outerShdw>
          </a:effectLst>
        </p:spPr>
      </p:sp>
      <p:sp>
        <p:nvSpPr>
          <p:cNvPr id="7" name="Shape 5"/>
          <p:cNvSpPr/>
          <p:nvPr/>
        </p:nvSpPr>
        <p:spPr>
          <a:xfrm>
            <a:off x="256032" y="1188720"/>
            <a:ext cx="5138928" cy="310896"/>
          </a:xfrm>
          <a:prstGeom prst="rect">
            <a:avLst/>
          </a:prstGeom>
          <a:solidFill>
            <a:srgbClr val="0A0903"/>
          </a:solidFill>
          <a:ln w="12700">
            <a:solidFill>
              <a:srgbClr val="333333"/>
            </a:solidFill>
            <a:prstDash val="solid"/>
          </a:ln>
        </p:spPr>
      </p:sp>
      <p:sp>
        <p:nvSpPr>
          <p:cNvPr id="8" name="Text 6"/>
          <p:cNvSpPr/>
          <p:nvPr/>
        </p:nvSpPr>
        <p:spPr>
          <a:xfrm>
            <a:off x="347472" y="1207008"/>
            <a:ext cx="4846320" cy="274320"/>
          </a:xfrm>
          <a:prstGeom prst="rect">
            <a:avLst/>
          </a:prstGeom>
          <a:noFill/>
          <a:ln/>
        </p:spPr>
        <p:txBody>
          <a:bodyPr wrap="square" lIns="0" tIns="0" rIns="0" bIns="0" rtlCol="0" anchor="ctr"/>
          <a:lstStyle/>
          <a:p>
            <a:pPr marL="0" indent="0" algn="l">
              <a:buNone/>
            </a:pPr>
            <a:r>
              <a:rPr lang="en-US" sz="850" dirty="0">
                <a:solidFill>
                  <a:srgbClr val="B8860B"/>
                </a:solidFill>
                <a:latin typeface="Calibri" pitchFamily="34" charset="0"/>
                <a:ea typeface="Calibri" pitchFamily="34" charset="-122"/>
                <a:cs typeface="Calibri" pitchFamily="34" charset="-120"/>
              </a:rPr>
              <a:t>✦  NARRATIVE FLOW  ·  Story Intelligence Engine</a:t>
            </a:r>
            <a:endParaRPr lang="en-US" sz="850" dirty="0"/>
          </a:p>
        </p:txBody>
      </p:sp>
      <p:sp>
        <p:nvSpPr>
          <p:cNvPr id="9" name="Shape 7"/>
          <p:cNvSpPr/>
          <p:nvPr/>
        </p:nvSpPr>
        <p:spPr>
          <a:xfrm>
            <a:off x="347472" y="1591056"/>
            <a:ext cx="1097280" cy="237744"/>
          </a:xfrm>
          <a:prstGeom prst="rect">
            <a:avLst/>
          </a:prstGeom>
          <a:solidFill>
            <a:srgbClr val="1A1810"/>
          </a:solidFill>
          <a:ln w="6350">
            <a:solidFill>
              <a:srgbClr val="B8860B"/>
            </a:solidFill>
            <a:prstDash val="solid"/>
          </a:ln>
        </p:spPr>
      </p:sp>
      <p:sp>
        <p:nvSpPr>
          <p:cNvPr id="10" name="Text 8"/>
          <p:cNvSpPr/>
          <p:nvPr/>
        </p:nvSpPr>
        <p:spPr>
          <a:xfrm>
            <a:off x="347472" y="1591056"/>
            <a:ext cx="1097280" cy="237744"/>
          </a:xfrm>
          <a:prstGeom prst="rect">
            <a:avLst/>
          </a:prstGeom>
          <a:noFill/>
          <a:ln/>
        </p:spPr>
        <p:txBody>
          <a:bodyPr wrap="square" lIns="0" tIns="0" rIns="0" bIns="0" rtlCol="0" anchor="ctr"/>
          <a:lstStyle/>
          <a:p>
            <a:pPr marL="0" indent="0" algn="ctr">
              <a:buNone/>
            </a:pPr>
            <a:r>
              <a:rPr lang="en-US" sz="800" dirty="0">
                <a:solidFill>
                  <a:srgbClr val="D4A017"/>
                </a:solidFill>
                <a:latin typeface="Calibri" pitchFamily="34" charset="0"/>
                <a:ea typeface="Calibri" pitchFamily="34" charset="-122"/>
                <a:cs typeface="Calibri" pitchFamily="34" charset="-120"/>
              </a:rPr>
              <a:t>Fantasy</a:t>
            </a:r>
            <a:endParaRPr lang="en-US" sz="800" dirty="0"/>
          </a:p>
        </p:txBody>
      </p:sp>
      <p:sp>
        <p:nvSpPr>
          <p:cNvPr id="11" name="Shape 9"/>
          <p:cNvSpPr/>
          <p:nvPr/>
        </p:nvSpPr>
        <p:spPr>
          <a:xfrm>
            <a:off x="1563624" y="1591056"/>
            <a:ext cx="1097280" cy="237744"/>
          </a:xfrm>
          <a:prstGeom prst="rect">
            <a:avLst/>
          </a:prstGeom>
          <a:solidFill>
            <a:srgbClr val="1A1810"/>
          </a:solidFill>
          <a:ln w="6350">
            <a:solidFill>
              <a:srgbClr val="B8860B"/>
            </a:solidFill>
            <a:prstDash val="solid"/>
          </a:ln>
        </p:spPr>
      </p:sp>
      <p:sp>
        <p:nvSpPr>
          <p:cNvPr id="12" name="Text 10"/>
          <p:cNvSpPr/>
          <p:nvPr/>
        </p:nvSpPr>
        <p:spPr>
          <a:xfrm>
            <a:off x="1563624" y="1591056"/>
            <a:ext cx="1097280" cy="237744"/>
          </a:xfrm>
          <a:prstGeom prst="rect">
            <a:avLst/>
          </a:prstGeom>
          <a:noFill/>
          <a:ln/>
        </p:spPr>
        <p:txBody>
          <a:bodyPr wrap="square" lIns="0" tIns="0" rIns="0" bIns="0" rtlCol="0" anchor="ctr"/>
          <a:lstStyle/>
          <a:p>
            <a:pPr marL="0" indent="0" algn="ctr">
              <a:buNone/>
            </a:pPr>
            <a:r>
              <a:rPr lang="en-US" sz="800" dirty="0">
                <a:solidFill>
                  <a:srgbClr val="D4A017"/>
                </a:solidFill>
                <a:latin typeface="Calibri" pitchFamily="34" charset="0"/>
                <a:ea typeface="Calibri" pitchFamily="34" charset="-122"/>
                <a:cs typeface="Calibri" pitchFamily="34" charset="-120"/>
              </a:rPr>
              <a:t>Cinematic</a:t>
            </a:r>
            <a:endParaRPr lang="en-US" sz="800" dirty="0"/>
          </a:p>
        </p:txBody>
      </p:sp>
      <p:sp>
        <p:nvSpPr>
          <p:cNvPr id="13" name="Shape 11"/>
          <p:cNvSpPr/>
          <p:nvPr/>
        </p:nvSpPr>
        <p:spPr>
          <a:xfrm>
            <a:off x="2779776" y="1591056"/>
            <a:ext cx="1097280" cy="237744"/>
          </a:xfrm>
          <a:prstGeom prst="rect">
            <a:avLst/>
          </a:prstGeom>
          <a:solidFill>
            <a:srgbClr val="1A1810"/>
          </a:solidFill>
          <a:ln w="6350">
            <a:solidFill>
              <a:srgbClr val="B8860B"/>
            </a:solidFill>
            <a:prstDash val="solid"/>
          </a:ln>
        </p:spPr>
      </p:sp>
      <p:sp>
        <p:nvSpPr>
          <p:cNvPr id="14" name="Text 12"/>
          <p:cNvSpPr/>
          <p:nvPr/>
        </p:nvSpPr>
        <p:spPr>
          <a:xfrm>
            <a:off x="2779776" y="1591056"/>
            <a:ext cx="1097280" cy="237744"/>
          </a:xfrm>
          <a:prstGeom prst="rect">
            <a:avLst/>
          </a:prstGeom>
          <a:noFill/>
          <a:ln/>
        </p:spPr>
        <p:txBody>
          <a:bodyPr wrap="square" lIns="0" tIns="0" rIns="0" bIns="0" rtlCol="0" anchor="ctr"/>
          <a:lstStyle/>
          <a:p>
            <a:pPr marL="0" indent="0" algn="ctr">
              <a:buNone/>
            </a:pPr>
            <a:r>
              <a:rPr lang="en-US" sz="800" dirty="0">
                <a:solidFill>
                  <a:srgbClr val="D4A017"/>
                </a:solidFill>
                <a:latin typeface="Calibri" pitchFamily="34" charset="0"/>
                <a:ea typeface="Calibri" pitchFamily="34" charset="-122"/>
                <a:cs typeface="Calibri" pitchFamily="34" charset="-120"/>
              </a:rPr>
              <a:t>Atmospheric</a:t>
            </a:r>
            <a:endParaRPr lang="en-US" sz="800" dirty="0"/>
          </a:p>
        </p:txBody>
      </p:sp>
      <p:sp>
        <p:nvSpPr>
          <p:cNvPr id="15" name="Shape 13"/>
          <p:cNvSpPr/>
          <p:nvPr/>
        </p:nvSpPr>
        <p:spPr>
          <a:xfrm>
            <a:off x="3995928" y="1591056"/>
            <a:ext cx="1097280" cy="237744"/>
          </a:xfrm>
          <a:prstGeom prst="rect">
            <a:avLst/>
          </a:prstGeom>
          <a:solidFill>
            <a:srgbClr val="1A1810"/>
          </a:solidFill>
          <a:ln w="6350">
            <a:solidFill>
              <a:srgbClr val="B8860B"/>
            </a:solidFill>
            <a:prstDash val="solid"/>
          </a:ln>
        </p:spPr>
      </p:sp>
      <p:sp>
        <p:nvSpPr>
          <p:cNvPr id="16" name="Text 14"/>
          <p:cNvSpPr/>
          <p:nvPr/>
        </p:nvSpPr>
        <p:spPr>
          <a:xfrm>
            <a:off x="3995928" y="1591056"/>
            <a:ext cx="1097280" cy="237744"/>
          </a:xfrm>
          <a:prstGeom prst="rect">
            <a:avLst/>
          </a:prstGeom>
          <a:noFill/>
          <a:ln/>
        </p:spPr>
        <p:txBody>
          <a:bodyPr wrap="square" lIns="0" tIns="0" rIns="0" bIns="0" rtlCol="0" anchor="ctr"/>
          <a:lstStyle/>
          <a:p>
            <a:pPr marL="0" indent="0" algn="ctr">
              <a:buNone/>
            </a:pPr>
            <a:r>
              <a:rPr lang="en-US" sz="800" dirty="0">
                <a:solidFill>
                  <a:srgbClr val="D4A017"/>
                </a:solidFill>
                <a:latin typeface="Calibri" pitchFamily="34" charset="0"/>
                <a:ea typeface="Calibri" pitchFamily="34" charset="-122"/>
                <a:cs typeface="Calibri" pitchFamily="34" charset="-120"/>
              </a:rPr>
              <a:t>3rd Person</a:t>
            </a:r>
            <a:endParaRPr lang="en-US" sz="800" dirty="0"/>
          </a:p>
        </p:txBody>
      </p:sp>
      <p:sp>
        <p:nvSpPr>
          <p:cNvPr id="17" name="Text 15"/>
          <p:cNvSpPr/>
          <p:nvPr/>
        </p:nvSpPr>
        <p:spPr>
          <a:xfrm>
            <a:off x="347472" y="1938528"/>
            <a:ext cx="1828800" cy="201168"/>
          </a:xfrm>
          <a:prstGeom prst="rect">
            <a:avLst/>
          </a:prstGeom>
          <a:noFill/>
          <a:ln/>
        </p:spPr>
        <p:txBody>
          <a:bodyPr wrap="square" lIns="0" tIns="0" rIns="0" bIns="0" rtlCol="0" anchor="ctr"/>
          <a:lstStyle/>
          <a:p>
            <a:pPr marL="0" indent="0" algn="l">
              <a:buNone/>
            </a:pPr>
            <a:r>
              <a:rPr lang="en-US" sz="750" b="1" kern="0" spc="150" dirty="0">
                <a:solidFill>
                  <a:srgbClr val="8A8470"/>
                </a:solidFill>
                <a:latin typeface="Calibri" pitchFamily="34" charset="0"/>
                <a:ea typeface="Calibri" pitchFamily="34" charset="-122"/>
                <a:cs typeface="Calibri" pitchFamily="34" charset="-120"/>
              </a:rPr>
              <a:t>WRITE ZONE</a:t>
            </a:r>
            <a:endParaRPr lang="en-US" sz="750" dirty="0"/>
          </a:p>
        </p:txBody>
      </p:sp>
      <p:sp>
        <p:nvSpPr>
          <p:cNvPr id="18" name="Shape 16"/>
          <p:cNvSpPr/>
          <p:nvPr/>
        </p:nvSpPr>
        <p:spPr>
          <a:xfrm>
            <a:off x="347472" y="2176272"/>
            <a:ext cx="4169664" cy="82296"/>
          </a:xfrm>
          <a:prstGeom prst="rect">
            <a:avLst/>
          </a:prstGeom>
          <a:solidFill>
            <a:srgbClr val="F7F4EE">
              <a:alpha val="22000"/>
            </a:srgbClr>
          </a:solidFill>
          <a:ln w="12700">
            <a:solidFill>
              <a:srgbClr val="333333"/>
            </a:solidFill>
            <a:prstDash val="solid"/>
          </a:ln>
        </p:spPr>
      </p:sp>
      <p:sp>
        <p:nvSpPr>
          <p:cNvPr id="19" name="Shape 17"/>
          <p:cNvSpPr/>
          <p:nvPr/>
        </p:nvSpPr>
        <p:spPr>
          <a:xfrm>
            <a:off x="347472" y="2377440"/>
            <a:ext cx="3648456" cy="82296"/>
          </a:xfrm>
          <a:prstGeom prst="rect">
            <a:avLst/>
          </a:prstGeom>
          <a:solidFill>
            <a:srgbClr val="F7F4EE">
              <a:alpha val="22000"/>
            </a:srgbClr>
          </a:solidFill>
          <a:ln w="12700">
            <a:solidFill>
              <a:srgbClr val="333333"/>
            </a:solidFill>
            <a:prstDash val="solid"/>
          </a:ln>
        </p:spPr>
      </p:sp>
      <p:sp>
        <p:nvSpPr>
          <p:cNvPr id="20" name="Shape 18"/>
          <p:cNvSpPr/>
          <p:nvPr/>
        </p:nvSpPr>
        <p:spPr>
          <a:xfrm>
            <a:off x="347472" y="2578608"/>
            <a:ext cx="4256532" cy="82296"/>
          </a:xfrm>
          <a:prstGeom prst="rect">
            <a:avLst/>
          </a:prstGeom>
          <a:solidFill>
            <a:srgbClr val="F7F4EE">
              <a:alpha val="22000"/>
            </a:srgbClr>
          </a:solidFill>
          <a:ln w="12700">
            <a:solidFill>
              <a:srgbClr val="333333"/>
            </a:solidFill>
            <a:prstDash val="solid"/>
          </a:ln>
        </p:spPr>
      </p:sp>
      <p:sp>
        <p:nvSpPr>
          <p:cNvPr id="21" name="Shape 19"/>
          <p:cNvSpPr/>
          <p:nvPr/>
        </p:nvSpPr>
        <p:spPr>
          <a:xfrm>
            <a:off x="347472" y="2779776"/>
            <a:ext cx="3040380" cy="82296"/>
          </a:xfrm>
          <a:prstGeom prst="rect">
            <a:avLst/>
          </a:prstGeom>
          <a:solidFill>
            <a:srgbClr val="F7F4EE">
              <a:alpha val="22000"/>
            </a:srgbClr>
          </a:solidFill>
          <a:ln w="12700">
            <a:solidFill>
              <a:srgbClr val="333333"/>
            </a:solidFill>
            <a:prstDash val="solid"/>
          </a:ln>
        </p:spPr>
      </p:sp>
      <p:sp>
        <p:nvSpPr>
          <p:cNvPr id="22" name="Shape 20"/>
          <p:cNvSpPr/>
          <p:nvPr/>
        </p:nvSpPr>
        <p:spPr>
          <a:xfrm>
            <a:off x="347472" y="2980944"/>
            <a:ext cx="3995928" cy="82296"/>
          </a:xfrm>
          <a:prstGeom prst="rect">
            <a:avLst/>
          </a:prstGeom>
          <a:solidFill>
            <a:srgbClr val="F7F4EE">
              <a:alpha val="22000"/>
            </a:srgbClr>
          </a:solidFill>
          <a:ln w="12700">
            <a:solidFill>
              <a:srgbClr val="333333"/>
            </a:solidFill>
            <a:prstDash val="solid"/>
          </a:ln>
        </p:spPr>
      </p:sp>
      <p:sp>
        <p:nvSpPr>
          <p:cNvPr id="23" name="Shape 21"/>
          <p:cNvSpPr/>
          <p:nvPr/>
        </p:nvSpPr>
        <p:spPr>
          <a:xfrm>
            <a:off x="347472" y="3182112"/>
            <a:ext cx="3474720" cy="82296"/>
          </a:xfrm>
          <a:prstGeom prst="rect">
            <a:avLst/>
          </a:prstGeom>
          <a:solidFill>
            <a:srgbClr val="F7F4EE">
              <a:alpha val="22000"/>
            </a:srgbClr>
          </a:solidFill>
          <a:ln w="12700">
            <a:solidFill>
              <a:srgbClr val="333333"/>
            </a:solidFill>
            <a:prstDash val="solid"/>
          </a:ln>
        </p:spPr>
      </p:sp>
      <p:sp>
        <p:nvSpPr>
          <p:cNvPr id="24" name="Shape 22"/>
          <p:cNvSpPr/>
          <p:nvPr/>
        </p:nvSpPr>
        <p:spPr>
          <a:xfrm>
            <a:off x="347472" y="3383280"/>
            <a:ext cx="4126230" cy="82296"/>
          </a:xfrm>
          <a:prstGeom prst="rect">
            <a:avLst/>
          </a:prstGeom>
          <a:solidFill>
            <a:srgbClr val="F7F4EE">
              <a:alpha val="22000"/>
            </a:srgbClr>
          </a:solidFill>
          <a:ln w="12700">
            <a:solidFill>
              <a:srgbClr val="333333"/>
            </a:solidFill>
            <a:prstDash val="solid"/>
          </a:ln>
        </p:spPr>
      </p:sp>
      <p:sp>
        <p:nvSpPr>
          <p:cNvPr id="25" name="Shape 23"/>
          <p:cNvSpPr/>
          <p:nvPr/>
        </p:nvSpPr>
        <p:spPr>
          <a:xfrm>
            <a:off x="347472" y="3584448"/>
            <a:ext cx="3300984" cy="82296"/>
          </a:xfrm>
          <a:prstGeom prst="rect">
            <a:avLst/>
          </a:prstGeom>
          <a:solidFill>
            <a:srgbClr val="F7F4EE">
              <a:alpha val="22000"/>
            </a:srgbClr>
          </a:solidFill>
          <a:ln w="12700">
            <a:solidFill>
              <a:srgbClr val="333333"/>
            </a:solidFill>
            <a:prstDash val="solid"/>
          </a:ln>
        </p:spPr>
      </p:sp>
      <p:sp>
        <p:nvSpPr>
          <p:cNvPr id="26" name="Shape 24"/>
          <p:cNvSpPr/>
          <p:nvPr/>
        </p:nvSpPr>
        <p:spPr>
          <a:xfrm>
            <a:off x="347472" y="3785616"/>
            <a:ext cx="3822192" cy="82296"/>
          </a:xfrm>
          <a:prstGeom prst="rect">
            <a:avLst/>
          </a:prstGeom>
          <a:solidFill>
            <a:srgbClr val="F7F4EE">
              <a:alpha val="22000"/>
            </a:srgbClr>
          </a:solidFill>
          <a:ln w="12700">
            <a:solidFill>
              <a:srgbClr val="333333"/>
            </a:solidFill>
            <a:prstDash val="solid"/>
          </a:ln>
        </p:spPr>
      </p:sp>
      <p:sp>
        <p:nvSpPr>
          <p:cNvPr id="27" name="Shape 25"/>
          <p:cNvSpPr/>
          <p:nvPr/>
        </p:nvSpPr>
        <p:spPr>
          <a:xfrm>
            <a:off x="347472" y="3986784"/>
            <a:ext cx="3561588" cy="82296"/>
          </a:xfrm>
          <a:prstGeom prst="rect">
            <a:avLst/>
          </a:prstGeom>
          <a:solidFill>
            <a:srgbClr val="F7F4EE">
              <a:alpha val="22000"/>
            </a:srgbClr>
          </a:solidFill>
          <a:ln w="12700">
            <a:solidFill>
              <a:srgbClr val="333333"/>
            </a:solidFill>
            <a:prstDash val="solid"/>
          </a:ln>
        </p:spPr>
      </p:sp>
      <p:sp>
        <p:nvSpPr>
          <p:cNvPr id="28" name="Shape 26"/>
          <p:cNvSpPr/>
          <p:nvPr/>
        </p:nvSpPr>
        <p:spPr>
          <a:xfrm>
            <a:off x="347472" y="4187952"/>
            <a:ext cx="3431286" cy="82296"/>
          </a:xfrm>
          <a:prstGeom prst="rect">
            <a:avLst/>
          </a:prstGeom>
          <a:solidFill>
            <a:srgbClr val="F7F4EE">
              <a:alpha val="22000"/>
            </a:srgbClr>
          </a:solidFill>
          <a:ln w="12700">
            <a:solidFill>
              <a:srgbClr val="333333"/>
            </a:solidFill>
            <a:prstDash val="solid"/>
          </a:ln>
        </p:spPr>
      </p:sp>
      <p:sp>
        <p:nvSpPr>
          <p:cNvPr id="29" name="Shape 27"/>
          <p:cNvSpPr/>
          <p:nvPr/>
        </p:nvSpPr>
        <p:spPr>
          <a:xfrm>
            <a:off x="256032" y="4425696"/>
            <a:ext cx="5138928" cy="493776"/>
          </a:xfrm>
          <a:prstGeom prst="rect">
            <a:avLst/>
          </a:prstGeom>
          <a:solidFill>
            <a:srgbClr val="0A0903"/>
          </a:solidFill>
          <a:ln w="12700">
            <a:solidFill>
              <a:srgbClr val="333333"/>
            </a:solidFill>
            <a:prstDash val="solid"/>
          </a:ln>
        </p:spPr>
      </p:sp>
      <p:sp>
        <p:nvSpPr>
          <p:cNvPr id="30" name="Shape 28"/>
          <p:cNvSpPr/>
          <p:nvPr/>
        </p:nvSpPr>
        <p:spPr>
          <a:xfrm>
            <a:off x="347472" y="4498848"/>
            <a:ext cx="3291840" cy="329184"/>
          </a:xfrm>
          <a:prstGeom prst="rect">
            <a:avLst/>
          </a:prstGeom>
          <a:solidFill>
            <a:srgbClr val="1A1810"/>
          </a:solidFill>
          <a:ln w="6350">
            <a:solidFill>
              <a:srgbClr val="8A8470"/>
            </a:solidFill>
            <a:prstDash val="solid"/>
          </a:ln>
        </p:spPr>
      </p:sp>
      <p:sp>
        <p:nvSpPr>
          <p:cNvPr id="31" name="Text 29"/>
          <p:cNvSpPr/>
          <p:nvPr/>
        </p:nvSpPr>
        <p:spPr>
          <a:xfrm>
            <a:off x="420624" y="4498848"/>
            <a:ext cx="3200400" cy="329184"/>
          </a:xfrm>
          <a:prstGeom prst="rect">
            <a:avLst/>
          </a:prstGeom>
          <a:noFill/>
          <a:ln/>
        </p:spPr>
        <p:txBody>
          <a:bodyPr wrap="square" lIns="0" tIns="0" rIns="0" bIns="0" rtlCol="0" anchor="ctr"/>
          <a:lstStyle/>
          <a:p>
            <a:pPr marL="0" indent="0" algn="l">
              <a:buNone/>
            </a:pPr>
            <a:r>
              <a:rPr lang="en-US" sz="850" i="1" dirty="0">
                <a:solidFill>
                  <a:srgbClr val="8A8470"/>
                </a:solidFill>
                <a:latin typeface="Calibri" pitchFamily="34" charset="0"/>
                <a:ea typeface="Calibri" pitchFamily="34" charset="-122"/>
                <a:cs typeface="Calibri" pitchFamily="34" charset="-120"/>
              </a:rPr>
              <a:t>A woman arrives at the station at midnight…</a:t>
            </a:r>
            <a:endParaRPr lang="en-US" sz="850" dirty="0"/>
          </a:p>
        </p:txBody>
      </p:sp>
      <p:sp>
        <p:nvSpPr>
          <p:cNvPr id="32" name="Shape 30"/>
          <p:cNvSpPr/>
          <p:nvPr/>
        </p:nvSpPr>
        <p:spPr>
          <a:xfrm>
            <a:off x="3730752" y="4498848"/>
            <a:ext cx="1508760" cy="329184"/>
          </a:xfrm>
          <a:prstGeom prst="rect">
            <a:avLst/>
          </a:prstGeom>
          <a:solidFill>
            <a:srgbClr val="B8860B"/>
          </a:solidFill>
          <a:ln w="12700">
            <a:solidFill>
              <a:srgbClr val="333333"/>
            </a:solidFill>
            <a:prstDash val="solid"/>
          </a:ln>
        </p:spPr>
      </p:sp>
      <p:sp>
        <p:nvSpPr>
          <p:cNvPr id="33" name="Text 31"/>
          <p:cNvSpPr/>
          <p:nvPr/>
        </p:nvSpPr>
        <p:spPr>
          <a:xfrm>
            <a:off x="3730752" y="4498848"/>
            <a:ext cx="1508760" cy="329184"/>
          </a:xfrm>
          <a:prstGeom prst="rect">
            <a:avLst/>
          </a:prstGeom>
          <a:noFill/>
          <a:ln/>
        </p:spPr>
        <p:txBody>
          <a:bodyPr wrap="square" lIns="0" tIns="0" rIns="0" bIns="0" rtlCol="0" anchor="ctr"/>
          <a:lstStyle/>
          <a:p>
            <a:pPr marL="0" indent="0" algn="ctr">
              <a:buNone/>
            </a:pPr>
            <a:r>
              <a:rPr lang="en-US" sz="1000" b="1" kern="0" spc="100" dirty="0">
                <a:solidFill>
                  <a:srgbClr val="0E0C07"/>
                </a:solidFill>
                <a:latin typeface="Calibri" pitchFamily="34" charset="0"/>
                <a:ea typeface="Calibri" pitchFamily="34" charset="-122"/>
                <a:cs typeface="Calibri" pitchFamily="34" charset="-120"/>
              </a:rPr>
              <a:t>✦  FORGE</a:t>
            </a:r>
            <a:endParaRPr lang="en-US" sz="1000" dirty="0"/>
          </a:p>
        </p:txBody>
      </p:sp>
      <p:sp>
        <p:nvSpPr>
          <p:cNvPr id="34" name="Shape 32"/>
          <p:cNvSpPr/>
          <p:nvPr/>
        </p:nvSpPr>
        <p:spPr>
          <a:xfrm>
            <a:off x="5577840" y="1188720"/>
            <a:ext cx="3337560" cy="804672"/>
          </a:xfrm>
          <a:prstGeom prst="rect">
            <a:avLst/>
          </a:prstGeom>
          <a:solidFill>
            <a:srgbClr val="FFFFFF"/>
          </a:solidFill>
          <a:ln w="10160">
            <a:solidFill>
              <a:srgbClr val="EDE9E1"/>
            </a:solidFill>
            <a:prstDash val="solid"/>
          </a:ln>
          <a:effectLst>
            <a:outerShdw blurRad="76200" dist="25400" dir="8100000" algn="bl" rotWithShape="0">
              <a:srgbClr val="000000">
                <a:alpha val="12000"/>
              </a:srgbClr>
            </a:outerShdw>
          </a:effectLst>
        </p:spPr>
      </p:sp>
      <p:sp>
        <p:nvSpPr>
          <p:cNvPr id="35" name="Shape 33"/>
          <p:cNvSpPr/>
          <p:nvPr/>
        </p:nvSpPr>
        <p:spPr>
          <a:xfrm>
            <a:off x="5577840" y="1188720"/>
            <a:ext cx="64008" cy="804672"/>
          </a:xfrm>
          <a:prstGeom prst="rect">
            <a:avLst/>
          </a:prstGeom>
          <a:solidFill>
            <a:srgbClr val="B8860B"/>
          </a:solidFill>
          <a:ln w="12700">
            <a:solidFill>
              <a:srgbClr val="333333"/>
            </a:solidFill>
            <a:prstDash val="solid"/>
          </a:ln>
        </p:spPr>
      </p:sp>
      <p:sp>
        <p:nvSpPr>
          <p:cNvPr id="36" name="Text 34"/>
          <p:cNvSpPr/>
          <p:nvPr/>
        </p:nvSpPr>
        <p:spPr>
          <a:xfrm>
            <a:off x="5687568" y="1234440"/>
            <a:ext cx="347472" cy="274320"/>
          </a:xfrm>
          <a:prstGeom prst="rect">
            <a:avLst/>
          </a:prstGeom>
          <a:noFill/>
          <a:ln/>
        </p:spPr>
        <p:txBody>
          <a:bodyPr wrap="square" lIns="0" tIns="0" rIns="0" bIns="0" rtlCol="0" anchor="ctr"/>
          <a:lstStyle/>
          <a:p>
            <a:pPr marL="0" indent="0" algn="l">
              <a:buNone/>
            </a:pPr>
            <a:r>
              <a:rPr lang="en-US" sz="1300" b="1" dirty="0">
                <a:solidFill>
                  <a:srgbClr val="B8860B"/>
                </a:solidFill>
                <a:latin typeface="Georgia" pitchFamily="34" charset="0"/>
                <a:ea typeface="Georgia" pitchFamily="34" charset="-122"/>
                <a:cs typeface="Georgia" pitchFamily="34" charset="-120"/>
              </a:rPr>
              <a:t>01</a:t>
            </a:r>
            <a:endParaRPr lang="en-US" sz="1300" dirty="0"/>
          </a:p>
        </p:txBody>
      </p:sp>
      <p:sp>
        <p:nvSpPr>
          <p:cNvPr id="37" name="Text 35"/>
          <p:cNvSpPr/>
          <p:nvPr/>
        </p:nvSpPr>
        <p:spPr>
          <a:xfrm>
            <a:off x="6080760" y="1234440"/>
            <a:ext cx="2743200" cy="256032"/>
          </a:xfrm>
          <a:prstGeom prst="rect">
            <a:avLst/>
          </a:prstGeom>
          <a:noFill/>
          <a:ln/>
        </p:spPr>
        <p:txBody>
          <a:bodyPr wrap="square" lIns="0" tIns="0" rIns="0" bIns="0" rtlCol="0" anchor="ctr"/>
          <a:lstStyle/>
          <a:p>
            <a:pPr marL="0" indent="0" algn="l">
              <a:buNone/>
            </a:pPr>
            <a:r>
              <a:rPr lang="en-US" sz="1200" b="1" dirty="0">
                <a:solidFill>
                  <a:srgbClr val="0E0C07"/>
                </a:solidFill>
                <a:latin typeface="Georgia" pitchFamily="34" charset="0"/>
                <a:ea typeface="Georgia" pitchFamily="34" charset="-122"/>
                <a:cs typeface="Georgia" pitchFamily="34" charset="-120"/>
              </a:rPr>
              <a:t>Live Token Streaming</a:t>
            </a:r>
            <a:endParaRPr lang="en-US" sz="1200" dirty="0"/>
          </a:p>
        </p:txBody>
      </p:sp>
      <p:sp>
        <p:nvSpPr>
          <p:cNvPr id="38" name="Text 36"/>
          <p:cNvSpPr/>
          <p:nvPr/>
        </p:nvSpPr>
        <p:spPr>
          <a:xfrm>
            <a:off x="5687568" y="1554480"/>
            <a:ext cx="3127248" cy="384048"/>
          </a:xfrm>
          <a:prstGeom prst="rect">
            <a:avLst/>
          </a:prstGeom>
          <a:noFill/>
          <a:ln/>
        </p:spPr>
        <p:txBody>
          <a:bodyPr wrap="square" lIns="0" tIns="0" rIns="0" bIns="0" rtlCol="0" anchor="ctr"/>
          <a:lstStyle/>
          <a:p>
            <a:pPr marL="0" indent="0" algn="l">
              <a:buNone/>
            </a:pPr>
            <a:r>
              <a:rPr lang="en-US" sz="950" dirty="0">
                <a:solidFill>
                  <a:srgbClr val="8A8470"/>
                </a:solidFill>
                <a:latin typeface="Calibri" pitchFamily="34" charset="0"/>
                <a:ea typeface="Calibri" pitchFamily="34" charset="-122"/>
                <a:cs typeface="Calibri" pitchFamily="34" charset="-120"/>
              </a:rPr>
              <a:t>NDJSON stream from Ollama's local HTTP API. Story appears word-by-word in real time. No wait, no spinner — just prose.</a:t>
            </a:r>
            <a:endParaRPr lang="en-US" sz="950" dirty="0"/>
          </a:p>
        </p:txBody>
      </p:sp>
      <p:sp>
        <p:nvSpPr>
          <p:cNvPr id="39" name="Shape 37"/>
          <p:cNvSpPr/>
          <p:nvPr/>
        </p:nvSpPr>
        <p:spPr>
          <a:xfrm>
            <a:off x="5577840" y="2103120"/>
            <a:ext cx="3337560" cy="804672"/>
          </a:xfrm>
          <a:prstGeom prst="rect">
            <a:avLst/>
          </a:prstGeom>
          <a:solidFill>
            <a:srgbClr val="FFFFFF"/>
          </a:solidFill>
          <a:ln w="10160">
            <a:solidFill>
              <a:srgbClr val="EDE9E1"/>
            </a:solidFill>
            <a:prstDash val="solid"/>
          </a:ln>
          <a:effectLst>
            <a:outerShdw blurRad="76200" dist="25400" dir="8100000" algn="bl" rotWithShape="0">
              <a:srgbClr val="000000">
                <a:alpha val="12000"/>
              </a:srgbClr>
            </a:outerShdw>
          </a:effectLst>
        </p:spPr>
      </p:sp>
      <p:sp>
        <p:nvSpPr>
          <p:cNvPr id="40" name="Shape 38"/>
          <p:cNvSpPr/>
          <p:nvPr/>
        </p:nvSpPr>
        <p:spPr>
          <a:xfrm>
            <a:off x="5577840" y="2103120"/>
            <a:ext cx="64008" cy="804672"/>
          </a:xfrm>
          <a:prstGeom prst="rect">
            <a:avLst/>
          </a:prstGeom>
          <a:solidFill>
            <a:srgbClr val="B8860B"/>
          </a:solidFill>
          <a:ln w="12700">
            <a:solidFill>
              <a:srgbClr val="333333"/>
            </a:solidFill>
            <a:prstDash val="solid"/>
          </a:ln>
        </p:spPr>
      </p:sp>
      <p:sp>
        <p:nvSpPr>
          <p:cNvPr id="41" name="Text 39"/>
          <p:cNvSpPr/>
          <p:nvPr/>
        </p:nvSpPr>
        <p:spPr>
          <a:xfrm>
            <a:off x="5687568" y="2148840"/>
            <a:ext cx="347472" cy="274320"/>
          </a:xfrm>
          <a:prstGeom prst="rect">
            <a:avLst/>
          </a:prstGeom>
          <a:noFill/>
          <a:ln/>
        </p:spPr>
        <p:txBody>
          <a:bodyPr wrap="square" lIns="0" tIns="0" rIns="0" bIns="0" rtlCol="0" anchor="ctr"/>
          <a:lstStyle/>
          <a:p>
            <a:pPr marL="0" indent="0" algn="l">
              <a:buNone/>
            </a:pPr>
            <a:r>
              <a:rPr lang="en-US" sz="1300" b="1" dirty="0">
                <a:solidFill>
                  <a:srgbClr val="B8860B"/>
                </a:solidFill>
                <a:latin typeface="Georgia" pitchFamily="34" charset="0"/>
                <a:ea typeface="Georgia" pitchFamily="34" charset="-122"/>
                <a:cs typeface="Georgia" pitchFamily="34" charset="-120"/>
              </a:rPr>
              <a:t>02</a:t>
            </a:r>
            <a:endParaRPr lang="en-US" sz="1300" dirty="0"/>
          </a:p>
        </p:txBody>
      </p:sp>
      <p:sp>
        <p:nvSpPr>
          <p:cNvPr id="42" name="Text 40"/>
          <p:cNvSpPr/>
          <p:nvPr/>
        </p:nvSpPr>
        <p:spPr>
          <a:xfrm>
            <a:off x="6080760" y="2148840"/>
            <a:ext cx="2743200" cy="256032"/>
          </a:xfrm>
          <a:prstGeom prst="rect">
            <a:avLst/>
          </a:prstGeom>
          <a:noFill/>
          <a:ln/>
        </p:spPr>
        <p:txBody>
          <a:bodyPr wrap="square" lIns="0" tIns="0" rIns="0" bIns="0" rtlCol="0" anchor="ctr"/>
          <a:lstStyle/>
          <a:p>
            <a:pPr marL="0" indent="0" algn="l">
              <a:buNone/>
            </a:pPr>
            <a:r>
              <a:rPr lang="en-US" sz="1200" b="1" dirty="0">
                <a:solidFill>
                  <a:srgbClr val="0E0C07"/>
                </a:solidFill>
                <a:latin typeface="Georgia" pitchFamily="34" charset="0"/>
                <a:ea typeface="Georgia" pitchFamily="34" charset="-122"/>
                <a:cs typeface="Georgia" pitchFamily="34" charset="-120"/>
              </a:rPr>
              <a:t>Full Context Injection</a:t>
            </a:r>
            <a:endParaRPr lang="en-US" sz="1200" dirty="0"/>
          </a:p>
        </p:txBody>
      </p:sp>
      <p:sp>
        <p:nvSpPr>
          <p:cNvPr id="43" name="Text 41"/>
          <p:cNvSpPr/>
          <p:nvPr/>
        </p:nvSpPr>
        <p:spPr>
          <a:xfrm>
            <a:off x="5687568" y="2468880"/>
            <a:ext cx="3127248" cy="384048"/>
          </a:xfrm>
          <a:prstGeom prst="rect">
            <a:avLst/>
          </a:prstGeom>
          <a:noFill/>
          <a:ln/>
        </p:spPr>
        <p:txBody>
          <a:bodyPr wrap="square" lIns="0" tIns="0" rIns="0" bIns="0" rtlCol="0" anchor="ctr"/>
          <a:lstStyle/>
          <a:p>
            <a:pPr marL="0" indent="0" algn="l">
              <a:buNone/>
            </a:pPr>
            <a:r>
              <a:rPr lang="en-US" sz="950" dirty="0">
                <a:solidFill>
                  <a:srgbClr val="8A8470"/>
                </a:solidFill>
                <a:latin typeface="Calibri" pitchFamily="34" charset="0"/>
                <a:ea typeface="Calibri" pitchFamily="34" charset="-122"/>
                <a:cs typeface="Calibri" pitchFamily="34" charset="-120"/>
              </a:rPr>
              <a:t>Every prompt contains genre, tone, POV, mood, characters, world rules, and story history. The AI never starts from zero.</a:t>
            </a:r>
            <a:endParaRPr lang="en-US" sz="950" dirty="0"/>
          </a:p>
        </p:txBody>
      </p:sp>
      <p:sp>
        <p:nvSpPr>
          <p:cNvPr id="44" name="Shape 42"/>
          <p:cNvSpPr/>
          <p:nvPr/>
        </p:nvSpPr>
        <p:spPr>
          <a:xfrm>
            <a:off x="5577840" y="3017520"/>
            <a:ext cx="3337560" cy="804672"/>
          </a:xfrm>
          <a:prstGeom prst="rect">
            <a:avLst/>
          </a:prstGeom>
          <a:solidFill>
            <a:srgbClr val="FFFFFF"/>
          </a:solidFill>
          <a:ln w="10160">
            <a:solidFill>
              <a:srgbClr val="EDE9E1"/>
            </a:solidFill>
            <a:prstDash val="solid"/>
          </a:ln>
          <a:effectLst>
            <a:outerShdw blurRad="76200" dist="25400" dir="8100000" algn="bl" rotWithShape="0">
              <a:srgbClr val="000000">
                <a:alpha val="12000"/>
              </a:srgbClr>
            </a:outerShdw>
          </a:effectLst>
        </p:spPr>
      </p:sp>
      <p:sp>
        <p:nvSpPr>
          <p:cNvPr id="45" name="Shape 43"/>
          <p:cNvSpPr/>
          <p:nvPr/>
        </p:nvSpPr>
        <p:spPr>
          <a:xfrm>
            <a:off x="5577840" y="3017520"/>
            <a:ext cx="64008" cy="804672"/>
          </a:xfrm>
          <a:prstGeom prst="rect">
            <a:avLst/>
          </a:prstGeom>
          <a:solidFill>
            <a:srgbClr val="B8860B"/>
          </a:solidFill>
          <a:ln w="12700">
            <a:solidFill>
              <a:srgbClr val="333333"/>
            </a:solidFill>
            <a:prstDash val="solid"/>
          </a:ln>
        </p:spPr>
      </p:sp>
      <p:sp>
        <p:nvSpPr>
          <p:cNvPr id="46" name="Text 44"/>
          <p:cNvSpPr/>
          <p:nvPr/>
        </p:nvSpPr>
        <p:spPr>
          <a:xfrm>
            <a:off x="5687568" y="3063240"/>
            <a:ext cx="347472" cy="274320"/>
          </a:xfrm>
          <a:prstGeom prst="rect">
            <a:avLst/>
          </a:prstGeom>
          <a:noFill/>
          <a:ln/>
        </p:spPr>
        <p:txBody>
          <a:bodyPr wrap="square" lIns="0" tIns="0" rIns="0" bIns="0" rtlCol="0" anchor="ctr"/>
          <a:lstStyle/>
          <a:p>
            <a:pPr marL="0" indent="0" algn="l">
              <a:buNone/>
            </a:pPr>
            <a:r>
              <a:rPr lang="en-US" sz="1300" b="1" dirty="0">
                <a:solidFill>
                  <a:srgbClr val="B8860B"/>
                </a:solidFill>
                <a:latin typeface="Georgia" pitchFamily="34" charset="0"/>
                <a:ea typeface="Georgia" pitchFamily="34" charset="-122"/>
                <a:cs typeface="Georgia" pitchFamily="34" charset="-120"/>
              </a:rPr>
              <a:t>03</a:t>
            </a:r>
            <a:endParaRPr lang="en-US" sz="1300" dirty="0"/>
          </a:p>
        </p:txBody>
      </p:sp>
      <p:sp>
        <p:nvSpPr>
          <p:cNvPr id="47" name="Text 45"/>
          <p:cNvSpPr/>
          <p:nvPr/>
        </p:nvSpPr>
        <p:spPr>
          <a:xfrm>
            <a:off x="6080760" y="3063240"/>
            <a:ext cx="2743200" cy="256032"/>
          </a:xfrm>
          <a:prstGeom prst="rect">
            <a:avLst/>
          </a:prstGeom>
          <a:noFill/>
          <a:ln/>
        </p:spPr>
        <p:txBody>
          <a:bodyPr wrap="square" lIns="0" tIns="0" rIns="0" bIns="0" rtlCol="0" anchor="ctr"/>
          <a:lstStyle/>
          <a:p>
            <a:pPr marL="0" indent="0" algn="l">
              <a:buNone/>
            </a:pPr>
            <a:r>
              <a:rPr lang="en-US" sz="1200" b="1" dirty="0">
                <a:solidFill>
                  <a:srgbClr val="0E0C07"/>
                </a:solidFill>
                <a:latin typeface="Georgia" pitchFamily="34" charset="0"/>
                <a:ea typeface="Georgia" pitchFamily="34" charset="-122"/>
                <a:cs typeface="Georgia" pitchFamily="34" charset="-120"/>
              </a:rPr>
              <a:t>Auto World Extraction</a:t>
            </a:r>
            <a:endParaRPr lang="en-US" sz="1200" dirty="0"/>
          </a:p>
        </p:txBody>
      </p:sp>
      <p:sp>
        <p:nvSpPr>
          <p:cNvPr id="48" name="Text 46"/>
          <p:cNvSpPr/>
          <p:nvPr/>
        </p:nvSpPr>
        <p:spPr>
          <a:xfrm>
            <a:off x="5687568" y="3383280"/>
            <a:ext cx="3127248" cy="384048"/>
          </a:xfrm>
          <a:prstGeom prst="rect">
            <a:avLst/>
          </a:prstGeom>
          <a:noFill/>
          <a:ln/>
        </p:spPr>
        <p:txBody>
          <a:bodyPr wrap="square" lIns="0" tIns="0" rIns="0" bIns="0" rtlCol="0" anchor="ctr"/>
          <a:lstStyle/>
          <a:p>
            <a:pPr marL="0" indent="0" algn="l">
              <a:buNone/>
            </a:pPr>
            <a:r>
              <a:rPr lang="en-US" sz="950" dirty="0">
                <a:solidFill>
                  <a:srgbClr val="8A8470"/>
                </a:solidFill>
                <a:latin typeface="Calibri" pitchFamily="34" charset="0"/>
                <a:ea typeface="Calibri" pitchFamily="34" charset="-122"/>
                <a:cs typeface="Calibri" pitchFamily="34" charset="-120"/>
              </a:rPr>
              <a:t>A secondary AI call fires after each passage to extract new character details and world facts, appending them to persistent context.</a:t>
            </a:r>
            <a:endParaRPr lang="en-US" sz="950" dirty="0"/>
          </a:p>
        </p:txBody>
      </p:sp>
      <p:sp>
        <p:nvSpPr>
          <p:cNvPr id="49" name="Shape 47"/>
          <p:cNvSpPr/>
          <p:nvPr/>
        </p:nvSpPr>
        <p:spPr>
          <a:xfrm>
            <a:off x="5577840" y="3931920"/>
            <a:ext cx="3337560" cy="804672"/>
          </a:xfrm>
          <a:prstGeom prst="rect">
            <a:avLst/>
          </a:prstGeom>
          <a:solidFill>
            <a:srgbClr val="FFFFFF"/>
          </a:solidFill>
          <a:ln w="10160">
            <a:solidFill>
              <a:srgbClr val="EDE9E1"/>
            </a:solidFill>
            <a:prstDash val="solid"/>
          </a:ln>
          <a:effectLst>
            <a:outerShdw blurRad="76200" dist="25400" dir="8100000" algn="bl" rotWithShape="0">
              <a:srgbClr val="000000">
                <a:alpha val="12000"/>
              </a:srgbClr>
            </a:outerShdw>
          </a:effectLst>
        </p:spPr>
      </p:sp>
      <p:sp>
        <p:nvSpPr>
          <p:cNvPr id="50" name="Shape 48"/>
          <p:cNvSpPr/>
          <p:nvPr/>
        </p:nvSpPr>
        <p:spPr>
          <a:xfrm>
            <a:off x="5577840" y="3931920"/>
            <a:ext cx="64008" cy="804672"/>
          </a:xfrm>
          <a:prstGeom prst="rect">
            <a:avLst/>
          </a:prstGeom>
          <a:solidFill>
            <a:srgbClr val="B8860B"/>
          </a:solidFill>
          <a:ln w="12700">
            <a:solidFill>
              <a:srgbClr val="333333"/>
            </a:solidFill>
            <a:prstDash val="solid"/>
          </a:ln>
        </p:spPr>
      </p:sp>
      <p:sp>
        <p:nvSpPr>
          <p:cNvPr id="51" name="Text 49"/>
          <p:cNvSpPr/>
          <p:nvPr/>
        </p:nvSpPr>
        <p:spPr>
          <a:xfrm>
            <a:off x="5687568" y="3977640"/>
            <a:ext cx="347472" cy="274320"/>
          </a:xfrm>
          <a:prstGeom prst="rect">
            <a:avLst/>
          </a:prstGeom>
          <a:noFill/>
          <a:ln/>
        </p:spPr>
        <p:txBody>
          <a:bodyPr wrap="square" lIns="0" tIns="0" rIns="0" bIns="0" rtlCol="0" anchor="ctr"/>
          <a:lstStyle/>
          <a:p>
            <a:pPr marL="0" indent="0" algn="l">
              <a:buNone/>
            </a:pPr>
            <a:r>
              <a:rPr lang="en-US" sz="1300" b="1" dirty="0">
                <a:solidFill>
                  <a:srgbClr val="B8860B"/>
                </a:solidFill>
                <a:latin typeface="Georgia" pitchFamily="34" charset="0"/>
                <a:ea typeface="Georgia" pitchFamily="34" charset="-122"/>
                <a:cs typeface="Georgia" pitchFamily="34" charset="-120"/>
              </a:rPr>
              <a:t>04</a:t>
            </a:r>
            <a:endParaRPr lang="en-US" sz="1300" dirty="0"/>
          </a:p>
        </p:txBody>
      </p:sp>
      <p:sp>
        <p:nvSpPr>
          <p:cNvPr id="52" name="Text 50"/>
          <p:cNvSpPr/>
          <p:nvPr/>
        </p:nvSpPr>
        <p:spPr>
          <a:xfrm>
            <a:off x="6080760" y="3977640"/>
            <a:ext cx="2743200" cy="256032"/>
          </a:xfrm>
          <a:prstGeom prst="rect">
            <a:avLst/>
          </a:prstGeom>
          <a:noFill/>
          <a:ln/>
        </p:spPr>
        <p:txBody>
          <a:bodyPr wrap="square" lIns="0" tIns="0" rIns="0" bIns="0" rtlCol="0" anchor="ctr"/>
          <a:lstStyle/>
          <a:p>
            <a:pPr marL="0" indent="0" algn="l">
              <a:buNone/>
            </a:pPr>
            <a:r>
              <a:rPr lang="en-US" sz="1200" b="1" dirty="0">
                <a:solidFill>
                  <a:srgbClr val="0E0C07"/>
                </a:solidFill>
                <a:latin typeface="Georgia" pitchFamily="34" charset="0"/>
                <a:ea typeface="Georgia" pitchFamily="34" charset="-122"/>
                <a:cs typeface="Georgia" pitchFamily="34" charset="-120"/>
              </a:rPr>
              <a:t>10 Action Types</a:t>
            </a:r>
            <a:endParaRPr lang="en-US" sz="1200" dirty="0"/>
          </a:p>
        </p:txBody>
      </p:sp>
      <p:sp>
        <p:nvSpPr>
          <p:cNvPr id="53" name="Text 51"/>
          <p:cNvSpPr/>
          <p:nvPr/>
        </p:nvSpPr>
        <p:spPr>
          <a:xfrm>
            <a:off x="5687568" y="4297680"/>
            <a:ext cx="3127248" cy="384048"/>
          </a:xfrm>
          <a:prstGeom prst="rect">
            <a:avLst/>
          </a:prstGeom>
          <a:noFill/>
          <a:ln/>
        </p:spPr>
        <p:txBody>
          <a:bodyPr wrap="square" lIns="0" tIns="0" rIns="0" bIns="0" rtlCol="0" anchor="ctr"/>
          <a:lstStyle/>
          <a:p>
            <a:pPr marL="0" indent="0" algn="l">
              <a:buNone/>
            </a:pPr>
            <a:r>
              <a:rPr lang="en-US" sz="950" dirty="0">
                <a:solidFill>
                  <a:srgbClr val="8A8470"/>
                </a:solidFill>
                <a:latin typeface="Calibri" pitchFamily="34" charset="0"/>
                <a:ea typeface="Calibri" pitchFamily="34" charset="-122"/>
                <a:cs typeface="Calibri" pitchFamily="34" charset="-120"/>
              </a:rPr>
              <a:t>Continue · Plot Twist · Dialogue · Describe · Rewrite · Enhance · Foreshadow · Raise Stakes · Flashback · End Chapter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860B"/>
          </a:solidFill>
          <a:ln/>
        </p:spPr>
      </p:sp>
      <p:sp>
        <p:nvSpPr>
          <p:cNvPr id="3" name="Text 1"/>
          <p:cNvSpPr/>
          <p:nvPr/>
        </p:nvSpPr>
        <p:spPr>
          <a:xfrm>
            <a:off x="457200" y="164592"/>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06  /  TECHNOLOGY STACK</a:t>
            </a:r>
            <a:endParaRPr lang="en-US" sz="1000" dirty="0"/>
          </a:p>
        </p:txBody>
      </p:sp>
      <p:sp>
        <p:nvSpPr>
          <p:cNvPr id="4" name="Text 2"/>
          <p:cNvSpPr/>
          <p:nvPr/>
        </p:nvSpPr>
        <p:spPr>
          <a:xfrm>
            <a:off x="457200" y="493776"/>
            <a:ext cx="8229600" cy="402336"/>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A lean, powerful, fully open-source architecture.</a:t>
            </a:r>
            <a:endParaRPr lang="en-US" sz="2000" dirty="0"/>
          </a:p>
        </p:txBody>
      </p:sp>
      <p:sp>
        <p:nvSpPr>
          <p:cNvPr id="5" name="Shape 3"/>
          <p:cNvSpPr/>
          <p:nvPr/>
        </p:nvSpPr>
        <p:spPr>
          <a:xfrm>
            <a:off x="256032" y="1078992"/>
            <a:ext cx="1554480" cy="3657600"/>
          </a:xfrm>
          <a:prstGeom prst="rect">
            <a:avLst/>
          </a:prstGeom>
          <a:solidFill>
            <a:srgbClr val="141208"/>
          </a:solidFill>
          <a:ln w="7620">
            <a:solidFill>
              <a:srgbClr val="2A2720"/>
            </a:solidFill>
            <a:prstDash val="solid"/>
          </a:ln>
          <a:effectLst>
            <a:outerShdw blurRad="127000" dist="50800" dir="8100000" algn="bl" rotWithShape="0">
              <a:srgbClr val="000000">
                <a:alpha val="22000"/>
              </a:srgbClr>
            </a:outerShdw>
          </a:effectLst>
        </p:spPr>
      </p:sp>
      <p:pic>
        <p:nvPicPr>
          <p:cNvPr id="6" name="Image 0" descr="preencoded.png"/>
          <p:cNvPicPr>
            <a:picLocks noChangeAspect="1"/>
          </p:cNvPicPr>
          <p:nvPr/>
        </p:nvPicPr>
        <p:blipFill>
          <a:blip r:embed="rId3"/>
          <a:stretch>
            <a:fillRect/>
          </a:stretch>
        </p:blipFill>
        <p:spPr>
          <a:xfrm>
            <a:off x="804672" y="1261872"/>
            <a:ext cx="457200" cy="457200"/>
          </a:xfrm>
          <a:prstGeom prst="rect">
            <a:avLst/>
          </a:prstGeom>
        </p:spPr>
      </p:pic>
      <p:sp>
        <p:nvSpPr>
          <p:cNvPr id="7" name="Text 4"/>
          <p:cNvSpPr/>
          <p:nvPr/>
        </p:nvSpPr>
        <p:spPr>
          <a:xfrm>
            <a:off x="256032" y="1847088"/>
            <a:ext cx="1554480" cy="310896"/>
          </a:xfrm>
          <a:prstGeom prst="rect">
            <a:avLst/>
          </a:prstGeom>
          <a:noFill/>
          <a:ln/>
        </p:spPr>
        <p:txBody>
          <a:bodyPr wrap="square" lIns="0" tIns="0" rIns="0" bIns="0" rtlCol="0" anchor="ctr"/>
          <a:lstStyle/>
          <a:p>
            <a:pPr marL="0" indent="0" algn="ctr">
              <a:buNone/>
            </a:pPr>
            <a:r>
              <a:rPr lang="en-US" sz="750" b="1" kern="0" spc="80" dirty="0">
                <a:solidFill>
                  <a:srgbClr val="8A8470"/>
                </a:solidFill>
                <a:latin typeface="Calibri" pitchFamily="34" charset="0"/>
                <a:ea typeface="Calibri" pitchFamily="34" charset="-122"/>
                <a:cs typeface="Calibri" pitchFamily="34" charset="-120"/>
              </a:rPr>
              <a:t>USER INTERFACE</a:t>
            </a:r>
            <a:endParaRPr lang="en-US" sz="750" dirty="0"/>
          </a:p>
        </p:txBody>
      </p:sp>
      <p:sp>
        <p:nvSpPr>
          <p:cNvPr id="8" name="Text 5"/>
          <p:cNvSpPr/>
          <p:nvPr/>
        </p:nvSpPr>
        <p:spPr>
          <a:xfrm>
            <a:off x="256032" y="2176272"/>
            <a:ext cx="1554480" cy="384048"/>
          </a:xfrm>
          <a:prstGeom prst="rect">
            <a:avLst/>
          </a:prstGeom>
          <a:noFill/>
          <a:ln/>
        </p:spPr>
        <p:txBody>
          <a:bodyPr wrap="square" lIns="0" tIns="0" rIns="0" bIns="0" rtlCol="0" anchor="ctr"/>
          <a:lstStyle/>
          <a:p>
            <a:pPr marL="0" indent="0" algn="ctr">
              <a:buNone/>
            </a:pPr>
            <a:r>
              <a:rPr lang="en-US" sz="1300" b="1" dirty="0">
                <a:solidFill>
                  <a:srgbClr val="C5BDB0"/>
                </a:solidFill>
                <a:latin typeface="Georgia" pitchFamily="34" charset="0"/>
                <a:ea typeface="Georgia" pitchFamily="34" charset="-122"/>
                <a:cs typeface="Georgia" pitchFamily="34" charset="-120"/>
              </a:rPr>
              <a:t>Streamlit</a:t>
            </a:r>
            <a:endParaRPr lang="en-US" sz="1300" dirty="0"/>
          </a:p>
        </p:txBody>
      </p:sp>
      <p:sp>
        <p:nvSpPr>
          <p:cNvPr id="9" name="Shape 6"/>
          <p:cNvSpPr/>
          <p:nvPr/>
        </p:nvSpPr>
        <p:spPr>
          <a:xfrm>
            <a:off x="420624" y="2615184"/>
            <a:ext cx="1225296" cy="0"/>
          </a:xfrm>
          <a:prstGeom prst="line">
            <a:avLst/>
          </a:prstGeom>
          <a:noFill/>
          <a:ln w="7620">
            <a:solidFill>
              <a:srgbClr val="1E1C14"/>
            </a:solidFill>
            <a:prstDash val="solid"/>
          </a:ln>
        </p:spPr>
      </p:sp>
      <p:sp>
        <p:nvSpPr>
          <p:cNvPr id="10" name="Text 7"/>
          <p:cNvSpPr/>
          <p:nvPr/>
        </p:nvSpPr>
        <p:spPr>
          <a:xfrm>
            <a:off x="365760" y="2706624"/>
            <a:ext cx="1335024" cy="1920240"/>
          </a:xfrm>
          <a:prstGeom prst="rect">
            <a:avLst/>
          </a:prstGeom>
          <a:noFill/>
          <a:ln/>
        </p:spPr>
        <p:txBody>
          <a:bodyPr wrap="square" lIns="0" tIns="0" rIns="0" bIns="0" rtlCol="0" anchor="ctr"/>
          <a:lstStyle/>
          <a:p>
            <a:pPr marL="0" indent="0" algn="ctr">
              <a:buNone/>
            </a:pPr>
            <a:r>
              <a:rPr lang="en-US" sz="950" dirty="0">
                <a:solidFill>
                  <a:srgbClr val="8A8470"/>
                </a:solidFill>
                <a:latin typeface="Calibri" pitchFamily="34" charset="0"/>
                <a:ea typeface="Calibri" pitchFamily="34" charset="-122"/>
                <a:cs typeface="Calibri" pitchFamily="34" charset="-120"/>
              </a:rPr>
              <a:t>Multi-page layout</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Custom CSS + JS</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Sidebar navigation</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Reactive state mgmt</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Session handling</a:t>
            </a:r>
            <a:endParaRPr lang="en-US" sz="950" dirty="0"/>
          </a:p>
        </p:txBody>
      </p:sp>
      <p:sp>
        <p:nvSpPr>
          <p:cNvPr id="11" name="Text 8"/>
          <p:cNvSpPr/>
          <p:nvPr/>
        </p:nvSpPr>
        <p:spPr>
          <a:xfrm>
            <a:off x="1810512" y="2615184"/>
            <a:ext cx="182880" cy="365760"/>
          </a:xfrm>
          <a:prstGeom prst="rect">
            <a:avLst/>
          </a:prstGeom>
          <a:noFill/>
          <a:ln/>
        </p:spPr>
        <p:txBody>
          <a:bodyPr wrap="square" lIns="0" tIns="0" rIns="0" bIns="0" rtlCol="0" anchor="ctr"/>
          <a:lstStyle/>
          <a:p>
            <a:pPr marL="0" indent="0" algn="ctr">
              <a:buNone/>
            </a:pPr>
            <a:r>
              <a:rPr lang="en-US" sz="1400" dirty="0">
                <a:solidFill>
                  <a:srgbClr val="8A8470"/>
                </a:solidFill>
              </a:rPr>
              <a:t>→</a:t>
            </a:r>
            <a:endParaRPr lang="en-US" sz="1400" dirty="0"/>
          </a:p>
        </p:txBody>
      </p:sp>
      <p:sp>
        <p:nvSpPr>
          <p:cNvPr id="12" name="Shape 9"/>
          <p:cNvSpPr/>
          <p:nvPr/>
        </p:nvSpPr>
        <p:spPr>
          <a:xfrm>
            <a:off x="1993392" y="1078992"/>
            <a:ext cx="1554480" cy="3657600"/>
          </a:xfrm>
          <a:prstGeom prst="rect">
            <a:avLst/>
          </a:prstGeom>
          <a:solidFill>
            <a:srgbClr val="141208"/>
          </a:solidFill>
          <a:ln w="7620">
            <a:solidFill>
              <a:srgbClr val="2A2720"/>
            </a:solidFill>
            <a:prstDash val="solid"/>
          </a:ln>
          <a:effectLst>
            <a:outerShdw blurRad="127000" dist="50800" dir="8100000" algn="bl" rotWithShape="0">
              <a:srgbClr val="000000">
                <a:alpha val="22000"/>
              </a:srgbClr>
            </a:outerShdw>
          </a:effectLst>
        </p:spPr>
      </p:sp>
      <p:pic>
        <p:nvPicPr>
          <p:cNvPr id="13" name="Image 1" descr="preencoded.png"/>
          <p:cNvPicPr>
            <a:picLocks noChangeAspect="1"/>
          </p:cNvPicPr>
          <p:nvPr/>
        </p:nvPicPr>
        <p:blipFill>
          <a:blip r:embed="rId4"/>
          <a:stretch>
            <a:fillRect/>
          </a:stretch>
        </p:blipFill>
        <p:spPr>
          <a:xfrm>
            <a:off x="2542032" y="1261872"/>
            <a:ext cx="457200" cy="457200"/>
          </a:xfrm>
          <a:prstGeom prst="rect">
            <a:avLst/>
          </a:prstGeom>
        </p:spPr>
      </p:pic>
      <p:sp>
        <p:nvSpPr>
          <p:cNvPr id="14" name="Text 10"/>
          <p:cNvSpPr/>
          <p:nvPr/>
        </p:nvSpPr>
        <p:spPr>
          <a:xfrm>
            <a:off x="1993392" y="1847088"/>
            <a:ext cx="1554480" cy="310896"/>
          </a:xfrm>
          <a:prstGeom prst="rect">
            <a:avLst/>
          </a:prstGeom>
          <a:noFill/>
          <a:ln/>
        </p:spPr>
        <p:txBody>
          <a:bodyPr wrap="square" lIns="0" tIns="0" rIns="0" bIns="0" rtlCol="0" anchor="ctr"/>
          <a:lstStyle/>
          <a:p>
            <a:pPr marL="0" indent="0" algn="ctr">
              <a:buNone/>
            </a:pPr>
            <a:r>
              <a:rPr lang="en-US" sz="750" b="1" kern="0" spc="80" dirty="0">
                <a:solidFill>
                  <a:srgbClr val="8A8470"/>
                </a:solidFill>
                <a:latin typeface="Calibri" pitchFamily="34" charset="0"/>
                <a:ea typeface="Calibri" pitchFamily="34" charset="-122"/>
                <a:cs typeface="Calibri" pitchFamily="34" charset="-120"/>
              </a:rPr>
              <a:t>APPLICATION LAYER</a:t>
            </a:r>
            <a:endParaRPr lang="en-US" sz="750" dirty="0"/>
          </a:p>
        </p:txBody>
      </p:sp>
      <p:sp>
        <p:nvSpPr>
          <p:cNvPr id="15" name="Text 11"/>
          <p:cNvSpPr/>
          <p:nvPr/>
        </p:nvSpPr>
        <p:spPr>
          <a:xfrm>
            <a:off x="1993392" y="2176272"/>
            <a:ext cx="1554480" cy="384048"/>
          </a:xfrm>
          <a:prstGeom prst="rect">
            <a:avLst/>
          </a:prstGeom>
          <a:noFill/>
          <a:ln/>
        </p:spPr>
        <p:txBody>
          <a:bodyPr wrap="square" lIns="0" tIns="0" rIns="0" bIns="0" rtlCol="0" anchor="ctr"/>
          <a:lstStyle/>
          <a:p>
            <a:pPr marL="0" indent="0" algn="ctr">
              <a:buNone/>
            </a:pPr>
            <a:r>
              <a:rPr lang="en-US" sz="1300" b="1" dirty="0">
                <a:solidFill>
                  <a:srgbClr val="C5BDB0"/>
                </a:solidFill>
                <a:latin typeface="Georgia" pitchFamily="34" charset="0"/>
                <a:ea typeface="Georgia" pitchFamily="34" charset="-122"/>
                <a:cs typeface="Georgia" pitchFamily="34" charset="-120"/>
              </a:rPr>
              <a:t>Python 3.10+</a:t>
            </a:r>
            <a:endParaRPr lang="en-US" sz="1300" dirty="0"/>
          </a:p>
        </p:txBody>
      </p:sp>
      <p:sp>
        <p:nvSpPr>
          <p:cNvPr id="16" name="Shape 12"/>
          <p:cNvSpPr/>
          <p:nvPr/>
        </p:nvSpPr>
        <p:spPr>
          <a:xfrm>
            <a:off x="2157984" y="2615184"/>
            <a:ext cx="1225296" cy="0"/>
          </a:xfrm>
          <a:prstGeom prst="line">
            <a:avLst/>
          </a:prstGeom>
          <a:noFill/>
          <a:ln w="7620">
            <a:solidFill>
              <a:srgbClr val="1E1C14"/>
            </a:solidFill>
            <a:prstDash val="solid"/>
          </a:ln>
        </p:spPr>
      </p:sp>
      <p:sp>
        <p:nvSpPr>
          <p:cNvPr id="17" name="Text 13"/>
          <p:cNvSpPr/>
          <p:nvPr/>
        </p:nvSpPr>
        <p:spPr>
          <a:xfrm>
            <a:off x="2103120" y="2706624"/>
            <a:ext cx="1335024" cy="1920240"/>
          </a:xfrm>
          <a:prstGeom prst="rect">
            <a:avLst/>
          </a:prstGeom>
          <a:noFill/>
          <a:ln/>
        </p:spPr>
        <p:txBody>
          <a:bodyPr wrap="square" lIns="0" tIns="0" rIns="0" bIns="0" rtlCol="0" anchor="ctr"/>
          <a:lstStyle/>
          <a:p>
            <a:pPr marL="0" indent="0" algn="ctr">
              <a:buNone/>
            </a:pPr>
            <a:r>
              <a:rPr lang="en-US" sz="950" dirty="0">
                <a:solidFill>
                  <a:srgbClr val="8A8470"/>
                </a:solidFill>
                <a:latin typeface="Calibri" pitchFamily="34" charset="0"/>
                <a:ea typeface="Calibri" pitchFamily="34" charset="-122"/>
                <a:cs typeface="Calibri" pitchFamily="34" charset="-120"/>
              </a:rPr>
              <a:t>app.py entry point</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Session state engine</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SHA-256 auth system</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History I/O (JSON)</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Story defaults mgmt</a:t>
            </a:r>
            <a:endParaRPr lang="en-US" sz="950" dirty="0"/>
          </a:p>
        </p:txBody>
      </p:sp>
      <p:sp>
        <p:nvSpPr>
          <p:cNvPr id="18" name="Text 14"/>
          <p:cNvSpPr/>
          <p:nvPr/>
        </p:nvSpPr>
        <p:spPr>
          <a:xfrm>
            <a:off x="3547872" y="2615184"/>
            <a:ext cx="182880" cy="365760"/>
          </a:xfrm>
          <a:prstGeom prst="rect">
            <a:avLst/>
          </a:prstGeom>
          <a:noFill/>
          <a:ln/>
        </p:spPr>
        <p:txBody>
          <a:bodyPr wrap="square" lIns="0" tIns="0" rIns="0" bIns="0" rtlCol="0" anchor="ctr"/>
          <a:lstStyle/>
          <a:p>
            <a:pPr marL="0" indent="0" algn="ctr">
              <a:buNone/>
            </a:pPr>
            <a:r>
              <a:rPr lang="en-US" sz="1400" dirty="0">
                <a:solidFill>
                  <a:srgbClr val="8A8470"/>
                </a:solidFill>
              </a:rPr>
              <a:t>→</a:t>
            </a:r>
            <a:endParaRPr lang="en-US" sz="1400" dirty="0"/>
          </a:p>
        </p:txBody>
      </p:sp>
      <p:sp>
        <p:nvSpPr>
          <p:cNvPr id="19" name="Shape 15"/>
          <p:cNvSpPr/>
          <p:nvPr/>
        </p:nvSpPr>
        <p:spPr>
          <a:xfrm>
            <a:off x="3730752" y="1078992"/>
            <a:ext cx="1554480" cy="3657600"/>
          </a:xfrm>
          <a:prstGeom prst="rect">
            <a:avLst/>
          </a:prstGeom>
          <a:solidFill>
            <a:srgbClr val="1A1810"/>
          </a:solidFill>
          <a:ln w="15240">
            <a:solidFill>
              <a:srgbClr val="B8860B"/>
            </a:solidFill>
            <a:prstDash val="solid"/>
          </a:ln>
          <a:effectLst>
            <a:outerShdw blurRad="127000" dist="50800" dir="8100000" algn="bl" rotWithShape="0">
              <a:srgbClr val="000000">
                <a:alpha val="22000"/>
              </a:srgbClr>
            </a:outerShdw>
          </a:effectLst>
        </p:spPr>
      </p:sp>
      <p:sp>
        <p:nvSpPr>
          <p:cNvPr id="20" name="Shape 16"/>
          <p:cNvSpPr/>
          <p:nvPr/>
        </p:nvSpPr>
        <p:spPr>
          <a:xfrm>
            <a:off x="3730752" y="1078992"/>
            <a:ext cx="1554480" cy="73152"/>
          </a:xfrm>
          <a:prstGeom prst="rect">
            <a:avLst/>
          </a:prstGeom>
          <a:solidFill>
            <a:srgbClr val="B8860B"/>
          </a:solidFill>
          <a:ln w="12700">
            <a:solidFill>
              <a:srgbClr val="333333"/>
            </a:solidFill>
            <a:prstDash val="solid"/>
          </a:ln>
        </p:spPr>
      </p:sp>
      <p:pic>
        <p:nvPicPr>
          <p:cNvPr id="21" name="Image 2" descr="preencoded.png"/>
          <p:cNvPicPr>
            <a:picLocks noChangeAspect="1"/>
          </p:cNvPicPr>
          <p:nvPr/>
        </p:nvPicPr>
        <p:blipFill>
          <a:blip r:embed="rId5"/>
          <a:stretch>
            <a:fillRect/>
          </a:stretch>
        </p:blipFill>
        <p:spPr>
          <a:xfrm>
            <a:off x="4279392" y="1261872"/>
            <a:ext cx="457200" cy="457200"/>
          </a:xfrm>
          <a:prstGeom prst="rect">
            <a:avLst/>
          </a:prstGeom>
        </p:spPr>
      </p:pic>
      <p:sp>
        <p:nvSpPr>
          <p:cNvPr id="22" name="Text 17"/>
          <p:cNvSpPr/>
          <p:nvPr/>
        </p:nvSpPr>
        <p:spPr>
          <a:xfrm>
            <a:off x="3730752" y="1847088"/>
            <a:ext cx="1554480" cy="310896"/>
          </a:xfrm>
          <a:prstGeom prst="rect">
            <a:avLst/>
          </a:prstGeom>
          <a:noFill/>
          <a:ln/>
        </p:spPr>
        <p:txBody>
          <a:bodyPr wrap="square" lIns="0" tIns="0" rIns="0" bIns="0" rtlCol="0" anchor="ctr"/>
          <a:lstStyle/>
          <a:p>
            <a:pPr marL="0" indent="0" algn="ctr">
              <a:buNone/>
            </a:pPr>
            <a:r>
              <a:rPr lang="en-US" sz="750" b="1" kern="0" spc="80" dirty="0">
                <a:solidFill>
                  <a:srgbClr val="B8860B"/>
                </a:solidFill>
                <a:latin typeface="Calibri" pitchFamily="34" charset="0"/>
                <a:ea typeface="Calibri" pitchFamily="34" charset="-122"/>
                <a:cs typeface="Calibri" pitchFamily="34" charset="-120"/>
              </a:rPr>
              <a:t>AI ENGINE</a:t>
            </a:r>
            <a:endParaRPr lang="en-US" sz="750" dirty="0"/>
          </a:p>
        </p:txBody>
      </p:sp>
      <p:sp>
        <p:nvSpPr>
          <p:cNvPr id="23" name="Text 18"/>
          <p:cNvSpPr/>
          <p:nvPr/>
        </p:nvSpPr>
        <p:spPr>
          <a:xfrm>
            <a:off x="3730752" y="2176272"/>
            <a:ext cx="15544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story_engine.py</a:t>
            </a:r>
            <a:endParaRPr lang="en-US" sz="1300" dirty="0"/>
          </a:p>
        </p:txBody>
      </p:sp>
      <p:sp>
        <p:nvSpPr>
          <p:cNvPr id="24" name="Shape 19"/>
          <p:cNvSpPr/>
          <p:nvPr/>
        </p:nvSpPr>
        <p:spPr>
          <a:xfrm>
            <a:off x="3895344" y="2615184"/>
            <a:ext cx="1225296" cy="0"/>
          </a:xfrm>
          <a:prstGeom prst="line">
            <a:avLst/>
          </a:prstGeom>
          <a:noFill/>
          <a:ln w="7620">
            <a:solidFill>
              <a:srgbClr val="2E2B1E"/>
            </a:solidFill>
            <a:prstDash val="solid"/>
          </a:ln>
        </p:spPr>
      </p:sp>
      <p:sp>
        <p:nvSpPr>
          <p:cNvPr id="25" name="Text 20"/>
          <p:cNvSpPr/>
          <p:nvPr/>
        </p:nvSpPr>
        <p:spPr>
          <a:xfrm>
            <a:off x="3840480" y="2706624"/>
            <a:ext cx="1335024" cy="1920240"/>
          </a:xfrm>
          <a:prstGeom prst="rect">
            <a:avLst/>
          </a:prstGeom>
          <a:noFill/>
          <a:ln/>
        </p:spPr>
        <p:txBody>
          <a:bodyPr wrap="square" lIns="0" tIns="0" rIns="0" bIns="0" rtlCol="0" anchor="ctr"/>
          <a:lstStyle/>
          <a:p>
            <a:pPr marL="0" indent="0" algn="ctr">
              <a:buNone/>
            </a:pPr>
            <a:r>
              <a:rPr lang="en-US" sz="950" dirty="0">
                <a:solidFill>
                  <a:srgbClr val="C5BDB0"/>
                </a:solidFill>
                <a:latin typeface="Calibri" pitchFamily="34" charset="0"/>
                <a:ea typeface="Calibri" pitchFamily="34" charset="-122"/>
                <a:cs typeface="Calibri" pitchFamily="34" charset="-120"/>
              </a:rPr>
              <a:t>Prompt builder core</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Guardrail classifier</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Genre/tone/mood maps</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Meta-extraction calls</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10 action directives</a:t>
            </a:r>
            <a:endParaRPr lang="en-US" sz="950" dirty="0"/>
          </a:p>
        </p:txBody>
      </p:sp>
      <p:sp>
        <p:nvSpPr>
          <p:cNvPr id="26" name="Text 21"/>
          <p:cNvSpPr/>
          <p:nvPr/>
        </p:nvSpPr>
        <p:spPr>
          <a:xfrm>
            <a:off x="5285232" y="2615184"/>
            <a:ext cx="182880" cy="365760"/>
          </a:xfrm>
          <a:prstGeom prst="rect">
            <a:avLst/>
          </a:prstGeom>
          <a:noFill/>
          <a:ln/>
        </p:spPr>
        <p:txBody>
          <a:bodyPr wrap="square" lIns="0" tIns="0" rIns="0" bIns="0" rtlCol="0" anchor="ctr"/>
          <a:lstStyle/>
          <a:p>
            <a:pPr marL="0" indent="0" algn="ctr">
              <a:buNone/>
            </a:pPr>
            <a:r>
              <a:rPr lang="en-US" sz="1400" dirty="0">
                <a:solidFill>
                  <a:srgbClr val="B8860B"/>
                </a:solidFill>
              </a:rPr>
              <a:t>→</a:t>
            </a:r>
            <a:endParaRPr lang="en-US" sz="1400" dirty="0"/>
          </a:p>
        </p:txBody>
      </p:sp>
      <p:sp>
        <p:nvSpPr>
          <p:cNvPr id="27" name="Shape 22"/>
          <p:cNvSpPr/>
          <p:nvPr/>
        </p:nvSpPr>
        <p:spPr>
          <a:xfrm>
            <a:off x="5468112" y="1078992"/>
            <a:ext cx="1554480" cy="3657600"/>
          </a:xfrm>
          <a:prstGeom prst="rect">
            <a:avLst/>
          </a:prstGeom>
          <a:solidFill>
            <a:srgbClr val="1A1810"/>
          </a:solidFill>
          <a:ln w="15240">
            <a:solidFill>
              <a:srgbClr val="B8860B"/>
            </a:solidFill>
            <a:prstDash val="solid"/>
          </a:ln>
          <a:effectLst>
            <a:outerShdw blurRad="127000" dist="50800" dir="8100000" algn="bl" rotWithShape="0">
              <a:srgbClr val="000000">
                <a:alpha val="22000"/>
              </a:srgbClr>
            </a:outerShdw>
          </a:effectLst>
        </p:spPr>
      </p:sp>
      <p:sp>
        <p:nvSpPr>
          <p:cNvPr id="28" name="Shape 23"/>
          <p:cNvSpPr/>
          <p:nvPr/>
        </p:nvSpPr>
        <p:spPr>
          <a:xfrm>
            <a:off x="5468112" y="1078992"/>
            <a:ext cx="1554480" cy="73152"/>
          </a:xfrm>
          <a:prstGeom prst="rect">
            <a:avLst/>
          </a:prstGeom>
          <a:solidFill>
            <a:srgbClr val="B8860B"/>
          </a:solidFill>
          <a:ln w="12700">
            <a:solidFill>
              <a:srgbClr val="333333"/>
            </a:solidFill>
            <a:prstDash val="solid"/>
          </a:ln>
        </p:spPr>
      </p:sp>
      <p:pic>
        <p:nvPicPr>
          <p:cNvPr id="29" name="Image 3" descr="preencoded.png"/>
          <p:cNvPicPr>
            <a:picLocks noChangeAspect="1"/>
          </p:cNvPicPr>
          <p:nvPr/>
        </p:nvPicPr>
        <p:blipFill>
          <a:blip r:embed="rId6"/>
          <a:stretch>
            <a:fillRect/>
          </a:stretch>
        </p:blipFill>
        <p:spPr>
          <a:xfrm>
            <a:off x="6016752" y="1261872"/>
            <a:ext cx="457200" cy="457200"/>
          </a:xfrm>
          <a:prstGeom prst="rect">
            <a:avLst/>
          </a:prstGeom>
        </p:spPr>
      </p:pic>
      <p:sp>
        <p:nvSpPr>
          <p:cNvPr id="30" name="Text 24"/>
          <p:cNvSpPr/>
          <p:nvPr/>
        </p:nvSpPr>
        <p:spPr>
          <a:xfrm>
            <a:off x="5468112" y="1847088"/>
            <a:ext cx="1554480" cy="310896"/>
          </a:xfrm>
          <a:prstGeom prst="rect">
            <a:avLst/>
          </a:prstGeom>
          <a:noFill/>
          <a:ln/>
        </p:spPr>
        <p:txBody>
          <a:bodyPr wrap="square" lIns="0" tIns="0" rIns="0" bIns="0" rtlCol="0" anchor="ctr"/>
          <a:lstStyle/>
          <a:p>
            <a:pPr marL="0" indent="0" algn="ctr">
              <a:buNone/>
            </a:pPr>
            <a:r>
              <a:rPr lang="en-US" sz="750" b="1" kern="0" spc="80" dirty="0">
                <a:solidFill>
                  <a:srgbClr val="B8860B"/>
                </a:solidFill>
                <a:latin typeface="Calibri" pitchFamily="34" charset="0"/>
                <a:ea typeface="Calibri" pitchFamily="34" charset="-122"/>
                <a:cs typeface="Calibri" pitchFamily="34" charset="-120"/>
              </a:rPr>
              <a:t>LLM RUNTIME</a:t>
            </a:r>
            <a:endParaRPr lang="en-US" sz="750" dirty="0"/>
          </a:p>
        </p:txBody>
      </p:sp>
      <p:sp>
        <p:nvSpPr>
          <p:cNvPr id="31" name="Text 25"/>
          <p:cNvSpPr/>
          <p:nvPr/>
        </p:nvSpPr>
        <p:spPr>
          <a:xfrm>
            <a:off x="5468112" y="2176272"/>
            <a:ext cx="15544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Ollama + llama3</a:t>
            </a:r>
            <a:endParaRPr lang="en-US" sz="1300" dirty="0"/>
          </a:p>
        </p:txBody>
      </p:sp>
      <p:sp>
        <p:nvSpPr>
          <p:cNvPr id="32" name="Shape 26"/>
          <p:cNvSpPr/>
          <p:nvPr/>
        </p:nvSpPr>
        <p:spPr>
          <a:xfrm>
            <a:off x="5632704" y="2615184"/>
            <a:ext cx="1225296" cy="0"/>
          </a:xfrm>
          <a:prstGeom prst="line">
            <a:avLst/>
          </a:prstGeom>
          <a:noFill/>
          <a:ln w="7620">
            <a:solidFill>
              <a:srgbClr val="2E2B1E"/>
            </a:solidFill>
            <a:prstDash val="solid"/>
          </a:ln>
        </p:spPr>
      </p:sp>
      <p:sp>
        <p:nvSpPr>
          <p:cNvPr id="33" name="Text 27"/>
          <p:cNvSpPr/>
          <p:nvPr/>
        </p:nvSpPr>
        <p:spPr>
          <a:xfrm>
            <a:off x="5577840" y="2706624"/>
            <a:ext cx="1335024" cy="1920240"/>
          </a:xfrm>
          <a:prstGeom prst="rect">
            <a:avLst/>
          </a:prstGeom>
          <a:noFill/>
          <a:ln/>
        </p:spPr>
        <p:txBody>
          <a:bodyPr wrap="square" lIns="0" tIns="0" rIns="0" bIns="0" rtlCol="0" anchor="ctr"/>
          <a:lstStyle/>
          <a:p>
            <a:pPr marL="0" indent="0" algn="ctr">
              <a:buNone/>
            </a:pPr>
            <a:r>
              <a:rPr lang="en-US" sz="950" dirty="0">
                <a:solidFill>
                  <a:srgbClr val="C5BDB0"/>
                </a:solidFill>
                <a:latin typeface="Calibri" pitchFamily="34" charset="0"/>
                <a:ea typeface="Calibri" pitchFamily="34" charset="-122"/>
                <a:cs typeface="Calibri" pitchFamily="34" charset="-120"/>
              </a:rPr>
              <a:t>Local HTTP API</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NDJSON streaming</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llama3 / qwen2.5</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No internet needed</a:t>
            </a:r>
            <a:endParaRPr lang="en-US" sz="950" dirty="0"/>
          </a:p>
          <a:p>
            <a:pPr marL="0" indent="0" algn="ctr">
              <a:buNone/>
            </a:pPr>
            <a:r>
              <a:rPr lang="en-US" sz="950" dirty="0">
                <a:solidFill>
                  <a:srgbClr val="C5BDB0"/>
                </a:solidFill>
                <a:latin typeface="Calibri" pitchFamily="34" charset="0"/>
                <a:ea typeface="Calibri" pitchFamily="34" charset="-122"/>
                <a:cs typeface="Calibri" pitchFamily="34" charset="-120"/>
              </a:rPr>
              <a:t>Zero token cost</a:t>
            </a:r>
            <a:endParaRPr lang="en-US" sz="950" dirty="0"/>
          </a:p>
        </p:txBody>
      </p:sp>
      <p:sp>
        <p:nvSpPr>
          <p:cNvPr id="34" name="Text 28"/>
          <p:cNvSpPr/>
          <p:nvPr/>
        </p:nvSpPr>
        <p:spPr>
          <a:xfrm>
            <a:off x="7022592" y="2615184"/>
            <a:ext cx="182880" cy="365760"/>
          </a:xfrm>
          <a:prstGeom prst="rect">
            <a:avLst/>
          </a:prstGeom>
          <a:noFill/>
          <a:ln/>
        </p:spPr>
        <p:txBody>
          <a:bodyPr wrap="square" lIns="0" tIns="0" rIns="0" bIns="0" rtlCol="0" anchor="ctr"/>
          <a:lstStyle/>
          <a:p>
            <a:pPr marL="0" indent="0" algn="ctr">
              <a:buNone/>
            </a:pPr>
            <a:r>
              <a:rPr lang="en-US" sz="1400" dirty="0">
                <a:solidFill>
                  <a:srgbClr val="B8860B"/>
                </a:solidFill>
              </a:rPr>
              <a:t>→</a:t>
            </a:r>
            <a:endParaRPr lang="en-US" sz="1400" dirty="0"/>
          </a:p>
        </p:txBody>
      </p:sp>
      <p:sp>
        <p:nvSpPr>
          <p:cNvPr id="35" name="Shape 29"/>
          <p:cNvSpPr/>
          <p:nvPr/>
        </p:nvSpPr>
        <p:spPr>
          <a:xfrm>
            <a:off x="7205472" y="1078992"/>
            <a:ext cx="1554480" cy="3657600"/>
          </a:xfrm>
          <a:prstGeom prst="rect">
            <a:avLst/>
          </a:prstGeom>
          <a:solidFill>
            <a:srgbClr val="141208"/>
          </a:solidFill>
          <a:ln w="7620">
            <a:solidFill>
              <a:srgbClr val="2A2720"/>
            </a:solidFill>
            <a:prstDash val="solid"/>
          </a:ln>
          <a:effectLst>
            <a:outerShdw blurRad="127000" dist="50800" dir="8100000" algn="bl" rotWithShape="0">
              <a:srgbClr val="000000">
                <a:alpha val="22000"/>
              </a:srgbClr>
            </a:outerShdw>
          </a:effectLst>
        </p:spPr>
      </p:sp>
      <p:pic>
        <p:nvPicPr>
          <p:cNvPr id="36" name="Image 4" descr="preencoded.png"/>
          <p:cNvPicPr>
            <a:picLocks noChangeAspect="1"/>
          </p:cNvPicPr>
          <p:nvPr/>
        </p:nvPicPr>
        <p:blipFill>
          <a:blip r:embed="rId7"/>
          <a:stretch>
            <a:fillRect/>
          </a:stretch>
        </p:blipFill>
        <p:spPr>
          <a:xfrm>
            <a:off x="7754112" y="1261872"/>
            <a:ext cx="457200" cy="457200"/>
          </a:xfrm>
          <a:prstGeom prst="rect">
            <a:avLst/>
          </a:prstGeom>
        </p:spPr>
      </p:pic>
      <p:sp>
        <p:nvSpPr>
          <p:cNvPr id="37" name="Text 30"/>
          <p:cNvSpPr/>
          <p:nvPr/>
        </p:nvSpPr>
        <p:spPr>
          <a:xfrm>
            <a:off x="7205472" y="1847088"/>
            <a:ext cx="1554480" cy="310896"/>
          </a:xfrm>
          <a:prstGeom prst="rect">
            <a:avLst/>
          </a:prstGeom>
          <a:noFill/>
          <a:ln/>
        </p:spPr>
        <p:txBody>
          <a:bodyPr wrap="square" lIns="0" tIns="0" rIns="0" bIns="0" rtlCol="0" anchor="ctr"/>
          <a:lstStyle/>
          <a:p>
            <a:pPr marL="0" indent="0" algn="ctr">
              <a:buNone/>
            </a:pPr>
            <a:r>
              <a:rPr lang="en-US" sz="750" b="1" kern="0" spc="80" dirty="0">
                <a:solidFill>
                  <a:srgbClr val="8A8470"/>
                </a:solidFill>
                <a:latin typeface="Calibri" pitchFamily="34" charset="0"/>
                <a:ea typeface="Calibri" pitchFamily="34" charset="-122"/>
                <a:cs typeface="Calibri" pitchFamily="34" charset="-120"/>
              </a:rPr>
              <a:t>EXPORT ENGINE</a:t>
            </a:r>
            <a:endParaRPr lang="en-US" sz="750" dirty="0"/>
          </a:p>
        </p:txBody>
      </p:sp>
      <p:sp>
        <p:nvSpPr>
          <p:cNvPr id="38" name="Text 31"/>
          <p:cNvSpPr/>
          <p:nvPr/>
        </p:nvSpPr>
        <p:spPr>
          <a:xfrm>
            <a:off x="7205472" y="2176272"/>
            <a:ext cx="1554480" cy="384048"/>
          </a:xfrm>
          <a:prstGeom prst="rect">
            <a:avLst/>
          </a:prstGeom>
          <a:noFill/>
          <a:ln/>
        </p:spPr>
        <p:txBody>
          <a:bodyPr wrap="square" lIns="0" tIns="0" rIns="0" bIns="0" rtlCol="0" anchor="ctr"/>
          <a:lstStyle/>
          <a:p>
            <a:pPr marL="0" indent="0" algn="ctr">
              <a:buNone/>
            </a:pPr>
            <a:r>
              <a:rPr lang="en-US" sz="1300" b="1" dirty="0">
                <a:solidFill>
                  <a:srgbClr val="C5BDB0"/>
                </a:solidFill>
                <a:latin typeface="Georgia" pitchFamily="34" charset="0"/>
                <a:ea typeface="Georgia" pitchFamily="34" charset="-122"/>
                <a:cs typeface="Georgia" pitchFamily="34" charset="-120"/>
              </a:rPr>
              <a:t>ReportLab</a:t>
            </a:r>
            <a:endParaRPr lang="en-US" sz="1300" dirty="0"/>
          </a:p>
        </p:txBody>
      </p:sp>
      <p:sp>
        <p:nvSpPr>
          <p:cNvPr id="39" name="Shape 32"/>
          <p:cNvSpPr/>
          <p:nvPr/>
        </p:nvSpPr>
        <p:spPr>
          <a:xfrm>
            <a:off x="7370064" y="2615184"/>
            <a:ext cx="1225296" cy="0"/>
          </a:xfrm>
          <a:prstGeom prst="line">
            <a:avLst/>
          </a:prstGeom>
          <a:noFill/>
          <a:ln w="7620">
            <a:solidFill>
              <a:srgbClr val="1E1C14"/>
            </a:solidFill>
            <a:prstDash val="solid"/>
          </a:ln>
        </p:spPr>
      </p:sp>
      <p:sp>
        <p:nvSpPr>
          <p:cNvPr id="40" name="Text 33"/>
          <p:cNvSpPr/>
          <p:nvPr/>
        </p:nvSpPr>
        <p:spPr>
          <a:xfrm>
            <a:off x="7315200" y="2706624"/>
            <a:ext cx="1335024" cy="1920240"/>
          </a:xfrm>
          <a:prstGeom prst="rect">
            <a:avLst/>
          </a:prstGeom>
          <a:noFill/>
          <a:ln/>
        </p:spPr>
        <p:txBody>
          <a:bodyPr wrap="square" lIns="0" tIns="0" rIns="0" bIns="0" rtlCol="0" anchor="ctr"/>
          <a:lstStyle/>
          <a:p>
            <a:pPr marL="0" indent="0" algn="ctr">
              <a:buNone/>
            </a:pPr>
            <a:r>
              <a:rPr lang="en-US" sz="950" dirty="0">
                <a:solidFill>
                  <a:srgbClr val="8A8470"/>
                </a:solidFill>
                <a:latin typeface="Calibri" pitchFamily="34" charset="0"/>
                <a:ea typeface="Calibri" pitchFamily="34" charset="-122"/>
                <a:cs typeface="Calibri" pitchFamily="34" charset="-120"/>
              </a:rPr>
              <a:t>A5 PDF generator</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Drop caps &amp; headers</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Font auto-detection</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Page numbering</a:t>
            </a:r>
            <a:endParaRPr lang="en-US" sz="950" dirty="0"/>
          </a:p>
          <a:p>
            <a:pPr marL="0" indent="0" algn="ctr">
              <a:buNone/>
            </a:pPr>
            <a:r>
              <a:rPr lang="en-US" sz="950" dirty="0">
                <a:solidFill>
                  <a:srgbClr val="8A8470"/>
                </a:solidFill>
                <a:latin typeface="Calibri" pitchFamily="34" charset="0"/>
                <a:ea typeface="Calibri" pitchFamily="34" charset="-122"/>
                <a:cs typeface="Calibri" pitchFamily="34" charset="-120"/>
              </a:rPr>
              <a:t>Cover page builder</a:t>
            </a:r>
            <a:endParaRPr lang="en-US" sz="950" dirty="0"/>
          </a:p>
        </p:txBody>
      </p:sp>
      <p:sp>
        <p:nvSpPr>
          <p:cNvPr id="41" name="Shape 34"/>
          <p:cNvSpPr/>
          <p:nvPr/>
        </p:nvSpPr>
        <p:spPr>
          <a:xfrm>
            <a:off x="0" y="4818888"/>
            <a:ext cx="9144000" cy="324612"/>
          </a:xfrm>
          <a:prstGeom prst="rect">
            <a:avLst/>
          </a:prstGeom>
          <a:solidFill>
            <a:srgbClr val="0A0903"/>
          </a:solidFill>
          <a:ln w="12700">
            <a:solidFill>
              <a:srgbClr val="333333"/>
            </a:solidFill>
            <a:prstDash val="solid"/>
          </a:ln>
        </p:spPr>
      </p:sp>
      <p:sp>
        <p:nvSpPr>
          <p:cNvPr id="42" name="Shape 35"/>
          <p:cNvSpPr/>
          <p:nvPr/>
        </p:nvSpPr>
        <p:spPr>
          <a:xfrm>
            <a:off x="164592" y="4846320"/>
            <a:ext cx="1389888" cy="256032"/>
          </a:xfrm>
          <a:prstGeom prst="rect">
            <a:avLst/>
          </a:prstGeom>
          <a:solidFill>
            <a:srgbClr val="1A1810"/>
          </a:solidFill>
          <a:ln w="6350">
            <a:solidFill>
              <a:srgbClr val="B8860B"/>
            </a:solidFill>
            <a:prstDash val="solid"/>
          </a:ln>
        </p:spPr>
      </p:sp>
      <p:sp>
        <p:nvSpPr>
          <p:cNvPr id="43" name="Text 36"/>
          <p:cNvSpPr/>
          <p:nvPr/>
        </p:nvSpPr>
        <p:spPr>
          <a:xfrm>
            <a:off x="164592"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SHA-256 Auth</a:t>
            </a:r>
            <a:endParaRPr lang="en-US" sz="780" dirty="0"/>
          </a:p>
        </p:txBody>
      </p:sp>
      <p:sp>
        <p:nvSpPr>
          <p:cNvPr id="44" name="Shape 37"/>
          <p:cNvSpPr/>
          <p:nvPr/>
        </p:nvSpPr>
        <p:spPr>
          <a:xfrm>
            <a:off x="1645920" y="4846320"/>
            <a:ext cx="1389888" cy="256032"/>
          </a:xfrm>
          <a:prstGeom prst="rect">
            <a:avLst/>
          </a:prstGeom>
          <a:solidFill>
            <a:srgbClr val="1A1810"/>
          </a:solidFill>
          <a:ln w="6350">
            <a:solidFill>
              <a:srgbClr val="B8860B"/>
            </a:solidFill>
            <a:prstDash val="solid"/>
          </a:ln>
        </p:spPr>
      </p:sp>
      <p:sp>
        <p:nvSpPr>
          <p:cNvPr id="45" name="Text 38"/>
          <p:cNvSpPr/>
          <p:nvPr/>
        </p:nvSpPr>
        <p:spPr>
          <a:xfrm>
            <a:off x="1645920"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NDJSON Streaming</a:t>
            </a:r>
            <a:endParaRPr lang="en-US" sz="780" dirty="0"/>
          </a:p>
        </p:txBody>
      </p:sp>
      <p:sp>
        <p:nvSpPr>
          <p:cNvPr id="46" name="Shape 39"/>
          <p:cNvSpPr/>
          <p:nvPr/>
        </p:nvSpPr>
        <p:spPr>
          <a:xfrm>
            <a:off x="3127248" y="4846320"/>
            <a:ext cx="1389888" cy="256032"/>
          </a:xfrm>
          <a:prstGeom prst="rect">
            <a:avLst/>
          </a:prstGeom>
          <a:solidFill>
            <a:srgbClr val="1A1810"/>
          </a:solidFill>
          <a:ln w="6350">
            <a:solidFill>
              <a:srgbClr val="B8860B"/>
            </a:solidFill>
            <a:prstDash val="solid"/>
          </a:ln>
        </p:spPr>
      </p:sp>
      <p:sp>
        <p:nvSpPr>
          <p:cNvPr id="47" name="Text 40"/>
          <p:cNvSpPr/>
          <p:nvPr/>
        </p:nvSpPr>
        <p:spPr>
          <a:xfrm>
            <a:off x="3127248"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Per-User JSON Storage</a:t>
            </a:r>
            <a:endParaRPr lang="en-US" sz="780" dirty="0"/>
          </a:p>
        </p:txBody>
      </p:sp>
      <p:sp>
        <p:nvSpPr>
          <p:cNvPr id="48" name="Shape 41"/>
          <p:cNvSpPr/>
          <p:nvPr/>
        </p:nvSpPr>
        <p:spPr>
          <a:xfrm>
            <a:off x="4608576" y="4846320"/>
            <a:ext cx="1389888" cy="256032"/>
          </a:xfrm>
          <a:prstGeom prst="rect">
            <a:avLst/>
          </a:prstGeom>
          <a:solidFill>
            <a:srgbClr val="1A1810"/>
          </a:solidFill>
          <a:ln w="6350">
            <a:solidFill>
              <a:srgbClr val="B8860B"/>
            </a:solidFill>
            <a:prstDash val="solid"/>
          </a:ln>
        </p:spPr>
      </p:sp>
      <p:sp>
        <p:nvSpPr>
          <p:cNvPr id="49" name="Text 42"/>
          <p:cNvSpPr/>
          <p:nvPr/>
        </p:nvSpPr>
        <p:spPr>
          <a:xfrm>
            <a:off x="4608576"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ReportLab A5 PDF</a:t>
            </a:r>
            <a:endParaRPr lang="en-US" sz="780" dirty="0"/>
          </a:p>
        </p:txBody>
      </p:sp>
      <p:sp>
        <p:nvSpPr>
          <p:cNvPr id="50" name="Shape 43"/>
          <p:cNvSpPr/>
          <p:nvPr/>
        </p:nvSpPr>
        <p:spPr>
          <a:xfrm>
            <a:off x="6089904" y="4846320"/>
            <a:ext cx="1389888" cy="256032"/>
          </a:xfrm>
          <a:prstGeom prst="rect">
            <a:avLst/>
          </a:prstGeom>
          <a:solidFill>
            <a:srgbClr val="1A1810"/>
          </a:solidFill>
          <a:ln w="6350">
            <a:solidFill>
              <a:srgbClr val="B8860B"/>
            </a:solidFill>
            <a:prstDash val="solid"/>
          </a:ln>
        </p:spPr>
      </p:sp>
      <p:sp>
        <p:nvSpPr>
          <p:cNvPr id="51" name="Text 44"/>
          <p:cNvSpPr/>
          <p:nvPr/>
        </p:nvSpPr>
        <p:spPr>
          <a:xfrm>
            <a:off x="6089904"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Custom CSS Design System</a:t>
            </a:r>
            <a:endParaRPr lang="en-US" sz="780" dirty="0"/>
          </a:p>
        </p:txBody>
      </p:sp>
      <p:sp>
        <p:nvSpPr>
          <p:cNvPr id="52" name="Shape 45"/>
          <p:cNvSpPr/>
          <p:nvPr/>
        </p:nvSpPr>
        <p:spPr>
          <a:xfrm>
            <a:off x="7571232" y="4846320"/>
            <a:ext cx="1389888" cy="256032"/>
          </a:xfrm>
          <a:prstGeom prst="rect">
            <a:avLst/>
          </a:prstGeom>
          <a:solidFill>
            <a:srgbClr val="1A1810"/>
          </a:solidFill>
          <a:ln w="6350">
            <a:solidFill>
              <a:srgbClr val="B8860B"/>
            </a:solidFill>
            <a:prstDash val="solid"/>
          </a:ln>
        </p:spPr>
      </p:sp>
      <p:sp>
        <p:nvSpPr>
          <p:cNvPr id="53" name="Text 46"/>
          <p:cNvSpPr/>
          <p:nvPr/>
        </p:nvSpPr>
        <p:spPr>
          <a:xfrm>
            <a:off x="7571232" y="4846320"/>
            <a:ext cx="1389888" cy="256032"/>
          </a:xfrm>
          <a:prstGeom prst="rect">
            <a:avLst/>
          </a:prstGeom>
          <a:noFill/>
          <a:ln/>
        </p:spPr>
        <p:txBody>
          <a:bodyPr wrap="square" lIns="0" tIns="0" rIns="0" bIns="0" rtlCol="0" anchor="ctr"/>
          <a:lstStyle/>
          <a:p>
            <a:pPr marL="0" indent="0" algn="ctr">
              <a:buNone/>
            </a:pPr>
            <a:r>
              <a:rPr lang="en-US" sz="780" dirty="0">
                <a:solidFill>
                  <a:srgbClr val="D4A017"/>
                </a:solidFill>
                <a:latin typeface="Calibri" pitchFamily="34" charset="0"/>
                <a:ea typeface="Calibri" pitchFamily="34" charset="-122"/>
                <a:cs typeface="Calibri" pitchFamily="34" charset="-120"/>
              </a:rPr>
              <a:t>react-icons + Sharp</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E0C07"/>
          </a:solidFill>
          <a:ln/>
        </p:spPr>
      </p:sp>
      <p:sp>
        <p:nvSpPr>
          <p:cNvPr id="3" name="Shape 1"/>
          <p:cNvSpPr/>
          <p:nvPr/>
        </p:nvSpPr>
        <p:spPr>
          <a:xfrm>
            <a:off x="0" y="987552"/>
            <a:ext cx="9144000" cy="64008"/>
          </a:xfrm>
          <a:prstGeom prst="rect">
            <a:avLst/>
          </a:prstGeom>
          <a:solidFill>
            <a:srgbClr val="B8860B"/>
          </a:solidFill>
          <a:ln/>
        </p:spPr>
      </p:sp>
      <p:sp>
        <p:nvSpPr>
          <p:cNvPr id="4" name="Text 2"/>
          <p:cNvSpPr/>
          <p:nvPr/>
        </p:nvSpPr>
        <p:spPr>
          <a:xfrm>
            <a:off x="457200" y="36576"/>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07  /  WHY LOCAL AI?</a:t>
            </a:r>
            <a:endParaRPr lang="en-US" sz="1000" dirty="0"/>
          </a:p>
        </p:txBody>
      </p:sp>
      <p:sp>
        <p:nvSpPr>
          <p:cNvPr id="5" name="Text 3"/>
          <p:cNvSpPr/>
          <p:nvPr/>
        </p:nvSpPr>
        <p:spPr>
          <a:xfrm>
            <a:off x="457200" y="384048"/>
            <a:ext cx="8412480" cy="475488"/>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Your story. Your machine. Your rules.</a:t>
            </a:r>
            <a:endParaRPr lang="en-US" sz="2000" dirty="0"/>
          </a:p>
        </p:txBody>
      </p:sp>
      <p:sp>
        <p:nvSpPr>
          <p:cNvPr id="6" name="Shape 4"/>
          <p:cNvSpPr/>
          <p:nvPr/>
        </p:nvSpPr>
        <p:spPr>
          <a:xfrm>
            <a:off x="256032" y="1188720"/>
            <a:ext cx="2715768" cy="2084832"/>
          </a:xfrm>
          <a:prstGeom prst="rect">
            <a:avLst/>
          </a:prstGeom>
          <a:solidFill>
            <a:srgbClr val="0E0C07"/>
          </a:solidFill>
          <a:ln w="12700">
            <a:solidFill>
              <a:srgbClr val="B8860B"/>
            </a:solidFill>
            <a:prstDash val="solid"/>
          </a:ln>
          <a:effectLst>
            <a:outerShdw blurRad="127000" dist="50800" dir="8100000" algn="bl" rotWithShape="0">
              <a:srgbClr val="000000">
                <a:alpha val="22000"/>
              </a:srgbClr>
            </a:outerShdw>
          </a:effectLst>
        </p:spPr>
      </p:sp>
      <p:sp>
        <p:nvSpPr>
          <p:cNvPr id="7" name="Text 5"/>
          <p:cNvSpPr/>
          <p:nvPr/>
        </p:nvSpPr>
        <p:spPr>
          <a:xfrm>
            <a:off x="256032" y="1261872"/>
            <a:ext cx="2715768" cy="896112"/>
          </a:xfrm>
          <a:prstGeom prst="rect">
            <a:avLst/>
          </a:prstGeom>
          <a:noFill/>
          <a:ln/>
        </p:spPr>
        <p:txBody>
          <a:bodyPr wrap="square" lIns="0" tIns="0" rIns="0" bIns="0" rtlCol="0" anchor="ctr"/>
          <a:lstStyle/>
          <a:p>
            <a:pPr marL="0" indent="0" algn="ctr">
              <a:buNone/>
            </a:pPr>
            <a:r>
              <a:rPr lang="en-US" sz="5400" b="1" dirty="0">
                <a:solidFill>
                  <a:srgbClr val="F0C040"/>
                </a:solidFill>
                <a:latin typeface="Georgia" pitchFamily="34" charset="0"/>
                <a:ea typeface="Georgia" pitchFamily="34" charset="-122"/>
                <a:cs typeface="Georgia" pitchFamily="34" charset="-120"/>
              </a:rPr>
              <a:t>₹0</a:t>
            </a:r>
            <a:endParaRPr lang="en-US" sz="5400" dirty="0"/>
          </a:p>
        </p:txBody>
      </p:sp>
      <p:sp>
        <p:nvSpPr>
          <p:cNvPr id="8" name="Text 6"/>
          <p:cNvSpPr/>
          <p:nvPr/>
        </p:nvSpPr>
        <p:spPr>
          <a:xfrm>
            <a:off x="256032" y="2139696"/>
            <a:ext cx="2715768" cy="27432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Total Running Cost</a:t>
            </a:r>
            <a:endParaRPr lang="en-US" sz="1100" dirty="0"/>
          </a:p>
        </p:txBody>
      </p:sp>
      <p:sp>
        <p:nvSpPr>
          <p:cNvPr id="9" name="Shape 7"/>
          <p:cNvSpPr/>
          <p:nvPr/>
        </p:nvSpPr>
        <p:spPr>
          <a:xfrm>
            <a:off x="530352" y="2450592"/>
            <a:ext cx="2167128" cy="0"/>
          </a:xfrm>
          <a:prstGeom prst="line">
            <a:avLst/>
          </a:prstGeom>
          <a:noFill/>
          <a:ln w="7620">
            <a:solidFill>
              <a:srgbClr val="2A2720"/>
            </a:solidFill>
            <a:prstDash val="solid"/>
          </a:ln>
        </p:spPr>
      </p:sp>
      <p:sp>
        <p:nvSpPr>
          <p:cNvPr id="10" name="Text 8"/>
          <p:cNvSpPr/>
          <p:nvPr/>
        </p:nvSpPr>
        <p:spPr>
          <a:xfrm>
            <a:off x="420624" y="2505456"/>
            <a:ext cx="2395728" cy="694944"/>
          </a:xfrm>
          <a:prstGeom prst="rect">
            <a:avLst/>
          </a:prstGeom>
          <a:noFill/>
          <a:ln/>
        </p:spPr>
        <p:txBody>
          <a:bodyPr wrap="square" lIns="0" tIns="0" rIns="0" bIns="0" rtlCol="0" anchor="ctr"/>
          <a:lstStyle/>
          <a:p>
            <a:pPr marL="0" indent="0" algn="ctr">
              <a:buNone/>
            </a:pPr>
            <a:r>
              <a:rPr lang="en-US" sz="950" i="1" dirty="0">
                <a:solidFill>
                  <a:srgbClr val="C5BDB0"/>
                </a:solidFill>
                <a:latin typeface="Calibri" pitchFamily="34" charset="0"/>
                <a:ea typeface="Calibri" pitchFamily="34" charset="-122"/>
                <a:cs typeface="Calibri" pitchFamily="34" charset="-120"/>
              </a:rPr>
              <a:t>Once Ollama and llama3 are installed, Narrative Flow costs nothing to operate — no tokens, no plans, no API billing, ever.</a:t>
            </a:r>
            <a:endParaRPr lang="en-US" sz="950" dirty="0"/>
          </a:p>
        </p:txBody>
      </p:sp>
      <p:sp>
        <p:nvSpPr>
          <p:cNvPr id="11" name="Shape 9"/>
          <p:cNvSpPr/>
          <p:nvPr/>
        </p:nvSpPr>
        <p:spPr>
          <a:xfrm>
            <a:off x="3154680" y="1188720"/>
            <a:ext cx="2715768" cy="2084832"/>
          </a:xfrm>
          <a:prstGeom prst="rect">
            <a:avLst/>
          </a:prstGeom>
          <a:solidFill>
            <a:srgbClr val="0E0C07"/>
          </a:solidFill>
          <a:ln w="12700">
            <a:solidFill>
              <a:srgbClr val="B8860B"/>
            </a:solidFill>
            <a:prstDash val="solid"/>
          </a:ln>
          <a:effectLst>
            <a:outerShdw blurRad="127000" dist="50800" dir="8100000" algn="bl" rotWithShape="0">
              <a:srgbClr val="000000">
                <a:alpha val="22000"/>
              </a:srgbClr>
            </a:outerShdw>
          </a:effectLst>
        </p:spPr>
      </p:sp>
      <p:sp>
        <p:nvSpPr>
          <p:cNvPr id="12" name="Text 10"/>
          <p:cNvSpPr/>
          <p:nvPr/>
        </p:nvSpPr>
        <p:spPr>
          <a:xfrm>
            <a:off x="3154680" y="1261872"/>
            <a:ext cx="2715768" cy="896112"/>
          </a:xfrm>
          <a:prstGeom prst="rect">
            <a:avLst/>
          </a:prstGeom>
          <a:noFill/>
          <a:ln/>
        </p:spPr>
        <p:txBody>
          <a:bodyPr wrap="square" lIns="0" tIns="0" rIns="0" bIns="0" rtlCol="0" anchor="ctr"/>
          <a:lstStyle/>
          <a:p>
            <a:pPr marL="0" indent="0" algn="ctr">
              <a:buNone/>
            </a:pPr>
            <a:r>
              <a:rPr lang="en-US" sz="5400" b="1" dirty="0">
                <a:solidFill>
                  <a:srgbClr val="F0C040"/>
                </a:solidFill>
                <a:latin typeface="Georgia" pitchFamily="34" charset="0"/>
                <a:ea typeface="Georgia" pitchFamily="34" charset="-122"/>
                <a:cs typeface="Georgia" pitchFamily="34" charset="-120"/>
              </a:rPr>
              <a:t>0ms</a:t>
            </a:r>
            <a:endParaRPr lang="en-US" sz="5400" dirty="0"/>
          </a:p>
        </p:txBody>
      </p:sp>
      <p:sp>
        <p:nvSpPr>
          <p:cNvPr id="13" name="Text 11"/>
          <p:cNvSpPr/>
          <p:nvPr/>
        </p:nvSpPr>
        <p:spPr>
          <a:xfrm>
            <a:off x="3154680" y="2139696"/>
            <a:ext cx="2715768" cy="27432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Network Latency</a:t>
            </a:r>
            <a:endParaRPr lang="en-US" sz="1100" dirty="0"/>
          </a:p>
        </p:txBody>
      </p:sp>
      <p:sp>
        <p:nvSpPr>
          <p:cNvPr id="14" name="Shape 12"/>
          <p:cNvSpPr/>
          <p:nvPr/>
        </p:nvSpPr>
        <p:spPr>
          <a:xfrm>
            <a:off x="3429000" y="2450592"/>
            <a:ext cx="2167128" cy="0"/>
          </a:xfrm>
          <a:prstGeom prst="line">
            <a:avLst/>
          </a:prstGeom>
          <a:noFill/>
          <a:ln w="7620">
            <a:solidFill>
              <a:srgbClr val="2A2720"/>
            </a:solidFill>
            <a:prstDash val="solid"/>
          </a:ln>
        </p:spPr>
      </p:sp>
      <p:sp>
        <p:nvSpPr>
          <p:cNvPr id="15" name="Text 13"/>
          <p:cNvSpPr/>
          <p:nvPr/>
        </p:nvSpPr>
        <p:spPr>
          <a:xfrm>
            <a:off x="3319272" y="2505456"/>
            <a:ext cx="2395728" cy="694944"/>
          </a:xfrm>
          <a:prstGeom prst="rect">
            <a:avLst/>
          </a:prstGeom>
          <a:noFill/>
          <a:ln/>
        </p:spPr>
        <p:txBody>
          <a:bodyPr wrap="square" lIns="0" tIns="0" rIns="0" bIns="0" rtlCol="0" anchor="ctr"/>
          <a:lstStyle/>
          <a:p>
            <a:pPr marL="0" indent="0" algn="ctr">
              <a:buNone/>
            </a:pPr>
            <a:r>
              <a:rPr lang="en-US" sz="950" i="1" dirty="0">
                <a:solidFill>
                  <a:srgbClr val="C5BDB0"/>
                </a:solidFill>
                <a:latin typeface="Calibri" pitchFamily="34" charset="0"/>
                <a:ea typeface="Calibri" pitchFamily="34" charset="-122"/>
                <a:cs typeface="Calibri" pitchFamily="34" charset="-120"/>
              </a:rPr>
              <a:t>All inference is processed via local HTTP. No round-trip to external servers. Response time depends only on your own hardware.</a:t>
            </a:r>
            <a:endParaRPr lang="en-US" sz="950" dirty="0"/>
          </a:p>
        </p:txBody>
      </p:sp>
      <p:sp>
        <p:nvSpPr>
          <p:cNvPr id="16" name="Shape 14"/>
          <p:cNvSpPr/>
          <p:nvPr/>
        </p:nvSpPr>
        <p:spPr>
          <a:xfrm>
            <a:off x="6053328" y="1188720"/>
            <a:ext cx="2715768" cy="2084832"/>
          </a:xfrm>
          <a:prstGeom prst="rect">
            <a:avLst/>
          </a:prstGeom>
          <a:solidFill>
            <a:srgbClr val="0E0C07"/>
          </a:solidFill>
          <a:ln w="12700">
            <a:solidFill>
              <a:srgbClr val="B8860B"/>
            </a:solidFill>
            <a:prstDash val="solid"/>
          </a:ln>
          <a:effectLst>
            <a:outerShdw blurRad="127000" dist="50800" dir="8100000" algn="bl" rotWithShape="0">
              <a:srgbClr val="000000">
                <a:alpha val="22000"/>
              </a:srgbClr>
            </a:outerShdw>
          </a:effectLst>
        </p:spPr>
      </p:sp>
      <p:sp>
        <p:nvSpPr>
          <p:cNvPr id="17" name="Text 15"/>
          <p:cNvSpPr/>
          <p:nvPr/>
        </p:nvSpPr>
        <p:spPr>
          <a:xfrm>
            <a:off x="6053328" y="1261872"/>
            <a:ext cx="2715768" cy="896112"/>
          </a:xfrm>
          <a:prstGeom prst="rect">
            <a:avLst/>
          </a:prstGeom>
          <a:noFill/>
          <a:ln/>
        </p:spPr>
        <p:txBody>
          <a:bodyPr wrap="square" lIns="0" tIns="0" rIns="0" bIns="0" rtlCol="0" anchor="ctr"/>
          <a:lstStyle/>
          <a:p>
            <a:pPr marL="0" indent="0" algn="ctr">
              <a:buNone/>
            </a:pPr>
            <a:r>
              <a:rPr lang="en-US" sz="5400" b="1" dirty="0">
                <a:solidFill>
                  <a:srgbClr val="F0C040"/>
                </a:solidFill>
                <a:latin typeface="Georgia" pitchFamily="34" charset="0"/>
                <a:ea typeface="Georgia" pitchFamily="34" charset="-122"/>
                <a:cs typeface="Georgia" pitchFamily="34" charset="-120"/>
              </a:rPr>
              <a:t>100%</a:t>
            </a:r>
            <a:endParaRPr lang="en-US" sz="5400" dirty="0"/>
          </a:p>
        </p:txBody>
      </p:sp>
      <p:sp>
        <p:nvSpPr>
          <p:cNvPr id="18" name="Text 16"/>
          <p:cNvSpPr/>
          <p:nvPr/>
        </p:nvSpPr>
        <p:spPr>
          <a:xfrm>
            <a:off x="6053328" y="2139696"/>
            <a:ext cx="2715768" cy="274320"/>
          </a:xfrm>
          <a:prstGeom prst="rect">
            <a:avLst/>
          </a:prstGeom>
          <a:noFill/>
          <a:ln/>
        </p:spPr>
        <p:txBody>
          <a:bodyPr wrap="square" lIns="0" tIns="0" rIns="0" bIns="0" rtlCol="0" anchor="ctr"/>
          <a:lstStyle/>
          <a:p>
            <a:pPr marL="0" indent="0" algn="ctr">
              <a:buNone/>
            </a:pPr>
            <a:r>
              <a:rPr lang="en-US" sz="1100" b="1" kern="0" spc="80" dirty="0">
                <a:solidFill>
                  <a:srgbClr val="FFFFFF"/>
                </a:solidFill>
                <a:latin typeface="Calibri" pitchFamily="34" charset="0"/>
                <a:ea typeface="Calibri" pitchFamily="34" charset="-122"/>
                <a:cs typeface="Calibri" pitchFamily="34" charset="-120"/>
              </a:rPr>
              <a:t>Content Privacy</a:t>
            </a:r>
            <a:endParaRPr lang="en-US" sz="1100" dirty="0"/>
          </a:p>
        </p:txBody>
      </p:sp>
      <p:sp>
        <p:nvSpPr>
          <p:cNvPr id="19" name="Shape 17"/>
          <p:cNvSpPr/>
          <p:nvPr/>
        </p:nvSpPr>
        <p:spPr>
          <a:xfrm>
            <a:off x="6327648" y="2450592"/>
            <a:ext cx="2167128" cy="0"/>
          </a:xfrm>
          <a:prstGeom prst="line">
            <a:avLst/>
          </a:prstGeom>
          <a:noFill/>
          <a:ln w="7620">
            <a:solidFill>
              <a:srgbClr val="2A2720"/>
            </a:solidFill>
            <a:prstDash val="solid"/>
          </a:ln>
        </p:spPr>
      </p:sp>
      <p:sp>
        <p:nvSpPr>
          <p:cNvPr id="20" name="Text 18"/>
          <p:cNvSpPr/>
          <p:nvPr/>
        </p:nvSpPr>
        <p:spPr>
          <a:xfrm>
            <a:off x="6217920" y="2505456"/>
            <a:ext cx="2395728" cy="694944"/>
          </a:xfrm>
          <a:prstGeom prst="rect">
            <a:avLst/>
          </a:prstGeom>
          <a:noFill/>
          <a:ln/>
        </p:spPr>
        <p:txBody>
          <a:bodyPr wrap="square" lIns="0" tIns="0" rIns="0" bIns="0" rtlCol="0" anchor="ctr"/>
          <a:lstStyle/>
          <a:p>
            <a:pPr marL="0" indent="0" algn="ctr">
              <a:buNone/>
            </a:pPr>
            <a:r>
              <a:rPr lang="en-US" sz="950" i="1" dirty="0">
                <a:solidFill>
                  <a:srgbClr val="C5BDB0"/>
                </a:solidFill>
                <a:latin typeface="Calibri" pitchFamily="34" charset="0"/>
                <a:ea typeface="Calibri" pitchFamily="34" charset="-122"/>
                <a:cs typeface="Calibri" pitchFamily="34" charset="-120"/>
              </a:rPr>
              <a:t>Zero data leaves your machine. No story, character, or world-building detail is ever transmitted to any external server or third party.</a:t>
            </a:r>
            <a:endParaRPr lang="en-US" sz="950" dirty="0"/>
          </a:p>
        </p:txBody>
      </p:sp>
      <p:sp>
        <p:nvSpPr>
          <p:cNvPr id="21" name="Shape 19"/>
          <p:cNvSpPr/>
          <p:nvPr/>
        </p:nvSpPr>
        <p:spPr>
          <a:xfrm>
            <a:off x="256032" y="3429000"/>
            <a:ext cx="8631936" cy="292608"/>
          </a:xfrm>
          <a:prstGeom prst="rect">
            <a:avLst/>
          </a:prstGeom>
          <a:solidFill>
            <a:srgbClr val="0E0C07"/>
          </a:solidFill>
          <a:ln w="12700">
            <a:solidFill>
              <a:srgbClr val="333333"/>
            </a:solidFill>
            <a:prstDash val="solid"/>
          </a:ln>
        </p:spPr>
      </p:sp>
      <p:sp>
        <p:nvSpPr>
          <p:cNvPr id="22" name="Text 20"/>
          <p:cNvSpPr/>
          <p:nvPr/>
        </p:nvSpPr>
        <p:spPr>
          <a:xfrm>
            <a:off x="347472" y="3429000"/>
            <a:ext cx="1417320" cy="292608"/>
          </a:xfrm>
          <a:prstGeom prst="rect">
            <a:avLst/>
          </a:prstGeom>
          <a:noFill/>
          <a:ln/>
        </p:spPr>
        <p:txBody>
          <a:bodyPr wrap="square" lIns="0" tIns="0" rIns="0" bIns="0" rtlCol="0" anchor="ctr"/>
          <a:lstStyle/>
          <a:p>
            <a:pPr marL="0" indent="0" algn="l">
              <a:buNone/>
            </a:pPr>
            <a:r>
              <a:rPr lang="en-US" sz="950" b="1" kern="0" spc="50" dirty="0">
                <a:solidFill>
                  <a:srgbClr val="B8860B"/>
                </a:solidFill>
                <a:latin typeface="Calibri" pitchFamily="34" charset="0"/>
                <a:ea typeface="Calibri" pitchFamily="34" charset="-122"/>
                <a:cs typeface="Calibri" pitchFamily="34" charset="-120"/>
              </a:rPr>
              <a:t>Feature</a:t>
            </a:r>
            <a:endParaRPr lang="en-US" sz="950" dirty="0"/>
          </a:p>
        </p:txBody>
      </p:sp>
      <p:sp>
        <p:nvSpPr>
          <p:cNvPr id="23" name="Text 21"/>
          <p:cNvSpPr/>
          <p:nvPr/>
        </p:nvSpPr>
        <p:spPr>
          <a:xfrm>
            <a:off x="1828800" y="3429000"/>
            <a:ext cx="2212848" cy="292608"/>
          </a:xfrm>
          <a:prstGeom prst="rect">
            <a:avLst/>
          </a:prstGeom>
          <a:noFill/>
          <a:ln/>
        </p:spPr>
        <p:txBody>
          <a:bodyPr wrap="square" lIns="0" tIns="0" rIns="0" bIns="0" rtlCol="0" anchor="ctr"/>
          <a:lstStyle/>
          <a:p>
            <a:pPr marL="0" indent="0" algn="ctr">
              <a:buNone/>
            </a:pPr>
            <a:r>
              <a:rPr lang="en-US" sz="950" b="1" kern="0" spc="50" dirty="0">
                <a:solidFill>
                  <a:srgbClr val="B8860B"/>
                </a:solidFill>
                <a:latin typeface="Calibri" pitchFamily="34" charset="0"/>
                <a:ea typeface="Calibri" pitchFamily="34" charset="-122"/>
                <a:cs typeface="Calibri" pitchFamily="34" charset="-120"/>
              </a:rPr>
              <a:t>Narrative Flow</a:t>
            </a:r>
            <a:endParaRPr lang="en-US" sz="950" dirty="0"/>
          </a:p>
        </p:txBody>
      </p:sp>
      <p:sp>
        <p:nvSpPr>
          <p:cNvPr id="24" name="Text 22"/>
          <p:cNvSpPr/>
          <p:nvPr/>
        </p:nvSpPr>
        <p:spPr>
          <a:xfrm>
            <a:off x="4187952" y="3429000"/>
            <a:ext cx="2212848" cy="292608"/>
          </a:xfrm>
          <a:prstGeom prst="rect">
            <a:avLst/>
          </a:prstGeom>
          <a:noFill/>
          <a:ln/>
        </p:spPr>
        <p:txBody>
          <a:bodyPr wrap="square" lIns="0" tIns="0" rIns="0" bIns="0" rtlCol="0" anchor="ctr"/>
          <a:lstStyle/>
          <a:p>
            <a:pPr marL="0" indent="0" algn="ctr">
              <a:buNone/>
            </a:pPr>
            <a:r>
              <a:rPr lang="en-US" sz="950" b="1" kern="0" spc="50" dirty="0">
                <a:solidFill>
                  <a:srgbClr val="B8860B"/>
                </a:solidFill>
                <a:latin typeface="Calibri" pitchFamily="34" charset="0"/>
                <a:ea typeface="Calibri" pitchFamily="34" charset="-122"/>
                <a:cs typeface="Calibri" pitchFamily="34" charset="-120"/>
              </a:rPr>
              <a:t>ChatGPT / Copilot</a:t>
            </a:r>
            <a:endParaRPr lang="en-US" sz="950" dirty="0"/>
          </a:p>
        </p:txBody>
      </p:sp>
      <p:sp>
        <p:nvSpPr>
          <p:cNvPr id="25" name="Text 23"/>
          <p:cNvSpPr/>
          <p:nvPr/>
        </p:nvSpPr>
        <p:spPr>
          <a:xfrm>
            <a:off x="6547104" y="3429000"/>
            <a:ext cx="2212848" cy="292608"/>
          </a:xfrm>
          <a:prstGeom prst="rect">
            <a:avLst/>
          </a:prstGeom>
          <a:noFill/>
          <a:ln/>
        </p:spPr>
        <p:txBody>
          <a:bodyPr wrap="square" lIns="0" tIns="0" rIns="0" bIns="0" rtlCol="0" anchor="ctr"/>
          <a:lstStyle/>
          <a:p>
            <a:pPr marL="0" indent="0" algn="ctr">
              <a:buNone/>
            </a:pPr>
            <a:r>
              <a:rPr lang="en-US" sz="950" b="1" kern="0" spc="50" dirty="0">
                <a:solidFill>
                  <a:srgbClr val="B8860B"/>
                </a:solidFill>
                <a:latin typeface="Calibri" pitchFamily="34" charset="0"/>
                <a:ea typeface="Calibri" pitchFamily="34" charset="-122"/>
                <a:cs typeface="Calibri" pitchFamily="34" charset="-120"/>
              </a:rPr>
              <a:t>Sudowrite / Jasper</a:t>
            </a:r>
            <a:endParaRPr lang="en-US" sz="950" dirty="0"/>
          </a:p>
        </p:txBody>
      </p:sp>
      <p:sp>
        <p:nvSpPr>
          <p:cNvPr id="26" name="Shape 24"/>
          <p:cNvSpPr/>
          <p:nvPr/>
        </p:nvSpPr>
        <p:spPr>
          <a:xfrm>
            <a:off x="256032" y="3721608"/>
            <a:ext cx="8631936" cy="292608"/>
          </a:xfrm>
          <a:prstGeom prst="rect">
            <a:avLst/>
          </a:prstGeom>
          <a:solidFill>
            <a:srgbClr val="F2EFE9"/>
          </a:solidFill>
          <a:ln w="6350">
            <a:solidFill>
              <a:srgbClr val="EDE9E1"/>
            </a:solidFill>
            <a:prstDash val="solid"/>
          </a:ln>
        </p:spPr>
      </p:sp>
      <p:sp>
        <p:nvSpPr>
          <p:cNvPr id="27" name="Text 25"/>
          <p:cNvSpPr/>
          <p:nvPr/>
        </p:nvSpPr>
        <p:spPr>
          <a:xfrm>
            <a:off x="347472" y="3721608"/>
            <a:ext cx="1417320" cy="292608"/>
          </a:xfrm>
          <a:prstGeom prst="rect">
            <a:avLst/>
          </a:prstGeom>
          <a:noFill/>
          <a:ln/>
        </p:spPr>
        <p:txBody>
          <a:bodyPr wrap="square" lIns="0" tIns="0" rIns="0" bIns="0" rtlCol="0" anchor="ctr"/>
          <a:lstStyle/>
          <a:p>
            <a:pPr marL="0" indent="0" algn="l">
              <a:buNone/>
            </a:pPr>
            <a:r>
              <a:rPr lang="en-US" sz="1000" b="1" dirty="0">
                <a:solidFill>
                  <a:srgbClr val="0E0C07"/>
                </a:solidFill>
                <a:latin typeface="Calibri" pitchFamily="34" charset="0"/>
                <a:ea typeface="Calibri" pitchFamily="34" charset="-122"/>
                <a:cs typeface="Calibri" pitchFamily="34" charset="-120"/>
              </a:rPr>
              <a:t>Data Privacy</a:t>
            </a:r>
            <a:endParaRPr lang="en-US" sz="1000" dirty="0"/>
          </a:p>
        </p:txBody>
      </p:sp>
      <p:sp>
        <p:nvSpPr>
          <p:cNvPr id="28" name="Text 26"/>
          <p:cNvSpPr/>
          <p:nvPr/>
        </p:nvSpPr>
        <p:spPr>
          <a:xfrm>
            <a:off x="1828800" y="3721608"/>
            <a:ext cx="2212848" cy="292608"/>
          </a:xfrm>
          <a:prstGeom prst="rect">
            <a:avLst/>
          </a:prstGeom>
          <a:noFill/>
          <a:ln/>
        </p:spPr>
        <p:txBody>
          <a:bodyPr wrap="square" lIns="0" tIns="0" rIns="0" bIns="0"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 100% Local</a:t>
            </a:r>
            <a:endParaRPr lang="en-US" sz="1000" dirty="0"/>
          </a:p>
        </p:txBody>
      </p:sp>
      <p:sp>
        <p:nvSpPr>
          <p:cNvPr id="29" name="Text 27"/>
          <p:cNvSpPr/>
          <p:nvPr/>
        </p:nvSpPr>
        <p:spPr>
          <a:xfrm>
            <a:off x="4187952" y="3721608"/>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Sent to OpenAI</a:t>
            </a:r>
            <a:endParaRPr lang="en-US" sz="1000" dirty="0"/>
          </a:p>
        </p:txBody>
      </p:sp>
      <p:sp>
        <p:nvSpPr>
          <p:cNvPr id="30" name="Text 28"/>
          <p:cNvSpPr/>
          <p:nvPr/>
        </p:nvSpPr>
        <p:spPr>
          <a:xfrm>
            <a:off x="6547104" y="3721608"/>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Sent to cloud</a:t>
            </a:r>
            <a:endParaRPr lang="en-US" sz="1000" dirty="0"/>
          </a:p>
        </p:txBody>
      </p:sp>
      <p:sp>
        <p:nvSpPr>
          <p:cNvPr id="31" name="Shape 29"/>
          <p:cNvSpPr/>
          <p:nvPr/>
        </p:nvSpPr>
        <p:spPr>
          <a:xfrm>
            <a:off x="256032" y="4014216"/>
            <a:ext cx="8631936" cy="292608"/>
          </a:xfrm>
          <a:prstGeom prst="rect">
            <a:avLst/>
          </a:prstGeom>
          <a:solidFill>
            <a:srgbClr val="FFFFFF"/>
          </a:solidFill>
          <a:ln w="6350">
            <a:solidFill>
              <a:srgbClr val="EDE9E1"/>
            </a:solidFill>
            <a:prstDash val="solid"/>
          </a:ln>
        </p:spPr>
      </p:sp>
      <p:sp>
        <p:nvSpPr>
          <p:cNvPr id="32" name="Text 30"/>
          <p:cNvSpPr/>
          <p:nvPr/>
        </p:nvSpPr>
        <p:spPr>
          <a:xfrm>
            <a:off x="347472" y="4014216"/>
            <a:ext cx="1417320" cy="292608"/>
          </a:xfrm>
          <a:prstGeom prst="rect">
            <a:avLst/>
          </a:prstGeom>
          <a:noFill/>
          <a:ln/>
        </p:spPr>
        <p:txBody>
          <a:bodyPr wrap="square" lIns="0" tIns="0" rIns="0" bIns="0" rtlCol="0" anchor="ctr"/>
          <a:lstStyle/>
          <a:p>
            <a:pPr marL="0" indent="0" algn="l">
              <a:buNone/>
            </a:pPr>
            <a:r>
              <a:rPr lang="en-US" sz="1000" b="1" dirty="0">
                <a:solidFill>
                  <a:srgbClr val="0E0C07"/>
                </a:solidFill>
                <a:latin typeface="Calibri" pitchFamily="34" charset="0"/>
                <a:ea typeface="Calibri" pitchFamily="34" charset="-122"/>
                <a:cs typeface="Calibri" pitchFamily="34" charset="-120"/>
              </a:rPr>
              <a:t>Monthly Cost</a:t>
            </a:r>
            <a:endParaRPr lang="en-US" sz="1000" dirty="0"/>
          </a:p>
        </p:txBody>
      </p:sp>
      <p:sp>
        <p:nvSpPr>
          <p:cNvPr id="33" name="Text 31"/>
          <p:cNvSpPr/>
          <p:nvPr/>
        </p:nvSpPr>
        <p:spPr>
          <a:xfrm>
            <a:off x="1828800" y="4014216"/>
            <a:ext cx="2212848" cy="292608"/>
          </a:xfrm>
          <a:prstGeom prst="rect">
            <a:avLst/>
          </a:prstGeom>
          <a:noFill/>
          <a:ln/>
        </p:spPr>
        <p:txBody>
          <a:bodyPr wrap="square" lIns="0" tIns="0" rIns="0" bIns="0"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 Free forever</a:t>
            </a:r>
            <a:endParaRPr lang="en-US" sz="1000" dirty="0"/>
          </a:p>
        </p:txBody>
      </p:sp>
      <p:sp>
        <p:nvSpPr>
          <p:cNvPr id="34" name="Text 32"/>
          <p:cNvSpPr/>
          <p:nvPr/>
        </p:nvSpPr>
        <p:spPr>
          <a:xfrm>
            <a:off x="4187952" y="4014216"/>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$20–$30 / month</a:t>
            </a:r>
            <a:endParaRPr lang="en-US" sz="1000" dirty="0"/>
          </a:p>
        </p:txBody>
      </p:sp>
      <p:sp>
        <p:nvSpPr>
          <p:cNvPr id="35" name="Text 33"/>
          <p:cNvSpPr/>
          <p:nvPr/>
        </p:nvSpPr>
        <p:spPr>
          <a:xfrm>
            <a:off x="6547104" y="4014216"/>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$19–$99 / month</a:t>
            </a:r>
            <a:endParaRPr lang="en-US" sz="1000" dirty="0"/>
          </a:p>
        </p:txBody>
      </p:sp>
      <p:sp>
        <p:nvSpPr>
          <p:cNvPr id="36" name="Shape 34"/>
          <p:cNvSpPr/>
          <p:nvPr/>
        </p:nvSpPr>
        <p:spPr>
          <a:xfrm>
            <a:off x="256032" y="4306824"/>
            <a:ext cx="8631936" cy="292608"/>
          </a:xfrm>
          <a:prstGeom prst="rect">
            <a:avLst/>
          </a:prstGeom>
          <a:solidFill>
            <a:srgbClr val="F2EFE9"/>
          </a:solidFill>
          <a:ln w="6350">
            <a:solidFill>
              <a:srgbClr val="EDE9E1"/>
            </a:solidFill>
            <a:prstDash val="solid"/>
          </a:ln>
        </p:spPr>
      </p:sp>
      <p:sp>
        <p:nvSpPr>
          <p:cNvPr id="37" name="Text 35"/>
          <p:cNvSpPr/>
          <p:nvPr/>
        </p:nvSpPr>
        <p:spPr>
          <a:xfrm>
            <a:off x="347472" y="4306824"/>
            <a:ext cx="1417320" cy="292608"/>
          </a:xfrm>
          <a:prstGeom prst="rect">
            <a:avLst/>
          </a:prstGeom>
          <a:noFill/>
          <a:ln/>
        </p:spPr>
        <p:txBody>
          <a:bodyPr wrap="square" lIns="0" tIns="0" rIns="0" bIns="0" rtlCol="0" anchor="ctr"/>
          <a:lstStyle/>
          <a:p>
            <a:pPr marL="0" indent="0" algn="l">
              <a:buNone/>
            </a:pPr>
            <a:r>
              <a:rPr lang="en-US" sz="1000" b="1" dirty="0">
                <a:solidFill>
                  <a:srgbClr val="0E0C07"/>
                </a:solidFill>
                <a:latin typeface="Calibri" pitchFamily="34" charset="0"/>
                <a:ea typeface="Calibri" pitchFamily="34" charset="-122"/>
                <a:cs typeface="Calibri" pitchFamily="34" charset="-120"/>
              </a:rPr>
              <a:t>Offline Access</a:t>
            </a:r>
            <a:endParaRPr lang="en-US" sz="1000" dirty="0"/>
          </a:p>
        </p:txBody>
      </p:sp>
      <p:sp>
        <p:nvSpPr>
          <p:cNvPr id="38" name="Text 36"/>
          <p:cNvSpPr/>
          <p:nvPr/>
        </p:nvSpPr>
        <p:spPr>
          <a:xfrm>
            <a:off x="1828800" y="4306824"/>
            <a:ext cx="2212848" cy="292608"/>
          </a:xfrm>
          <a:prstGeom prst="rect">
            <a:avLst/>
          </a:prstGeom>
          <a:noFill/>
          <a:ln/>
        </p:spPr>
        <p:txBody>
          <a:bodyPr wrap="square" lIns="0" tIns="0" rIns="0" bIns="0"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 Works anywhere</a:t>
            </a:r>
            <a:endParaRPr lang="en-US" sz="1000" dirty="0"/>
          </a:p>
        </p:txBody>
      </p:sp>
      <p:sp>
        <p:nvSpPr>
          <p:cNvPr id="39" name="Text 37"/>
          <p:cNvSpPr/>
          <p:nvPr/>
        </p:nvSpPr>
        <p:spPr>
          <a:xfrm>
            <a:off x="4187952" y="4306824"/>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Requires internet</a:t>
            </a:r>
            <a:endParaRPr lang="en-US" sz="1000" dirty="0"/>
          </a:p>
        </p:txBody>
      </p:sp>
      <p:sp>
        <p:nvSpPr>
          <p:cNvPr id="40" name="Text 38"/>
          <p:cNvSpPr/>
          <p:nvPr/>
        </p:nvSpPr>
        <p:spPr>
          <a:xfrm>
            <a:off x="6547104" y="4306824"/>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Requires internet</a:t>
            </a:r>
            <a:endParaRPr lang="en-US" sz="1000" dirty="0"/>
          </a:p>
        </p:txBody>
      </p:sp>
      <p:sp>
        <p:nvSpPr>
          <p:cNvPr id="41" name="Shape 39"/>
          <p:cNvSpPr/>
          <p:nvPr/>
        </p:nvSpPr>
        <p:spPr>
          <a:xfrm>
            <a:off x="256032" y="4599432"/>
            <a:ext cx="8631936" cy="292608"/>
          </a:xfrm>
          <a:prstGeom prst="rect">
            <a:avLst/>
          </a:prstGeom>
          <a:solidFill>
            <a:srgbClr val="FFFFFF"/>
          </a:solidFill>
          <a:ln w="6350">
            <a:solidFill>
              <a:srgbClr val="EDE9E1"/>
            </a:solidFill>
            <a:prstDash val="solid"/>
          </a:ln>
        </p:spPr>
      </p:sp>
      <p:sp>
        <p:nvSpPr>
          <p:cNvPr id="42" name="Text 40"/>
          <p:cNvSpPr/>
          <p:nvPr/>
        </p:nvSpPr>
        <p:spPr>
          <a:xfrm>
            <a:off x="347472" y="4599432"/>
            <a:ext cx="1417320" cy="292608"/>
          </a:xfrm>
          <a:prstGeom prst="rect">
            <a:avLst/>
          </a:prstGeom>
          <a:noFill/>
          <a:ln/>
        </p:spPr>
        <p:txBody>
          <a:bodyPr wrap="square" lIns="0" tIns="0" rIns="0" bIns="0" rtlCol="0" anchor="ctr"/>
          <a:lstStyle/>
          <a:p>
            <a:pPr marL="0" indent="0" algn="l">
              <a:buNone/>
            </a:pPr>
            <a:r>
              <a:rPr lang="en-US" sz="1000" b="1" dirty="0">
                <a:solidFill>
                  <a:srgbClr val="0E0C07"/>
                </a:solidFill>
                <a:latin typeface="Calibri" pitchFamily="34" charset="0"/>
                <a:ea typeface="Calibri" pitchFamily="34" charset="-122"/>
                <a:cs typeface="Calibri" pitchFamily="34" charset="-120"/>
              </a:rPr>
              <a:t>Genre Accuracy</a:t>
            </a:r>
            <a:endParaRPr lang="en-US" sz="1000" dirty="0"/>
          </a:p>
        </p:txBody>
      </p:sp>
      <p:sp>
        <p:nvSpPr>
          <p:cNvPr id="43" name="Text 41"/>
          <p:cNvSpPr/>
          <p:nvPr/>
        </p:nvSpPr>
        <p:spPr>
          <a:xfrm>
            <a:off x="1828800" y="4599432"/>
            <a:ext cx="2212848" cy="292608"/>
          </a:xfrm>
          <a:prstGeom prst="rect">
            <a:avLst/>
          </a:prstGeom>
          <a:noFill/>
          <a:ln/>
        </p:spPr>
        <p:txBody>
          <a:bodyPr wrap="square" lIns="0" tIns="0" rIns="0" bIns="0"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 Custom prompts</a:t>
            </a:r>
            <a:endParaRPr lang="en-US" sz="1000" dirty="0"/>
          </a:p>
        </p:txBody>
      </p:sp>
      <p:sp>
        <p:nvSpPr>
          <p:cNvPr id="44" name="Text 42"/>
          <p:cNvSpPr/>
          <p:nvPr/>
        </p:nvSpPr>
        <p:spPr>
          <a:xfrm>
            <a:off x="4187952" y="4599432"/>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Generic output</a:t>
            </a:r>
            <a:endParaRPr lang="en-US" sz="1000" dirty="0"/>
          </a:p>
        </p:txBody>
      </p:sp>
      <p:sp>
        <p:nvSpPr>
          <p:cNvPr id="45" name="Text 43"/>
          <p:cNvSpPr/>
          <p:nvPr/>
        </p:nvSpPr>
        <p:spPr>
          <a:xfrm>
            <a:off x="6547104" y="4599432"/>
            <a:ext cx="2212848" cy="292608"/>
          </a:xfrm>
          <a:prstGeom prst="rect">
            <a:avLst/>
          </a:prstGeom>
          <a:noFill/>
          <a:ln/>
        </p:spPr>
        <p:txBody>
          <a:bodyPr wrap="square" lIns="0" tIns="0" rIns="0" bIns="0" rtlCol="0" anchor="ctr"/>
          <a:lstStyle/>
          <a:p>
            <a:pPr marL="0" indent="0" algn="ctr">
              <a:buNone/>
            </a:pPr>
            <a:r>
              <a:rPr lang="en-US" sz="1000" dirty="0">
                <a:solidFill>
                  <a:srgbClr val="8A8470"/>
                </a:solidFill>
                <a:latin typeface="Calibri" pitchFamily="34" charset="0"/>
                <a:ea typeface="Calibri" pitchFamily="34" charset="-122"/>
                <a:cs typeface="Calibri" pitchFamily="34" charset="-120"/>
              </a:rPr>
              <a:t>~ Limited genres</a:t>
            </a:r>
            <a:endParaRPr lang="en-US" sz="1000" dirty="0"/>
          </a:p>
        </p:txBody>
      </p:sp>
      <p:sp>
        <p:nvSpPr>
          <p:cNvPr id="46" name="Shape 44"/>
          <p:cNvSpPr/>
          <p:nvPr/>
        </p:nvSpPr>
        <p:spPr>
          <a:xfrm>
            <a:off x="256032" y="4892040"/>
            <a:ext cx="8631936" cy="292608"/>
          </a:xfrm>
          <a:prstGeom prst="rect">
            <a:avLst/>
          </a:prstGeom>
          <a:solidFill>
            <a:srgbClr val="F2EFE9"/>
          </a:solidFill>
          <a:ln w="6350">
            <a:solidFill>
              <a:srgbClr val="EDE9E1"/>
            </a:solidFill>
            <a:prstDash val="solid"/>
          </a:ln>
        </p:spPr>
      </p:sp>
      <p:sp>
        <p:nvSpPr>
          <p:cNvPr id="47" name="Text 45"/>
          <p:cNvSpPr/>
          <p:nvPr/>
        </p:nvSpPr>
        <p:spPr>
          <a:xfrm>
            <a:off x="347472" y="4892040"/>
            <a:ext cx="1417320" cy="292608"/>
          </a:xfrm>
          <a:prstGeom prst="rect">
            <a:avLst/>
          </a:prstGeom>
          <a:noFill/>
          <a:ln/>
        </p:spPr>
        <p:txBody>
          <a:bodyPr wrap="square" lIns="0" tIns="0" rIns="0" bIns="0" rtlCol="0" anchor="ctr"/>
          <a:lstStyle/>
          <a:p>
            <a:pPr marL="0" indent="0" algn="l">
              <a:buNone/>
            </a:pPr>
            <a:r>
              <a:rPr lang="en-US" sz="1000" b="1" dirty="0">
                <a:solidFill>
                  <a:srgbClr val="0E0C07"/>
                </a:solidFill>
                <a:latin typeface="Calibri" pitchFamily="34" charset="0"/>
                <a:ea typeface="Calibri" pitchFamily="34" charset="-122"/>
                <a:cs typeface="Calibri" pitchFamily="34" charset="-120"/>
              </a:rPr>
              <a:t>Story Context</a:t>
            </a:r>
            <a:endParaRPr lang="en-US" sz="1000" dirty="0"/>
          </a:p>
        </p:txBody>
      </p:sp>
      <p:sp>
        <p:nvSpPr>
          <p:cNvPr id="48" name="Text 46"/>
          <p:cNvSpPr/>
          <p:nvPr/>
        </p:nvSpPr>
        <p:spPr>
          <a:xfrm>
            <a:off x="1828800" y="4892040"/>
            <a:ext cx="2212848" cy="292608"/>
          </a:xfrm>
          <a:prstGeom prst="rect">
            <a:avLst/>
          </a:prstGeom>
          <a:noFill/>
          <a:ln/>
        </p:spPr>
        <p:txBody>
          <a:bodyPr wrap="square" lIns="0" tIns="0" rIns="0" bIns="0" rtlCol="0" anchor="ctr"/>
          <a:lstStyle/>
          <a:p>
            <a:pPr marL="0" indent="0" algn="ctr">
              <a:buNone/>
            </a:pPr>
            <a:r>
              <a:rPr lang="en-US" sz="1000" dirty="0">
                <a:solidFill>
                  <a:srgbClr val="2E7D32"/>
                </a:solidFill>
                <a:latin typeface="Calibri" pitchFamily="34" charset="0"/>
                <a:ea typeface="Calibri" pitchFamily="34" charset="-122"/>
                <a:cs typeface="Calibri" pitchFamily="34" charset="-120"/>
              </a:rPr>
              <a:t>✦ Full memory lock</a:t>
            </a:r>
            <a:endParaRPr lang="en-US" sz="1000" dirty="0"/>
          </a:p>
        </p:txBody>
      </p:sp>
      <p:sp>
        <p:nvSpPr>
          <p:cNvPr id="49" name="Text 47"/>
          <p:cNvSpPr/>
          <p:nvPr/>
        </p:nvSpPr>
        <p:spPr>
          <a:xfrm>
            <a:off x="4187952" y="4892040"/>
            <a:ext cx="2212848" cy="292608"/>
          </a:xfrm>
          <a:prstGeom prst="rect">
            <a:avLst/>
          </a:prstGeom>
          <a:noFill/>
          <a:ln/>
        </p:spPr>
        <p:txBody>
          <a:bodyPr wrap="square" lIns="0" tIns="0" rIns="0" bIns="0" rtlCol="0" anchor="ctr"/>
          <a:lstStyle/>
          <a:p>
            <a:pPr marL="0" indent="0" algn="ctr">
              <a:buNone/>
            </a:pPr>
            <a:r>
              <a:rPr lang="en-US" sz="1000" dirty="0">
                <a:solidFill>
                  <a:srgbClr val="C62828"/>
                </a:solidFill>
                <a:latin typeface="Calibri" pitchFamily="34" charset="0"/>
                <a:ea typeface="Calibri" pitchFamily="34" charset="-122"/>
                <a:cs typeface="Calibri" pitchFamily="34" charset="-120"/>
              </a:rPr>
              <a:t>✗ Loses context</a:t>
            </a:r>
            <a:endParaRPr lang="en-US" sz="1000" dirty="0"/>
          </a:p>
        </p:txBody>
      </p:sp>
      <p:sp>
        <p:nvSpPr>
          <p:cNvPr id="50" name="Text 48"/>
          <p:cNvSpPr/>
          <p:nvPr/>
        </p:nvSpPr>
        <p:spPr>
          <a:xfrm>
            <a:off x="6547104" y="4892040"/>
            <a:ext cx="2212848" cy="292608"/>
          </a:xfrm>
          <a:prstGeom prst="rect">
            <a:avLst/>
          </a:prstGeom>
          <a:noFill/>
          <a:ln/>
        </p:spPr>
        <p:txBody>
          <a:bodyPr wrap="square" lIns="0" tIns="0" rIns="0" bIns="0" rtlCol="0" anchor="ctr"/>
          <a:lstStyle/>
          <a:p>
            <a:pPr marL="0" indent="0" algn="ctr">
              <a:buNone/>
            </a:pPr>
            <a:r>
              <a:rPr lang="en-US" sz="1000" dirty="0">
                <a:solidFill>
                  <a:srgbClr val="8A8470"/>
                </a:solidFill>
                <a:latin typeface="Calibri" pitchFamily="34" charset="0"/>
                <a:ea typeface="Calibri" pitchFamily="34" charset="-122"/>
                <a:cs typeface="Calibri" pitchFamily="34" charset="-120"/>
              </a:rPr>
              <a:t>~ Partial memory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8860B"/>
          </a:solidFill>
          <a:ln/>
        </p:spPr>
      </p:sp>
      <p:sp>
        <p:nvSpPr>
          <p:cNvPr id="3" name="Text 1"/>
          <p:cNvSpPr/>
          <p:nvPr/>
        </p:nvSpPr>
        <p:spPr>
          <a:xfrm>
            <a:off x="457200" y="164592"/>
            <a:ext cx="4572000" cy="329184"/>
          </a:xfrm>
          <a:prstGeom prst="rect">
            <a:avLst/>
          </a:prstGeom>
          <a:noFill/>
          <a:ln/>
        </p:spPr>
        <p:txBody>
          <a:bodyPr wrap="square" lIns="0" tIns="0" rIns="0" bIns="0" rtlCol="0" anchor="ctr"/>
          <a:lstStyle/>
          <a:p>
            <a:pPr marL="0" indent="0" algn="l">
              <a:buNone/>
            </a:pPr>
            <a:r>
              <a:rPr lang="en-US" sz="1000" b="1" kern="0" spc="250" dirty="0">
                <a:solidFill>
                  <a:srgbClr val="B8860B"/>
                </a:solidFill>
                <a:latin typeface="Calibri" pitchFamily="34" charset="0"/>
                <a:ea typeface="Calibri" pitchFamily="34" charset="-122"/>
                <a:cs typeface="Calibri" pitchFamily="34" charset="-120"/>
              </a:rPr>
              <a:t>08  /  WHAT WE BUILT</a:t>
            </a:r>
            <a:endParaRPr lang="en-US" sz="1000" dirty="0"/>
          </a:p>
        </p:txBody>
      </p:sp>
      <p:sp>
        <p:nvSpPr>
          <p:cNvPr id="4" name="Text 2"/>
          <p:cNvSpPr/>
          <p:nvPr/>
        </p:nvSpPr>
        <p:spPr>
          <a:xfrm>
            <a:off x="457200" y="493776"/>
            <a:ext cx="8412480" cy="402336"/>
          </a:xfrm>
          <a:prstGeom prst="rect">
            <a:avLst/>
          </a:prstGeom>
          <a:noFill/>
          <a:ln/>
        </p:spPr>
        <p:txBody>
          <a:bodyPr wrap="square" lIns="0" tIns="0" rIns="0" bIns="0" rtlCol="0" anchor="ctr"/>
          <a:lstStyle/>
          <a:p>
            <a:pPr marL="0" indent="0" algn="l">
              <a:buNone/>
            </a:pPr>
            <a:r>
              <a:rPr lang="en-US" sz="2000" b="1" dirty="0">
                <a:solidFill>
                  <a:srgbClr val="FFFFFF"/>
                </a:solidFill>
                <a:latin typeface="Georgia" pitchFamily="34" charset="0"/>
                <a:ea typeface="Georgia" pitchFamily="34" charset="-122"/>
                <a:cs typeface="Georgia" pitchFamily="34" charset="-120"/>
              </a:rPr>
              <a:t>Three development phases. One complete product.</a:t>
            </a:r>
            <a:endParaRPr lang="en-US" sz="2000" dirty="0"/>
          </a:p>
        </p:txBody>
      </p:sp>
      <p:sp>
        <p:nvSpPr>
          <p:cNvPr id="5" name="Shape 3"/>
          <p:cNvSpPr/>
          <p:nvPr/>
        </p:nvSpPr>
        <p:spPr>
          <a:xfrm>
            <a:off x="256032" y="1078992"/>
            <a:ext cx="2715768" cy="3886200"/>
          </a:xfrm>
          <a:prstGeom prst="rect">
            <a:avLst/>
          </a:prstGeom>
          <a:solidFill>
            <a:srgbClr val="1A1810"/>
          </a:solidFill>
          <a:ln w="12700">
            <a:solidFill>
              <a:srgbClr val="B8860B"/>
            </a:solidFill>
            <a:prstDash val="solid"/>
          </a:ln>
          <a:effectLst>
            <a:outerShdw blurRad="127000" dist="50800" dir="8100000" algn="bl" rotWithShape="0">
              <a:srgbClr val="000000">
                <a:alpha val="22000"/>
              </a:srgbClr>
            </a:outerShdw>
          </a:effectLst>
        </p:spPr>
      </p:sp>
      <p:sp>
        <p:nvSpPr>
          <p:cNvPr id="6" name="Shape 4"/>
          <p:cNvSpPr/>
          <p:nvPr/>
        </p:nvSpPr>
        <p:spPr>
          <a:xfrm>
            <a:off x="256032" y="1078992"/>
            <a:ext cx="2715768" cy="64008"/>
          </a:xfrm>
          <a:prstGeom prst="rect">
            <a:avLst/>
          </a:prstGeom>
          <a:solidFill>
            <a:srgbClr val="B8860B"/>
          </a:solidFill>
          <a:ln w="12700">
            <a:solidFill>
              <a:srgbClr val="333333"/>
            </a:solidFill>
            <a:prstDash val="solid"/>
          </a:ln>
        </p:spPr>
      </p:sp>
      <p:sp>
        <p:nvSpPr>
          <p:cNvPr id="7" name="Shape 5"/>
          <p:cNvSpPr/>
          <p:nvPr/>
        </p:nvSpPr>
        <p:spPr>
          <a:xfrm>
            <a:off x="420624" y="1207008"/>
            <a:ext cx="2395728" cy="246888"/>
          </a:xfrm>
          <a:prstGeom prst="rect">
            <a:avLst/>
          </a:prstGeom>
          <a:solidFill>
            <a:srgbClr val="1A301A"/>
          </a:solidFill>
          <a:ln w="8890">
            <a:solidFill>
              <a:srgbClr val="4CAF50"/>
            </a:solidFill>
            <a:prstDash val="solid"/>
          </a:ln>
        </p:spPr>
      </p:sp>
      <p:sp>
        <p:nvSpPr>
          <p:cNvPr id="8" name="Text 6"/>
          <p:cNvSpPr/>
          <p:nvPr/>
        </p:nvSpPr>
        <p:spPr>
          <a:xfrm>
            <a:off x="420624" y="1207008"/>
            <a:ext cx="2395728" cy="246888"/>
          </a:xfrm>
          <a:prstGeom prst="rect">
            <a:avLst/>
          </a:prstGeom>
          <a:noFill/>
          <a:ln/>
        </p:spPr>
        <p:txBody>
          <a:bodyPr wrap="square" lIns="0" tIns="0" rIns="0" bIns="0" rtlCol="0" anchor="ctr"/>
          <a:lstStyle/>
          <a:p>
            <a:pPr marL="0" indent="0" algn="ctr">
              <a:buNone/>
            </a:pPr>
            <a:r>
              <a:rPr lang="en-US" sz="900" b="1" kern="0" spc="100" dirty="0">
                <a:solidFill>
                  <a:srgbClr val="4CAF50"/>
                </a:solidFill>
                <a:latin typeface="Calibri" pitchFamily="34" charset="0"/>
                <a:ea typeface="Calibri" pitchFamily="34" charset="-122"/>
                <a:cs typeface="Calibri" pitchFamily="34" charset="-120"/>
              </a:rPr>
              <a:t>✔  COMPLETE</a:t>
            </a:r>
            <a:endParaRPr lang="en-US" sz="900" dirty="0"/>
          </a:p>
        </p:txBody>
      </p:sp>
      <p:sp>
        <p:nvSpPr>
          <p:cNvPr id="9" name="Text 7"/>
          <p:cNvSpPr/>
          <p:nvPr/>
        </p:nvSpPr>
        <p:spPr>
          <a:xfrm>
            <a:off x="420624" y="1536192"/>
            <a:ext cx="2395728" cy="237744"/>
          </a:xfrm>
          <a:prstGeom prst="rect">
            <a:avLst/>
          </a:prstGeom>
          <a:noFill/>
          <a:ln/>
        </p:spPr>
        <p:txBody>
          <a:bodyPr wrap="square" lIns="0" tIns="0" rIns="0" bIns="0" rtlCol="0" anchor="ctr"/>
          <a:lstStyle/>
          <a:p>
            <a:pPr marL="0" indent="0" algn="l">
              <a:buNone/>
            </a:pPr>
            <a:r>
              <a:rPr lang="en-US" sz="950" b="1" kern="0" spc="100" dirty="0">
                <a:solidFill>
                  <a:srgbClr val="B8860B"/>
                </a:solidFill>
                <a:latin typeface="Calibri" pitchFamily="34" charset="0"/>
                <a:ea typeface="Calibri" pitchFamily="34" charset="-122"/>
                <a:cs typeface="Calibri" pitchFamily="34" charset="-120"/>
              </a:rPr>
              <a:t>Phase 1</a:t>
            </a:r>
            <a:endParaRPr lang="en-US" sz="950" dirty="0"/>
          </a:p>
        </p:txBody>
      </p:sp>
      <p:sp>
        <p:nvSpPr>
          <p:cNvPr id="10" name="Text 8"/>
          <p:cNvSpPr/>
          <p:nvPr/>
        </p:nvSpPr>
        <p:spPr>
          <a:xfrm>
            <a:off x="420624" y="1773936"/>
            <a:ext cx="2395728"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Georgia" pitchFamily="34" charset="0"/>
                <a:ea typeface="Georgia" pitchFamily="34" charset="-122"/>
                <a:cs typeface="Georgia" pitchFamily="34" charset="-120"/>
              </a:rPr>
              <a:t>UI &amp; Streamlit</a:t>
            </a:r>
            <a:endParaRPr lang="en-US" sz="1800" dirty="0"/>
          </a:p>
        </p:txBody>
      </p:sp>
      <p:sp>
        <p:nvSpPr>
          <p:cNvPr id="11" name="Shape 9"/>
          <p:cNvSpPr/>
          <p:nvPr/>
        </p:nvSpPr>
        <p:spPr>
          <a:xfrm>
            <a:off x="420624" y="2194560"/>
            <a:ext cx="2194560" cy="0"/>
          </a:xfrm>
          <a:prstGeom prst="line">
            <a:avLst/>
          </a:prstGeom>
          <a:noFill/>
          <a:ln w="10160">
            <a:solidFill>
              <a:srgbClr val="2E2B1E"/>
            </a:solidFill>
            <a:prstDash val="solid"/>
          </a:ln>
        </p:spPr>
      </p:sp>
      <p:sp>
        <p:nvSpPr>
          <p:cNvPr id="12" name="Text 10"/>
          <p:cNvSpPr/>
          <p:nvPr/>
        </p:nvSpPr>
        <p:spPr>
          <a:xfrm>
            <a:off x="420624" y="2267712"/>
            <a:ext cx="2395728" cy="1042416"/>
          </a:xfrm>
          <a:prstGeom prst="rect">
            <a:avLst/>
          </a:prstGeom>
          <a:noFill/>
          <a:ln/>
        </p:spPr>
        <p:txBody>
          <a:bodyPr wrap="square" lIns="0" tIns="0" rIns="0" bIns="0" rtlCol="0" anchor="ctr"/>
          <a:lstStyle/>
          <a:p>
            <a:pPr marL="0" indent="0" algn="l">
              <a:buNone/>
            </a:pPr>
            <a:r>
              <a:rPr lang="en-US" sz="950" i="1" dirty="0">
                <a:solidFill>
                  <a:srgbClr val="C5BDB0"/>
                </a:solidFill>
                <a:latin typeface="Calibri" pitchFamily="34" charset="0"/>
                <a:ea typeface="Calibri" pitchFamily="34" charset="-122"/>
                <a:cs typeface="Calibri" pitchFamily="34" charset="-120"/>
              </a:rPr>
              <a:t>Full application layout and design system built from scratch using Streamlit and custom CSS/JS. Every component — sidebar, Write Zone, Book Viewer, Workshop, Compass — designed and implemented.</a:t>
            </a:r>
            <a:endParaRPr lang="en-US" sz="950" dirty="0"/>
          </a:p>
        </p:txBody>
      </p:sp>
      <p:sp>
        <p:nvSpPr>
          <p:cNvPr id="13" name="Shape 11"/>
          <p:cNvSpPr/>
          <p:nvPr/>
        </p:nvSpPr>
        <p:spPr>
          <a:xfrm>
            <a:off x="420624" y="3346704"/>
            <a:ext cx="2194560" cy="0"/>
          </a:xfrm>
          <a:prstGeom prst="line">
            <a:avLst/>
          </a:prstGeom>
          <a:noFill/>
          <a:ln w="7620">
            <a:solidFill>
              <a:srgbClr val="2E2B1E"/>
            </a:solidFill>
            <a:prstDash val="solid"/>
          </a:ln>
        </p:spPr>
      </p:sp>
      <p:sp>
        <p:nvSpPr>
          <p:cNvPr id="14" name="Text 12"/>
          <p:cNvSpPr/>
          <p:nvPr/>
        </p:nvSpPr>
        <p:spPr>
          <a:xfrm>
            <a:off x="420624" y="341985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Multi-page Streamlit layout with sidebar navigation</a:t>
            </a:r>
            <a:endParaRPr lang="en-US" sz="900" dirty="0"/>
          </a:p>
        </p:txBody>
      </p:sp>
      <p:sp>
        <p:nvSpPr>
          <p:cNvPr id="15" name="Text 13"/>
          <p:cNvSpPr/>
          <p:nvPr/>
        </p:nvSpPr>
        <p:spPr>
          <a:xfrm>
            <a:off x="420624" y="3675888"/>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Custom ink / cream / gold design system</a:t>
            </a:r>
            <a:endParaRPr lang="en-US" sz="900" dirty="0"/>
          </a:p>
        </p:txBody>
      </p:sp>
      <p:sp>
        <p:nvSpPr>
          <p:cNvPr id="16" name="Text 14"/>
          <p:cNvSpPr/>
          <p:nvPr/>
        </p:nvSpPr>
        <p:spPr>
          <a:xfrm>
            <a:off x="420624" y="3931920"/>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Dual-page book viewer with JS pagination</a:t>
            </a:r>
            <a:endParaRPr lang="en-US" sz="900" dirty="0"/>
          </a:p>
        </p:txBody>
      </p:sp>
      <p:sp>
        <p:nvSpPr>
          <p:cNvPr id="17" name="Text 15"/>
          <p:cNvSpPr/>
          <p:nvPr/>
        </p:nvSpPr>
        <p:spPr>
          <a:xfrm>
            <a:off x="420624" y="4187952"/>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A5 PDF export via ReportLab</a:t>
            </a:r>
            <a:endParaRPr lang="en-US" sz="900" dirty="0"/>
          </a:p>
        </p:txBody>
      </p:sp>
      <p:sp>
        <p:nvSpPr>
          <p:cNvPr id="18" name="Text 16"/>
          <p:cNvSpPr/>
          <p:nvPr/>
        </p:nvSpPr>
        <p:spPr>
          <a:xfrm>
            <a:off x="420624" y="4443984"/>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Per-user story history with search &amp; pin</a:t>
            </a:r>
            <a:endParaRPr lang="en-US" sz="900" dirty="0"/>
          </a:p>
        </p:txBody>
      </p:sp>
      <p:sp>
        <p:nvSpPr>
          <p:cNvPr id="19" name="Text 17"/>
          <p:cNvSpPr/>
          <p:nvPr/>
        </p:nvSpPr>
        <p:spPr>
          <a:xfrm>
            <a:off x="420624" y="470001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SHA-256 authentication and session management</a:t>
            </a:r>
            <a:endParaRPr lang="en-US" sz="900" dirty="0"/>
          </a:p>
        </p:txBody>
      </p:sp>
      <p:sp>
        <p:nvSpPr>
          <p:cNvPr id="20" name="Shape 18"/>
          <p:cNvSpPr/>
          <p:nvPr/>
        </p:nvSpPr>
        <p:spPr>
          <a:xfrm>
            <a:off x="3154680" y="1078992"/>
            <a:ext cx="2715768" cy="3886200"/>
          </a:xfrm>
          <a:prstGeom prst="rect">
            <a:avLst/>
          </a:prstGeom>
          <a:solidFill>
            <a:srgbClr val="1A1810"/>
          </a:solidFill>
          <a:ln w="12700">
            <a:solidFill>
              <a:srgbClr val="B8860B"/>
            </a:solidFill>
            <a:prstDash val="solid"/>
          </a:ln>
          <a:effectLst>
            <a:outerShdw blurRad="127000" dist="50800" dir="8100000" algn="bl" rotWithShape="0">
              <a:srgbClr val="000000">
                <a:alpha val="22000"/>
              </a:srgbClr>
            </a:outerShdw>
          </a:effectLst>
        </p:spPr>
      </p:sp>
      <p:sp>
        <p:nvSpPr>
          <p:cNvPr id="21" name="Shape 19"/>
          <p:cNvSpPr/>
          <p:nvPr/>
        </p:nvSpPr>
        <p:spPr>
          <a:xfrm>
            <a:off x="3154680" y="1078992"/>
            <a:ext cx="2715768" cy="64008"/>
          </a:xfrm>
          <a:prstGeom prst="rect">
            <a:avLst/>
          </a:prstGeom>
          <a:solidFill>
            <a:srgbClr val="B8860B"/>
          </a:solidFill>
          <a:ln w="12700">
            <a:solidFill>
              <a:srgbClr val="333333"/>
            </a:solidFill>
            <a:prstDash val="solid"/>
          </a:ln>
        </p:spPr>
      </p:sp>
      <p:sp>
        <p:nvSpPr>
          <p:cNvPr id="22" name="Shape 20"/>
          <p:cNvSpPr/>
          <p:nvPr/>
        </p:nvSpPr>
        <p:spPr>
          <a:xfrm>
            <a:off x="3319272" y="1207008"/>
            <a:ext cx="2395728" cy="246888"/>
          </a:xfrm>
          <a:prstGeom prst="rect">
            <a:avLst/>
          </a:prstGeom>
          <a:solidFill>
            <a:srgbClr val="1A301A"/>
          </a:solidFill>
          <a:ln w="8890">
            <a:solidFill>
              <a:srgbClr val="4CAF50"/>
            </a:solidFill>
            <a:prstDash val="solid"/>
          </a:ln>
        </p:spPr>
      </p:sp>
      <p:sp>
        <p:nvSpPr>
          <p:cNvPr id="23" name="Text 21"/>
          <p:cNvSpPr/>
          <p:nvPr/>
        </p:nvSpPr>
        <p:spPr>
          <a:xfrm>
            <a:off x="3319272" y="1207008"/>
            <a:ext cx="2395728" cy="246888"/>
          </a:xfrm>
          <a:prstGeom prst="rect">
            <a:avLst/>
          </a:prstGeom>
          <a:noFill/>
          <a:ln/>
        </p:spPr>
        <p:txBody>
          <a:bodyPr wrap="square" lIns="0" tIns="0" rIns="0" bIns="0" rtlCol="0" anchor="ctr"/>
          <a:lstStyle/>
          <a:p>
            <a:pPr marL="0" indent="0" algn="ctr">
              <a:buNone/>
            </a:pPr>
            <a:r>
              <a:rPr lang="en-US" sz="900" b="1" kern="0" spc="100" dirty="0">
                <a:solidFill>
                  <a:srgbClr val="4CAF50"/>
                </a:solidFill>
                <a:latin typeface="Calibri" pitchFamily="34" charset="0"/>
                <a:ea typeface="Calibri" pitchFamily="34" charset="-122"/>
                <a:cs typeface="Calibri" pitchFamily="34" charset="-120"/>
              </a:rPr>
              <a:t>✔  COMPLETE</a:t>
            </a:r>
            <a:endParaRPr lang="en-US" sz="900" dirty="0"/>
          </a:p>
        </p:txBody>
      </p:sp>
      <p:sp>
        <p:nvSpPr>
          <p:cNvPr id="24" name="Text 22"/>
          <p:cNvSpPr/>
          <p:nvPr/>
        </p:nvSpPr>
        <p:spPr>
          <a:xfrm>
            <a:off x="3319272" y="1536192"/>
            <a:ext cx="2395728" cy="237744"/>
          </a:xfrm>
          <a:prstGeom prst="rect">
            <a:avLst/>
          </a:prstGeom>
          <a:noFill/>
          <a:ln/>
        </p:spPr>
        <p:txBody>
          <a:bodyPr wrap="square" lIns="0" tIns="0" rIns="0" bIns="0" rtlCol="0" anchor="ctr"/>
          <a:lstStyle/>
          <a:p>
            <a:pPr marL="0" indent="0" algn="l">
              <a:buNone/>
            </a:pPr>
            <a:r>
              <a:rPr lang="en-US" sz="950" b="1" kern="0" spc="100" dirty="0">
                <a:solidFill>
                  <a:srgbClr val="B8860B"/>
                </a:solidFill>
                <a:latin typeface="Calibri" pitchFamily="34" charset="0"/>
                <a:ea typeface="Calibri" pitchFamily="34" charset="-122"/>
                <a:cs typeface="Calibri" pitchFamily="34" charset="-120"/>
              </a:rPr>
              <a:t>Phase 2</a:t>
            </a:r>
            <a:endParaRPr lang="en-US" sz="950" dirty="0"/>
          </a:p>
        </p:txBody>
      </p:sp>
      <p:sp>
        <p:nvSpPr>
          <p:cNvPr id="25" name="Text 23"/>
          <p:cNvSpPr/>
          <p:nvPr/>
        </p:nvSpPr>
        <p:spPr>
          <a:xfrm>
            <a:off x="3319272" y="1773936"/>
            <a:ext cx="2395728"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Georgia" pitchFamily="34" charset="0"/>
                <a:ea typeface="Georgia" pitchFamily="34" charset="-122"/>
                <a:cs typeface="Georgia" pitchFamily="34" charset="-120"/>
              </a:rPr>
              <a:t>LLM Integration</a:t>
            </a:r>
            <a:endParaRPr lang="en-US" sz="1800" dirty="0"/>
          </a:p>
        </p:txBody>
      </p:sp>
      <p:sp>
        <p:nvSpPr>
          <p:cNvPr id="26" name="Shape 24"/>
          <p:cNvSpPr/>
          <p:nvPr/>
        </p:nvSpPr>
        <p:spPr>
          <a:xfrm>
            <a:off x="3319272" y="2194560"/>
            <a:ext cx="2194560" cy="0"/>
          </a:xfrm>
          <a:prstGeom prst="line">
            <a:avLst/>
          </a:prstGeom>
          <a:noFill/>
          <a:ln w="10160">
            <a:solidFill>
              <a:srgbClr val="2E2B1E"/>
            </a:solidFill>
            <a:prstDash val="solid"/>
          </a:ln>
        </p:spPr>
      </p:sp>
      <p:sp>
        <p:nvSpPr>
          <p:cNvPr id="27" name="Text 25"/>
          <p:cNvSpPr/>
          <p:nvPr/>
        </p:nvSpPr>
        <p:spPr>
          <a:xfrm>
            <a:off x="3319272" y="2267712"/>
            <a:ext cx="2395728" cy="1042416"/>
          </a:xfrm>
          <a:prstGeom prst="rect">
            <a:avLst/>
          </a:prstGeom>
          <a:noFill/>
          <a:ln/>
        </p:spPr>
        <p:txBody>
          <a:bodyPr wrap="square" lIns="0" tIns="0" rIns="0" bIns="0" rtlCol="0" anchor="ctr"/>
          <a:lstStyle/>
          <a:p>
            <a:pPr marL="0" indent="0" algn="l">
              <a:buNone/>
            </a:pPr>
            <a:r>
              <a:rPr lang="en-US" sz="950" i="1" dirty="0">
                <a:solidFill>
                  <a:srgbClr val="C5BDB0"/>
                </a:solidFill>
                <a:latin typeface="Calibri" pitchFamily="34" charset="0"/>
                <a:ea typeface="Calibri" pitchFamily="34" charset="-122"/>
                <a:cs typeface="Calibri" pitchFamily="34" charset="-120"/>
              </a:rPr>
              <a:t>Full Ollama integration with live streaming inference. The story engine encodes genre, tone, POV, mood, characters, and world context into every prompt. 6 Workshop tools and the Story Compass were added.</a:t>
            </a:r>
            <a:endParaRPr lang="en-US" sz="950" dirty="0"/>
          </a:p>
        </p:txBody>
      </p:sp>
      <p:sp>
        <p:nvSpPr>
          <p:cNvPr id="28" name="Shape 26"/>
          <p:cNvSpPr/>
          <p:nvPr/>
        </p:nvSpPr>
        <p:spPr>
          <a:xfrm>
            <a:off x="3319272" y="3346704"/>
            <a:ext cx="2194560" cy="0"/>
          </a:xfrm>
          <a:prstGeom prst="line">
            <a:avLst/>
          </a:prstGeom>
          <a:noFill/>
          <a:ln w="7620">
            <a:solidFill>
              <a:srgbClr val="2E2B1E"/>
            </a:solidFill>
            <a:prstDash val="solid"/>
          </a:ln>
        </p:spPr>
      </p:sp>
      <p:sp>
        <p:nvSpPr>
          <p:cNvPr id="29" name="Text 27"/>
          <p:cNvSpPr/>
          <p:nvPr/>
        </p:nvSpPr>
        <p:spPr>
          <a:xfrm>
            <a:off x="3319272" y="341985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Ollama HTTP API with llama3 / qwen2.5</a:t>
            </a:r>
            <a:endParaRPr lang="en-US" sz="900" dirty="0"/>
          </a:p>
        </p:txBody>
      </p:sp>
      <p:sp>
        <p:nvSpPr>
          <p:cNvPr id="30" name="Text 28"/>
          <p:cNvSpPr/>
          <p:nvPr/>
        </p:nvSpPr>
        <p:spPr>
          <a:xfrm>
            <a:off x="3319272" y="3675888"/>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Live NDJSON streaming via Streamlit placeholders</a:t>
            </a:r>
            <a:endParaRPr lang="en-US" sz="900" dirty="0"/>
          </a:p>
        </p:txBody>
      </p:sp>
      <p:sp>
        <p:nvSpPr>
          <p:cNvPr id="31" name="Text 29"/>
          <p:cNvSpPr/>
          <p:nvPr/>
        </p:nvSpPr>
        <p:spPr>
          <a:xfrm>
            <a:off x="3319272" y="3931920"/>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10-action prompt engineering system</a:t>
            </a:r>
            <a:endParaRPr lang="en-US" sz="900" dirty="0"/>
          </a:p>
        </p:txBody>
      </p:sp>
      <p:sp>
        <p:nvSpPr>
          <p:cNvPr id="32" name="Text 30"/>
          <p:cNvSpPr/>
          <p:nvPr/>
        </p:nvSpPr>
        <p:spPr>
          <a:xfrm>
            <a:off x="3319272" y="4187952"/>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Auto character &amp; world extraction (secondary AI call)</a:t>
            </a:r>
            <a:endParaRPr lang="en-US" sz="900" dirty="0"/>
          </a:p>
        </p:txBody>
      </p:sp>
      <p:sp>
        <p:nvSpPr>
          <p:cNvPr id="33" name="Text 31"/>
          <p:cNvSpPr/>
          <p:nvPr/>
        </p:nvSpPr>
        <p:spPr>
          <a:xfrm>
            <a:off x="3319272" y="4443984"/>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6 Author's Workshop tools with dedicated prompts</a:t>
            </a:r>
            <a:endParaRPr lang="en-US" sz="900" dirty="0"/>
          </a:p>
        </p:txBody>
      </p:sp>
      <p:sp>
        <p:nvSpPr>
          <p:cNvPr id="34" name="Text 32"/>
          <p:cNvSpPr/>
          <p:nvPr/>
        </p:nvSpPr>
        <p:spPr>
          <a:xfrm>
            <a:off x="3319272" y="470001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Story Compass with 8 quick-craft AI shortcuts</a:t>
            </a:r>
            <a:endParaRPr lang="en-US" sz="900" dirty="0"/>
          </a:p>
        </p:txBody>
      </p:sp>
      <p:sp>
        <p:nvSpPr>
          <p:cNvPr id="35" name="Shape 33"/>
          <p:cNvSpPr/>
          <p:nvPr/>
        </p:nvSpPr>
        <p:spPr>
          <a:xfrm>
            <a:off x="6053328" y="1078992"/>
            <a:ext cx="2715768" cy="3886200"/>
          </a:xfrm>
          <a:prstGeom prst="rect">
            <a:avLst/>
          </a:prstGeom>
          <a:solidFill>
            <a:srgbClr val="1A1810"/>
          </a:solidFill>
          <a:ln w="12700">
            <a:solidFill>
              <a:srgbClr val="B8860B"/>
            </a:solidFill>
            <a:prstDash val="solid"/>
          </a:ln>
          <a:effectLst>
            <a:outerShdw blurRad="127000" dist="50800" dir="8100000" algn="bl" rotWithShape="0">
              <a:srgbClr val="000000">
                <a:alpha val="22000"/>
              </a:srgbClr>
            </a:outerShdw>
          </a:effectLst>
        </p:spPr>
      </p:sp>
      <p:sp>
        <p:nvSpPr>
          <p:cNvPr id="36" name="Shape 34"/>
          <p:cNvSpPr/>
          <p:nvPr/>
        </p:nvSpPr>
        <p:spPr>
          <a:xfrm>
            <a:off x="6053328" y="1078992"/>
            <a:ext cx="2715768" cy="64008"/>
          </a:xfrm>
          <a:prstGeom prst="rect">
            <a:avLst/>
          </a:prstGeom>
          <a:solidFill>
            <a:srgbClr val="B8860B"/>
          </a:solidFill>
          <a:ln w="12700">
            <a:solidFill>
              <a:srgbClr val="333333"/>
            </a:solidFill>
            <a:prstDash val="solid"/>
          </a:ln>
        </p:spPr>
      </p:sp>
      <p:sp>
        <p:nvSpPr>
          <p:cNvPr id="37" name="Shape 35"/>
          <p:cNvSpPr/>
          <p:nvPr/>
        </p:nvSpPr>
        <p:spPr>
          <a:xfrm>
            <a:off x="6217920" y="1207008"/>
            <a:ext cx="2395728" cy="246888"/>
          </a:xfrm>
          <a:prstGeom prst="rect">
            <a:avLst/>
          </a:prstGeom>
          <a:solidFill>
            <a:srgbClr val="1A301A"/>
          </a:solidFill>
          <a:ln w="8890">
            <a:solidFill>
              <a:srgbClr val="4CAF50"/>
            </a:solidFill>
            <a:prstDash val="solid"/>
          </a:ln>
        </p:spPr>
      </p:sp>
      <p:sp>
        <p:nvSpPr>
          <p:cNvPr id="38" name="Text 36"/>
          <p:cNvSpPr/>
          <p:nvPr/>
        </p:nvSpPr>
        <p:spPr>
          <a:xfrm>
            <a:off x="6217920" y="1207008"/>
            <a:ext cx="2395728" cy="246888"/>
          </a:xfrm>
          <a:prstGeom prst="rect">
            <a:avLst/>
          </a:prstGeom>
          <a:noFill/>
          <a:ln/>
        </p:spPr>
        <p:txBody>
          <a:bodyPr wrap="square" lIns="0" tIns="0" rIns="0" bIns="0" rtlCol="0" anchor="ctr"/>
          <a:lstStyle/>
          <a:p>
            <a:pPr marL="0" indent="0" algn="ctr">
              <a:buNone/>
            </a:pPr>
            <a:r>
              <a:rPr lang="en-US" sz="900" b="1" kern="0" spc="100" dirty="0">
                <a:solidFill>
                  <a:srgbClr val="4CAF50"/>
                </a:solidFill>
                <a:latin typeface="Calibri" pitchFamily="34" charset="0"/>
                <a:ea typeface="Calibri" pitchFamily="34" charset="-122"/>
                <a:cs typeface="Calibri" pitchFamily="34" charset="-120"/>
              </a:rPr>
              <a:t>✔  COMPLETE</a:t>
            </a:r>
            <a:endParaRPr lang="en-US" sz="900" dirty="0"/>
          </a:p>
        </p:txBody>
      </p:sp>
      <p:sp>
        <p:nvSpPr>
          <p:cNvPr id="39" name="Text 37"/>
          <p:cNvSpPr/>
          <p:nvPr/>
        </p:nvSpPr>
        <p:spPr>
          <a:xfrm>
            <a:off x="6217920" y="1536192"/>
            <a:ext cx="2395728" cy="237744"/>
          </a:xfrm>
          <a:prstGeom prst="rect">
            <a:avLst/>
          </a:prstGeom>
          <a:noFill/>
          <a:ln/>
        </p:spPr>
        <p:txBody>
          <a:bodyPr wrap="square" lIns="0" tIns="0" rIns="0" bIns="0" rtlCol="0" anchor="ctr"/>
          <a:lstStyle/>
          <a:p>
            <a:pPr marL="0" indent="0" algn="l">
              <a:buNone/>
            </a:pPr>
            <a:r>
              <a:rPr lang="en-US" sz="950" b="1" kern="0" spc="100" dirty="0">
                <a:solidFill>
                  <a:srgbClr val="B8860B"/>
                </a:solidFill>
                <a:latin typeface="Calibri" pitchFamily="34" charset="0"/>
                <a:ea typeface="Calibri" pitchFamily="34" charset="-122"/>
                <a:cs typeface="Calibri" pitchFamily="34" charset="-120"/>
              </a:rPr>
              <a:t>Phase 3</a:t>
            </a:r>
            <a:endParaRPr lang="en-US" sz="950" dirty="0"/>
          </a:p>
        </p:txBody>
      </p:sp>
      <p:sp>
        <p:nvSpPr>
          <p:cNvPr id="40" name="Text 38"/>
          <p:cNvSpPr/>
          <p:nvPr/>
        </p:nvSpPr>
        <p:spPr>
          <a:xfrm>
            <a:off x="6217920" y="1773936"/>
            <a:ext cx="2395728" cy="384048"/>
          </a:xfrm>
          <a:prstGeom prst="rect">
            <a:avLst/>
          </a:prstGeom>
          <a:noFill/>
          <a:ln/>
        </p:spPr>
        <p:txBody>
          <a:bodyPr wrap="square" lIns="0" tIns="0" rIns="0" bIns="0" rtlCol="0" anchor="ctr"/>
          <a:lstStyle/>
          <a:p>
            <a:pPr marL="0" indent="0" algn="l">
              <a:buNone/>
            </a:pPr>
            <a:r>
              <a:rPr lang="en-US" sz="1800" b="1" dirty="0">
                <a:solidFill>
                  <a:srgbClr val="FFFFFF"/>
                </a:solidFill>
                <a:latin typeface="Georgia" pitchFamily="34" charset="0"/>
                <a:ea typeface="Georgia" pitchFamily="34" charset="-122"/>
                <a:cs typeface="Georgia" pitchFamily="34" charset="-120"/>
              </a:rPr>
              <a:t>Guardrails &amp; Safety</a:t>
            </a:r>
            <a:endParaRPr lang="en-US" sz="1800" dirty="0"/>
          </a:p>
        </p:txBody>
      </p:sp>
      <p:sp>
        <p:nvSpPr>
          <p:cNvPr id="41" name="Shape 39"/>
          <p:cNvSpPr/>
          <p:nvPr/>
        </p:nvSpPr>
        <p:spPr>
          <a:xfrm>
            <a:off x="6217920" y="2194560"/>
            <a:ext cx="2194560" cy="0"/>
          </a:xfrm>
          <a:prstGeom prst="line">
            <a:avLst/>
          </a:prstGeom>
          <a:noFill/>
          <a:ln w="10160">
            <a:solidFill>
              <a:srgbClr val="2E2B1E"/>
            </a:solidFill>
            <a:prstDash val="solid"/>
          </a:ln>
        </p:spPr>
      </p:sp>
      <p:sp>
        <p:nvSpPr>
          <p:cNvPr id="42" name="Text 40"/>
          <p:cNvSpPr/>
          <p:nvPr/>
        </p:nvSpPr>
        <p:spPr>
          <a:xfrm>
            <a:off x="6217920" y="2267712"/>
            <a:ext cx="2395728" cy="1042416"/>
          </a:xfrm>
          <a:prstGeom prst="rect">
            <a:avLst/>
          </a:prstGeom>
          <a:noFill/>
          <a:ln/>
        </p:spPr>
        <p:txBody>
          <a:bodyPr wrap="square" lIns="0" tIns="0" rIns="0" bIns="0" rtlCol="0" anchor="ctr"/>
          <a:lstStyle/>
          <a:p>
            <a:pPr marL="0" indent="0" algn="l">
              <a:buNone/>
            </a:pPr>
            <a:r>
              <a:rPr lang="en-US" sz="950" i="1" dirty="0">
                <a:solidFill>
                  <a:srgbClr val="C5BDB0"/>
                </a:solidFill>
                <a:latin typeface="Calibri" pitchFamily="34" charset="0"/>
                <a:ea typeface="Calibri" pitchFamily="34" charset="-122"/>
                <a:cs typeface="Calibri" pitchFamily="34" charset="-120"/>
              </a:rPr>
              <a:t>A guardrail layer in story_engine.py intercepts off-topic queries and redirects them with an in-character refusal — ensuring the AI stays focused on creative writing regardless of what the user sends.</a:t>
            </a:r>
            <a:endParaRPr lang="en-US" sz="950" dirty="0"/>
          </a:p>
        </p:txBody>
      </p:sp>
      <p:sp>
        <p:nvSpPr>
          <p:cNvPr id="43" name="Shape 41"/>
          <p:cNvSpPr/>
          <p:nvPr/>
        </p:nvSpPr>
        <p:spPr>
          <a:xfrm>
            <a:off x="6217920" y="3346704"/>
            <a:ext cx="2194560" cy="0"/>
          </a:xfrm>
          <a:prstGeom prst="line">
            <a:avLst/>
          </a:prstGeom>
          <a:noFill/>
          <a:ln w="7620">
            <a:solidFill>
              <a:srgbClr val="2E2B1E"/>
            </a:solidFill>
            <a:prstDash val="solid"/>
          </a:ln>
        </p:spPr>
      </p:sp>
      <p:sp>
        <p:nvSpPr>
          <p:cNvPr id="44" name="Text 42"/>
          <p:cNvSpPr/>
          <p:nvPr/>
        </p:nvSpPr>
        <p:spPr>
          <a:xfrm>
            <a:off x="6217920" y="341985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Intent classifier in story_engine.py prompt layer</a:t>
            </a:r>
            <a:endParaRPr lang="en-US" sz="900" dirty="0"/>
          </a:p>
        </p:txBody>
      </p:sp>
      <p:sp>
        <p:nvSpPr>
          <p:cNvPr id="45" name="Text 43"/>
          <p:cNvSpPr/>
          <p:nvPr/>
        </p:nvSpPr>
        <p:spPr>
          <a:xfrm>
            <a:off x="6217920" y="3675888"/>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Off-topic detection: coding, CVs, general knowledge</a:t>
            </a:r>
            <a:endParaRPr lang="en-US" sz="900" dirty="0"/>
          </a:p>
        </p:txBody>
      </p:sp>
      <p:sp>
        <p:nvSpPr>
          <p:cNvPr id="46" name="Text 44"/>
          <p:cNvSpPr/>
          <p:nvPr/>
        </p:nvSpPr>
        <p:spPr>
          <a:xfrm>
            <a:off x="6217920" y="3931920"/>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In-character refusal keeps user immersed in story</a:t>
            </a:r>
            <a:endParaRPr lang="en-US" sz="900" dirty="0"/>
          </a:p>
        </p:txBody>
      </p:sp>
      <p:sp>
        <p:nvSpPr>
          <p:cNvPr id="47" name="Text 45"/>
          <p:cNvSpPr/>
          <p:nvPr/>
        </p:nvSpPr>
        <p:spPr>
          <a:xfrm>
            <a:off x="6217920" y="4187952"/>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Zero impact on legitimate story generation quality</a:t>
            </a:r>
            <a:endParaRPr lang="en-US" sz="900" dirty="0"/>
          </a:p>
        </p:txBody>
      </p:sp>
      <p:sp>
        <p:nvSpPr>
          <p:cNvPr id="48" name="Text 46"/>
          <p:cNvSpPr/>
          <p:nvPr/>
        </p:nvSpPr>
        <p:spPr>
          <a:xfrm>
            <a:off x="6217920" y="4443984"/>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Tested across 50+ off-topic prompt categories</a:t>
            </a:r>
            <a:endParaRPr lang="en-US" sz="900" dirty="0"/>
          </a:p>
        </p:txBody>
      </p:sp>
      <p:sp>
        <p:nvSpPr>
          <p:cNvPr id="49" name="Text 47"/>
          <p:cNvSpPr/>
          <p:nvPr/>
        </p:nvSpPr>
        <p:spPr>
          <a:xfrm>
            <a:off x="6217920" y="4700016"/>
            <a:ext cx="2395728" cy="237744"/>
          </a:xfrm>
          <a:prstGeom prst="rect">
            <a:avLst/>
          </a:prstGeom>
          <a:noFill/>
          <a:ln/>
        </p:spPr>
        <p:txBody>
          <a:bodyPr wrap="square" lIns="0" tIns="0" rIns="0" bIns="0" rtlCol="0" anchor="ctr"/>
          <a:lstStyle/>
          <a:p>
            <a:pPr marL="0" indent="0" algn="l">
              <a:buNone/>
            </a:pPr>
            <a:r>
              <a:rPr lang="en-US" sz="900" dirty="0">
                <a:solidFill>
                  <a:srgbClr val="8A8470"/>
                </a:solidFill>
                <a:latin typeface="Calibri" pitchFamily="34" charset="0"/>
                <a:ea typeface="Calibri" pitchFamily="34" charset="-122"/>
                <a:cs typeface="Calibri" pitchFamily="34" charset="-120"/>
              </a:rPr>
              <a:t>— Responsible AI behaviour without breaking immersion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C07"/>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B8860B"/>
          </a:solidFill>
          <a:ln/>
        </p:spPr>
      </p:sp>
      <p:sp>
        <p:nvSpPr>
          <p:cNvPr id="3" name="Shape 1"/>
          <p:cNvSpPr/>
          <p:nvPr/>
        </p:nvSpPr>
        <p:spPr>
          <a:xfrm>
            <a:off x="6035040" y="0"/>
            <a:ext cx="3108960" cy="5143500"/>
          </a:xfrm>
          <a:prstGeom prst="rect">
            <a:avLst/>
          </a:prstGeom>
          <a:solidFill>
            <a:srgbClr val="1A1810"/>
          </a:solidFill>
          <a:ln/>
        </p:spPr>
      </p:sp>
      <p:sp>
        <p:nvSpPr>
          <p:cNvPr id="4" name="Shape 2"/>
          <p:cNvSpPr/>
          <p:nvPr/>
        </p:nvSpPr>
        <p:spPr>
          <a:xfrm>
            <a:off x="6035040" y="0"/>
            <a:ext cx="45720" cy="5143500"/>
          </a:xfrm>
          <a:prstGeom prst="rect">
            <a:avLst/>
          </a:prstGeom>
          <a:solidFill>
            <a:srgbClr val="B8860B"/>
          </a:solidFill>
          <a:ln/>
        </p:spPr>
      </p:sp>
      <p:sp>
        <p:nvSpPr>
          <p:cNvPr id="5" name="Text 3"/>
          <p:cNvSpPr/>
          <p:nvPr/>
        </p:nvSpPr>
        <p:spPr>
          <a:xfrm>
            <a:off x="384048" y="822960"/>
            <a:ext cx="5394960" cy="1143000"/>
          </a:xfrm>
          <a:prstGeom prst="rect">
            <a:avLst/>
          </a:prstGeom>
          <a:noFill/>
          <a:ln/>
        </p:spPr>
        <p:txBody>
          <a:bodyPr wrap="square" lIns="0" tIns="0" rIns="0" bIns="0" rtlCol="0" anchor="ctr"/>
          <a:lstStyle/>
          <a:p>
            <a:pPr marL="0" indent="0" algn="l">
              <a:buNone/>
            </a:pPr>
            <a:r>
              <a:rPr lang="en-US" sz="6200" b="1" i="1" dirty="0">
                <a:solidFill>
                  <a:srgbClr val="FFFFFF"/>
                </a:solidFill>
                <a:latin typeface="Georgia" pitchFamily="34" charset="0"/>
                <a:ea typeface="Georgia" pitchFamily="34" charset="-122"/>
                <a:cs typeface="Georgia" pitchFamily="34" charset="-120"/>
              </a:rPr>
              <a:t>Thank You</a:t>
            </a:r>
            <a:endParaRPr lang="en-US" sz="6200" dirty="0"/>
          </a:p>
        </p:txBody>
      </p:sp>
      <p:sp>
        <p:nvSpPr>
          <p:cNvPr id="6" name="Shape 4"/>
          <p:cNvSpPr/>
          <p:nvPr/>
        </p:nvSpPr>
        <p:spPr>
          <a:xfrm>
            <a:off x="384048" y="2029968"/>
            <a:ext cx="5394960" cy="0"/>
          </a:xfrm>
          <a:prstGeom prst="line">
            <a:avLst/>
          </a:prstGeom>
          <a:noFill/>
          <a:ln w="22860">
            <a:solidFill>
              <a:srgbClr val="B8860B"/>
            </a:solidFill>
            <a:prstDash val="solid"/>
          </a:ln>
        </p:spPr>
      </p:sp>
      <p:sp>
        <p:nvSpPr>
          <p:cNvPr id="7" name="Text 5"/>
          <p:cNvSpPr/>
          <p:nvPr/>
        </p:nvSpPr>
        <p:spPr>
          <a:xfrm>
            <a:off x="384048" y="2176272"/>
            <a:ext cx="5394960" cy="438912"/>
          </a:xfrm>
          <a:prstGeom prst="rect">
            <a:avLst/>
          </a:prstGeom>
          <a:noFill/>
          <a:ln/>
        </p:spPr>
        <p:txBody>
          <a:bodyPr wrap="square" lIns="0" tIns="0" rIns="0" bIns="0" rtlCol="0" anchor="ctr"/>
          <a:lstStyle/>
          <a:p>
            <a:pPr marL="0" indent="0" algn="l">
              <a:buNone/>
            </a:pPr>
            <a:r>
              <a:rPr lang="en-US" sz="2100" i="1" dirty="0">
                <a:solidFill>
                  <a:srgbClr val="D4A017"/>
                </a:solidFill>
                <a:latin typeface="Georgia" pitchFamily="34" charset="0"/>
                <a:ea typeface="Georgia" pitchFamily="34" charset="-122"/>
                <a:cs typeface="Georgia" pitchFamily="34" charset="-120"/>
              </a:rPr>
              <a:t>Narrative Flow — Story Co-Writer</a:t>
            </a:r>
            <a:endParaRPr lang="en-US" sz="2100" dirty="0"/>
          </a:p>
        </p:txBody>
      </p:sp>
      <p:sp>
        <p:nvSpPr>
          <p:cNvPr id="8" name="Text 6"/>
          <p:cNvSpPr/>
          <p:nvPr/>
        </p:nvSpPr>
        <p:spPr>
          <a:xfrm>
            <a:off x="384048" y="2651760"/>
            <a:ext cx="5394960" cy="310896"/>
          </a:xfrm>
          <a:prstGeom prst="rect">
            <a:avLst/>
          </a:prstGeom>
          <a:noFill/>
          <a:ln/>
        </p:spPr>
        <p:txBody>
          <a:bodyPr wrap="square" lIns="0" tIns="0" rIns="0" bIns="0" rtlCol="0" anchor="ctr"/>
          <a:lstStyle/>
          <a:p>
            <a:pPr marL="0" indent="0" algn="l">
              <a:buNone/>
            </a:pPr>
            <a:r>
              <a:rPr lang="en-US" sz="1200" dirty="0">
                <a:solidFill>
                  <a:srgbClr val="C5BDB0"/>
                </a:solidFill>
                <a:latin typeface="Calibri" pitchFamily="34" charset="0"/>
                <a:ea typeface="Calibri" pitchFamily="34" charset="-122"/>
                <a:cs typeface="Calibri" pitchFamily="34" charset="-120"/>
              </a:rPr>
              <a:t>Infosys Springboard  ·  AI-Powered Fiction Platform  ·  Phase 1–3 Complete</a:t>
            </a:r>
            <a:endParaRPr lang="en-US" sz="1200" dirty="0"/>
          </a:p>
        </p:txBody>
      </p:sp>
      <p:sp>
        <p:nvSpPr>
          <p:cNvPr id="9" name="Shape 7"/>
          <p:cNvSpPr/>
          <p:nvPr/>
        </p:nvSpPr>
        <p:spPr>
          <a:xfrm>
            <a:off x="384048" y="3054096"/>
            <a:ext cx="5394960" cy="0"/>
          </a:xfrm>
          <a:prstGeom prst="line">
            <a:avLst/>
          </a:prstGeom>
          <a:noFill/>
          <a:ln w="10160">
            <a:solidFill>
              <a:srgbClr val="2A2720"/>
            </a:solidFill>
            <a:prstDash val="solid"/>
          </a:ln>
        </p:spPr>
      </p:sp>
      <p:sp>
        <p:nvSpPr>
          <p:cNvPr id="10" name="Text 8"/>
          <p:cNvSpPr/>
          <p:nvPr/>
        </p:nvSpPr>
        <p:spPr>
          <a:xfrm>
            <a:off x="384048" y="3145536"/>
            <a:ext cx="4572000" cy="256032"/>
          </a:xfrm>
          <a:prstGeom prst="rect">
            <a:avLst/>
          </a:prstGeom>
          <a:noFill/>
          <a:ln/>
        </p:spPr>
        <p:txBody>
          <a:bodyPr wrap="square" lIns="0" tIns="0" rIns="0" bIns="0" rtlCol="0" anchor="ctr"/>
          <a:lstStyle/>
          <a:p>
            <a:pPr marL="0" indent="0" algn="l">
              <a:buNone/>
            </a:pPr>
            <a:r>
              <a:rPr lang="en-US" sz="900" b="1" kern="0" spc="250" dirty="0">
                <a:solidFill>
                  <a:srgbClr val="B8860B"/>
                </a:solidFill>
                <a:latin typeface="Calibri" pitchFamily="34" charset="0"/>
                <a:ea typeface="Calibri" pitchFamily="34" charset="-122"/>
                <a:cs typeface="Calibri" pitchFamily="34" charset="-120"/>
              </a:rPr>
              <a:t>THE TEAM</a:t>
            </a:r>
            <a:endParaRPr lang="en-US" sz="900" dirty="0"/>
          </a:p>
        </p:txBody>
      </p:sp>
      <p:sp>
        <p:nvSpPr>
          <p:cNvPr id="11" name="Text 9"/>
          <p:cNvSpPr/>
          <p:nvPr/>
        </p:nvSpPr>
        <p:spPr>
          <a:xfrm>
            <a:off x="384048" y="3456432"/>
            <a:ext cx="2560320" cy="256032"/>
          </a:xfrm>
          <a:prstGeom prst="rect">
            <a:avLst/>
          </a:prstGeom>
          <a:noFill/>
          <a:ln/>
        </p:spPr>
        <p:txBody>
          <a:bodyPr wrap="square" lIns="0" tIns="0" rIns="0" bIns="0" rtlCol="0" anchor="ctr"/>
          <a:lstStyle/>
          <a:p>
            <a:pPr marL="0" indent="0" algn="l">
              <a:buNone/>
            </a:pPr>
            <a:r>
              <a:rPr lang="en-US" sz="1150" dirty="0">
                <a:solidFill>
                  <a:schemeClr val="bg2">
                    <a:lumMod val="75000"/>
                  </a:schemeClr>
                </a:solidFill>
                <a:latin typeface="Calibri" pitchFamily="34" charset="0"/>
                <a:ea typeface="Calibri" pitchFamily="34" charset="-122"/>
                <a:cs typeface="Calibri" pitchFamily="34" charset="-120"/>
              </a:rPr>
              <a:t>— Subasri B </a:t>
            </a:r>
            <a:endParaRPr lang="en-US" sz="1150" dirty="0">
              <a:solidFill>
                <a:schemeClr val="bg2">
                  <a:lumMod val="75000"/>
                </a:schemeClr>
              </a:solidFill>
            </a:endParaRPr>
          </a:p>
        </p:txBody>
      </p:sp>
      <p:sp>
        <p:nvSpPr>
          <p:cNvPr id="12" name="Text 10"/>
          <p:cNvSpPr/>
          <p:nvPr/>
        </p:nvSpPr>
        <p:spPr>
          <a:xfrm>
            <a:off x="384048" y="3749040"/>
            <a:ext cx="2560320" cy="256032"/>
          </a:xfrm>
          <a:prstGeom prst="rect">
            <a:avLst/>
          </a:prstGeom>
          <a:noFill/>
          <a:ln/>
        </p:spPr>
        <p:txBody>
          <a:bodyPr wrap="square" lIns="0" tIns="0" rIns="0" bIns="0" rtlCol="0" anchor="ctr"/>
          <a:lstStyle/>
          <a:p>
            <a:pPr marL="0" indent="0" algn="l">
              <a:buNone/>
            </a:pPr>
            <a:r>
              <a:rPr lang="en-US" sz="1150" dirty="0">
                <a:solidFill>
                  <a:srgbClr val="C5BDB0"/>
                </a:solidFill>
                <a:latin typeface="Calibri" pitchFamily="34" charset="0"/>
                <a:ea typeface="Calibri" pitchFamily="34" charset="-122"/>
                <a:cs typeface="Calibri" pitchFamily="34" charset="-120"/>
              </a:rPr>
              <a:t>— Bhargavi </a:t>
            </a:r>
            <a:r>
              <a:rPr lang="en-US" sz="1150" dirty="0">
                <a:solidFill>
                  <a:schemeClr val="bg2">
                    <a:lumMod val="75000"/>
                  </a:schemeClr>
                </a:solidFill>
                <a:latin typeface="Calibri" pitchFamily="34" charset="0"/>
                <a:ea typeface="Calibri" pitchFamily="34" charset="-122"/>
                <a:cs typeface="Calibri" pitchFamily="34" charset="-120"/>
              </a:rPr>
              <a:t>Anakapalli</a:t>
            </a:r>
            <a:endParaRPr lang="en-US" sz="1150" dirty="0">
              <a:solidFill>
                <a:schemeClr val="bg2">
                  <a:lumMod val="75000"/>
                </a:schemeClr>
              </a:solidFill>
            </a:endParaRPr>
          </a:p>
        </p:txBody>
      </p:sp>
      <p:sp>
        <p:nvSpPr>
          <p:cNvPr id="13" name="Text 11"/>
          <p:cNvSpPr/>
          <p:nvPr/>
        </p:nvSpPr>
        <p:spPr>
          <a:xfrm>
            <a:off x="384048" y="4041648"/>
            <a:ext cx="2560320" cy="256032"/>
          </a:xfrm>
          <a:prstGeom prst="rect">
            <a:avLst/>
          </a:prstGeom>
          <a:noFill/>
          <a:ln/>
        </p:spPr>
        <p:txBody>
          <a:bodyPr wrap="square" lIns="0" tIns="0" rIns="0" bIns="0" rtlCol="0" anchor="ctr"/>
          <a:lstStyle/>
          <a:p>
            <a:pPr marL="0" indent="0" algn="l">
              <a:buNone/>
            </a:pPr>
            <a:r>
              <a:rPr lang="en-US" sz="1150" dirty="0">
                <a:solidFill>
                  <a:srgbClr val="C5BDB0"/>
                </a:solidFill>
                <a:latin typeface="Calibri" pitchFamily="34" charset="0"/>
                <a:ea typeface="Calibri" pitchFamily="34" charset="-122"/>
                <a:cs typeface="Calibri" pitchFamily="34" charset="-120"/>
              </a:rPr>
              <a:t>— Dharmeswaran</a:t>
            </a:r>
            <a:endParaRPr lang="en-US" sz="1150" dirty="0"/>
          </a:p>
        </p:txBody>
      </p:sp>
      <p:sp>
        <p:nvSpPr>
          <p:cNvPr id="14" name="Text 12"/>
          <p:cNvSpPr/>
          <p:nvPr/>
        </p:nvSpPr>
        <p:spPr>
          <a:xfrm>
            <a:off x="3035808" y="3456432"/>
            <a:ext cx="2560320" cy="256032"/>
          </a:xfrm>
          <a:prstGeom prst="rect">
            <a:avLst/>
          </a:prstGeom>
          <a:noFill/>
          <a:ln/>
        </p:spPr>
        <p:txBody>
          <a:bodyPr wrap="square" lIns="0" tIns="0" rIns="0" bIns="0" rtlCol="0" anchor="ctr"/>
          <a:lstStyle/>
          <a:p>
            <a:pPr marL="0" indent="0" algn="l">
              <a:buNone/>
            </a:pPr>
            <a:r>
              <a:rPr lang="en-US" sz="1150" dirty="0">
                <a:solidFill>
                  <a:srgbClr val="C5BDB0"/>
                </a:solidFill>
                <a:latin typeface="Calibri" pitchFamily="34" charset="0"/>
                <a:ea typeface="Calibri" pitchFamily="34" charset="-122"/>
                <a:cs typeface="Calibri" pitchFamily="34" charset="-120"/>
              </a:rPr>
              <a:t>— Nithya S</a:t>
            </a:r>
            <a:endParaRPr lang="en-US" sz="1150" dirty="0"/>
          </a:p>
        </p:txBody>
      </p:sp>
      <p:sp>
        <p:nvSpPr>
          <p:cNvPr id="15" name="Text 13"/>
          <p:cNvSpPr/>
          <p:nvPr/>
        </p:nvSpPr>
        <p:spPr>
          <a:xfrm>
            <a:off x="3035808" y="3749040"/>
            <a:ext cx="2560320" cy="256032"/>
          </a:xfrm>
          <a:prstGeom prst="rect">
            <a:avLst/>
          </a:prstGeom>
          <a:noFill/>
          <a:ln/>
        </p:spPr>
        <p:txBody>
          <a:bodyPr wrap="square" lIns="0" tIns="0" rIns="0" bIns="0" rtlCol="0" anchor="ctr"/>
          <a:lstStyle/>
          <a:p>
            <a:pPr marL="0" indent="0" algn="l">
              <a:buNone/>
            </a:pPr>
            <a:r>
              <a:rPr lang="en-US" sz="1150" dirty="0">
                <a:solidFill>
                  <a:srgbClr val="C5BDB0"/>
                </a:solidFill>
                <a:latin typeface="Calibri" pitchFamily="34" charset="0"/>
                <a:ea typeface="Calibri" pitchFamily="34" charset="-122"/>
                <a:cs typeface="Calibri" pitchFamily="34" charset="-120"/>
              </a:rPr>
              <a:t>— Ramya Jayaram</a:t>
            </a:r>
            <a:endParaRPr lang="en-US" sz="1150" dirty="0"/>
          </a:p>
        </p:txBody>
      </p:sp>
      <p:sp>
        <p:nvSpPr>
          <p:cNvPr id="16" name="Text 14"/>
          <p:cNvSpPr/>
          <p:nvPr/>
        </p:nvSpPr>
        <p:spPr>
          <a:xfrm>
            <a:off x="3035808" y="4041648"/>
            <a:ext cx="2560320" cy="256032"/>
          </a:xfrm>
          <a:prstGeom prst="rect">
            <a:avLst/>
          </a:prstGeom>
          <a:noFill/>
          <a:ln/>
        </p:spPr>
        <p:txBody>
          <a:bodyPr wrap="square" lIns="0" tIns="0" rIns="0" bIns="0" rtlCol="0" anchor="ctr"/>
          <a:lstStyle/>
          <a:p>
            <a:pPr marL="0" indent="0" algn="l">
              <a:buNone/>
            </a:pPr>
            <a:r>
              <a:rPr lang="en-US" sz="1150" dirty="0">
                <a:solidFill>
                  <a:srgbClr val="C5BDB0"/>
                </a:solidFill>
                <a:latin typeface="Calibri" pitchFamily="34" charset="0"/>
                <a:ea typeface="Calibri" pitchFamily="34" charset="-122"/>
                <a:cs typeface="Calibri" pitchFamily="34" charset="-120"/>
              </a:rPr>
              <a:t>— Sriharini</a:t>
            </a:r>
            <a:endParaRPr lang="en-US" sz="1150" dirty="0"/>
          </a:p>
        </p:txBody>
      </p:sp>
      <p:sp>
        <p:nvSpPr>
          <p:cNvPr id="17" name="Shape 15"/>
          <p:cNvSpPr/>
          <p:nvPr/>
        </p:nvSpPr>
        <p:spPr>
          <a:xfrm>
            <a:off x="384048" y="4553712"/>
            <a:ext cx="3108960" cy="457200"/>
          </a:xfrm>
          <a:prstGeom prst="rect">
            <a:avLst/>
          </a:prstGeom>
          <a:solidFill>
            <a:srgbClr val="B8860B"/>
          </a:solidFill>
          <a:ln w="12700">
            <a:solidFill>
              <a:srgbClr val="333333"/>
            </a:solidFill>
            <a:prstDash val="solid"/>
          </a:ln>
          <a:effectLst>
            <a:outerShdw blurRad="127000" dist="50800" dir="8100000" algn="bl" rotWithShape="0">
              <a:srgbClr val="000000">
                <a:alpha val="22000"/>
              </a:srgbClr>
            </a:outerShdw>
          </a:effectLst>
        </p:spPr>
      </p:sp>
      <p:sp>
        <p:nvSpPr>
          <p:cNvPr id="18" name="Text 16"/>
          <p:cNvSpPr/>
          <p:nvPr/>
        </p:nvSpPr>
        <p:spPr>
          <a:xfrm>
            <a:off x="384048" y="4553712"/>
            <a:ext cx="3108960" cy="457200"/>
          </a:xfrm>
          <a:prstGeom prst="rect">
            <a:avLst/>
          </a:prstGeom>
          <a:noFill/>
          <a:ln/>
        </p:spPr>
        <p:txBody>
          <a:bodyPr wrap="square" lIns="0" tIns="0" rIns="0" bIns="0" rtlCol="0" anchor="ctr"/>
          <a:lstStyle/>
          <a:p>
            <a:pPr marL="0" indent="0" algn="ctr">
              <a:buNone/>
            </a:pPr>
            <a:r>
              <a:rPr lang="en-US" sz="1400" b="1" dirty="0">
                <a:solidFill>
                  <a:srgbClr val="0E0C07"/>
                </a:solidFill>
                <a:latin typeface="Calibri" pitchFamily="34" charset="0"/>
                <a:ea typeface="Calibri" pitchFamily="34" charset="-122"/>
                <a:cs typeface="Calibri" pitchFamily="34" charset="-120"/>
              </a:rPr>
              <a:t>Questions &amp; Discussion</a:t>
            </a:r>
            <a:endParaRPr lang="en-US" sz="1400" dirty="0"/>
          </a:p>
        </p:txBody>
      </p:sp>
      <p:sp>
        <p:nvSpPr>
          <p:cNvPr id="19" name="Text 17"/>
          <p:cNvSpPr/>
          <p:nvPr/>
        </p:nvSpPr>
        <p:spPr>
          <a:xfrm>
            <a:off x="6144768" y="475488"/>
            <a:ext cx="2852928" cy="274320"/>
          </a:xfrm>
          <a:prstGeom prst="rect">
            <a:avLst/>
          </a:prstGeom>
          <a:noFill/>
          <a:ln/>
        </p:spPr>
        <p:txBody>
          <a:bodyPr wrap="square" lIns="0" tIns="0" rIns="0" bIns="0" rtlCol="0" anchor="ctr"/>
          <a:lstStyle/>
          <a:p>
            <a:pPr marL="0" indent="0" algn="ctr">
              <a:buNone/>
            </a:pPr>
            <a:r>
              <a:rPr lang="en-US" sz="900" b="1" kern="0" spc="250" dirty="0">
                <a:solidFill>
                  <a:srgbClr val="B8860B"/>
                </a:solidFill>
                <a:latin typeface="Calibri" pitchFamily="34" charset="0"/>
                <a:ea typeface="Calibri" pitchFamily="34" charset="-122"/>
                <a:cs typeface="Calibri" pitchFamily="34" charset="-120"/>
              </a:rPr>
              <a:t>BUILT WITH</a:t>
            </a:r>
            <a:endParaRPr lang="en-US" sz="900" dirty="0"/>
          </a:p>
        </p:txBody>
      </p:sp>
      <p:sp>
        <p:nvSpPr>
          <p:cNvPr id="20" name="Shape 18"/>
          <p:cNvSpPr/>
          <p:nvPr/>
        </p:nvSpPr>
        <p:spPr>
          <a:xfrm>
            <a:off x="6236208" y="877824"/>
            <a:ext cx="2688336" cy="512064"/>
          </a:xfrm>
          <a:prstGeom prst="rect">
            <a:avLst/>
          </a:prstGeom>
          <a:solidFill>
            <a:srgbClr val="242218"/>
          </a:solidFill>
          <a:ln w="8890">
            <a:solidFill>
              <a:srgbClr val="B8860B"/>
            </a:solidFill>
            <a:prstDash val="solid"/>
          </a:ln>
          <a:effectLst>
            <a:outerShdw blurRad="76200" dist="25400" dir="8100000" algn="bl" rotWithShape="0">
              <a:srgbClr val="000000">
                <a:alpha val="12000"/>
              </a:srgbClr>
            </a:outerShdw>
          </a:effectLst>
        </p:spPr>
      </p:sp>
      <p:sp>
        <p:nvSpPr>
          <p:cNvPr id="21" name="Text 19"/>
          <p:cNvSpPr/>
          <p:nvPr/>
        </p:nvSpPr>
        <p:spPr>
          <a:xfrm>
            <a:off x="6236208" y="877824"/>
            <a:ext cx="2688336" cy="512064"/>
          </a:xfrm>
          <a:prstGeom prst="rect">
            <a:avLst/>
          </a:prstGeom>
          <a:noFill/>
          <a:ln/>
        </p:spPr>
        <p:txBody>
          <a:bodyPr wrap="square" lIns="0" tIns="0" rIns="0" bIns="0" rtlCol="0" anchor="ctr"/>
          <a:lstStyle/>
          <a:p>
            <a:pPr marL="0" indent="0" algn="ctr">
              <a:buNone/>
            </a:pPr>
            <a:r>
              <a:rPr lang="en-US" sz="1500" b="1" dirty="0">
                <a:solidFill>
                  <a:srgbClr val="D4A017"/>
                </a:solidFill>
                <a:latin typeface="Georgia" pitchFamily="34" charset="0"/>
                <a:ea typeface="Georgia" pitchFamily="34" charset="-122"/>
                <a:cs typeface="Georgia" pitchFamily="34" charset="-120"/>
              </a:rPr>
              <a:t>Python 3.10+</a:t>
            </a:r>
            <a:endParaRPr lang="en-US" sz="1500" dirty="0"/>
          </a:p>
        </p:txBody>
      </p:sp>
      <p:sp>
        <p:nvSpPr>
          <p:cNvPr id="22" name="Shape 20"/>
          <p:cNvSpPr/>
          <p:nvPr/>
        </p:nvSpPr>
        <p:spPr>
          <a:xfrm>
            <a:off x="6236208" y="1554480"/>
            <a:ext cx="2688336" cy="512064"/>
          </a:xfrm>
          <a:prstGeom prst="rect">
            <a:avLst/>
          </a:prstGeom>
          <a:solidFill>
            <a:srgbClr val="242218"/>
          </a:solidFill>
          <a:ln w="8890">
            <a:solidFill>
              <a:srgbClr val="B8860B"/>
            </a:solidFill>
            <a:prstDash val="solid"/>
          </a:ln>
          <a:effectLst>
            <a:outerShdw blurRad="76200" dist="25400" dir="8100000" algn="bl" rotWithShape="0">
              <a:srgbClr val="000000">
                <a:alpha val="12000"/>
              </a:srgbClr>
            </a:outerShdw>
          </a:effectLst>
        </p:spPr>
      </p:sp>
      <p:sp>
        <p:nvSpPr>
          <p:cNvPr id="23" name="Text 21"/>
          <p:cNvSpPr/>
          <p:nvPr/>
        </p:nvSpPr>
        <p:spPr>
          <a:xfrm>
            <a:off x="6236208" y="1554480"/>
            <a:ext cx="2688336" cy="512064"/>
          </a:xfrm>
          <a:prstGeom prst="rect">
            <a:avLst/>
          </a:prstGeom>
          <a:noFill/>
          <a:ln/>
        </p:spPr>
        <p:txBody>
          <a:bodyPr wrap="square" lIns="0" tIns="0" rIns="0" bIns="0" rtlCol="0" anchor="ctr"/>
          <a:lstStyle/>
          <a:p>
            <a:pPr marL="0" indent="0" algn="ctr">
              <a:buNone/>
            </a:pPr>
            <a:r>
              <a:rPr lang="en-US" sz="1500" b="1" dirty="0">
                <a:solidFill>
                  <a:srgbClr val="D4A017"/>
                </a:solidFill>
                <a:latin typeface="Georgia" pitchFamily="34" charset="0"/>
                <a:ea typeface="Georgia" pitchFamily="34" charset="-122"/>
                <a:cs typeface="Georgia" pitchFamily="34" charset="-120"/>
              </a:rPr>
              <a:t>Streamlit</a:t>
            </a:r>
            <a:endParaRPr lang="en-US" sz="1500" dirty="0"/>
          </a:p>
        </p:txBody>
      </p:sp>
      <p:sp>
        <p:nvSpPr>
          <p:cNvPr id="24" name="Shape 22"/>
          <p:cNvSpPr/>
          <p:nvPr/>
        </p:nvSpPr>
        <p:spPr>
          <a:xfrm>
            <a:off x="6236208" y="2231136"/>
            <a:ext cx="2688336" cy="512064"/>
          </a:xfrm>
          <a:prstGeom prst="rect">
            <a:avLst/>
          </a:prstGeom>
          <a:solidFill>
            <a:srgbClr val="242218"/>
          </a:solidFill>
          <a:ln w="8890">
            <a:solidFill>
              <a:srgbClr val="B8860B"/>
            </a:solidFill>
            <a:prstDash val="solid"/>
          </a:ln>
          <a:effectLst>
            <a:outerShdw blurRad="76200" dist="25400" dir="8100000" algn="bl" rotWithShape="0">
              <a:srgbClr val="000000">
                <a:alpha val="12000"/>
              </a:srgbClr>
            </a:outerShdw>
          </a:effectLst>
        </p:spPr>
      </p:sp>
      <p:sp>
        <p:nvSpPr>
          <p:cNvPr id="25" name="Text 23"/>
          <p:cNvSpPr/>
          <p:nvPr/>
        </p:nvSpPr>
        <p:spPr>
          <a:xfrm>
            <a:off x="6236208" y="2231136"/>
            <a:ext cx="2688336" cy="512064"/>
          </a:xfrm>
          <a:prstGeom prst="rect">
            <a:avLst/>
          </a:prstGeom>
          <a:noFill/>
          <a:ln/>
        </p:spPr>
        <p:txBody>
          <a:bodyPr wrap="square" lIns="0" tIns="0" rIns="0" bIns="0" rtlCol="0" anchor="ctr"/>
          <a:lstStyle/>
          <a:p>
            <a:pPr marL="0" indent="0" algn="ctr">
              <a:buNone/>
            </a:pPr>
            <a:r>
              <a:rPr lang="en-US" sz="1500" b="1" dirty="0">
                <a:solidFill>
                  <a:srgbClr val="D4A017"/>
                </a:solidFill>
                <a:latin typeface="Georgia" pitchFamily="34" charset="0"/>
                <a:ea typeface="Georgia" pitchFamily="34" charset="-122"/>
                <a:cs typeface="Georgia" pitchFamily="34" charset="-120"/>
              </a:rPr>
              <a:t>Ollama  ·  llama3</a:t>
            </a:r>
            <a:endParaRPr lang="en-US" sz="1500" dirty="0"/>
          </a:p>
        </p:txBody>
      </p:sp>
      <p:sp>
        <p:nvSpPr>
          <p:cNvPr id="26" name="Shape 24"/>
          <p:cNvSpPr/>
          <p:nvPr/>
        </p:nvSpPr>
        <p:spPr>
          <a:xfrm>
            <a:off x="6236208" y="2907792"/>
            <a:ext cx="2688336" cy="512064"/>
          </a:xfrm>
          <a:prstGeom prst="rect">
            <a:avLst/>
          </a:prstGeom>
          <a:solidFill>
            <a:srgbClr val="242218"/>
          </a:solidFill>
          <a:ln w="8890">
            <a:solidFill>
              <a:srgbClr val="B8860B"/>
            </a:solidFill>
            <a:prstDash val="solid"/>
          </a:ln>
          <a:effectLst>
            <a:outerShdw blurRad="76200" dist="25400" dir="8100000" algn="bl" rotWithShape="0">
              <a:srgbClr val="000000">
                <a:alpha val="12000"/>
              </a:srgbClr>
            </a:outerShdw>
          </a:effectLst>
        </p:spPr>
      </p:sp>
      <p:sp>
        <p:nvSpPr>
          <p:cNvPr id="27" name="Text 25"/>
          <p:cNvSpPr/>
          <p:nvPr/>
        </p:nvSpPr>
        <p:spPr>
          <a:xfrm>
            <a:off x="6236208" y="2907792"/>
            <a:ext cx="2688336" cy="512064"/>
          </a:xfrm>
          <a:prstGeom prst="rect">
            <a:avLst/>
          </a:prstGeom>
          <a:noFill/>
          <a:ln/>
        </p:spPr>
        <p:txBody>
          <a:bodyPr wrap="square" lIns="0" tIns="0" rIns="0" bIns="0" rtlCol="0" anchor="ctr"/>
          <a:lstStyle/>
          <a:p>
            <a:pPr marL="0" indent="0" algn="ctr">
              <a:buNone/>
            </a:pPr>
            <a:r>
              <a:rPr lang="en-US" sz="1500" b="1" dirty="0">
                <a:solidFill>
                  <a:srgbClr val="D4A017"/>
                </a:solidFill>
                <a:latin typeface="Georgia" pitchFamily="34" charset="0"/>
                <a:ea typeface="Georgia" pitchFamily="34" charset="-122"/>
                <a:cs typeface="Georgia" pitchFamily="34" charset="-120"/>
              </a:rPr>
              <a:t>ReportLab</a:t>
            </a:r>
            <a:endParaRPr lang="en-US" sz="1500" dirty="0"/>
          </a:p>
        </p:txBody>
      </p:sp>
      <p:sp>
        <p:nvSpPr>
          <p:cNvPr id="28" name="Shape 26"/>
          <p:cNvSpPr/>
          <p:nvPr/>
        </p:nvSpPr>
        <p:spPr>
          <a:xfrm>
            <a:off x="6236208" y="3584448"/>
            <a:ext cx="2688336" cy="512064"/>
          </a:xfrm>
          <a:prstGeom prst="rect">
            <a:avLst/>
          </a:prstGeom>
          <a:solidFill>
            <a:srgbClr val="242218"/>
          </a:solidFill>
          <a:ln w="8890">
            <a:solidFill>
              <a:srgbClr val="B8860B"/>
            </a:solidFill>
            <a:prstDash val="solid"/>
          </a:ln>
          <a:effectLst>
            <a:outerShdw blurRad="76200" dist="25400" dir="8100000" algn="bl" rotWithShape="0">
              <a:srgbClr val="000000">
                <a:alpha val="12000"/>
              </a:srgbClr>
            </a:outerShdw>
          </a:effectLst>
        </p:spPr>
      </p:sp>
      <p:sp>
        <p:nvSpPr>
          <p:cNvPr id="29" name="Text 27"/>
          <p:cNvSpPr/>
          <p:nvPr/>
        </p:nvSpPr>
        <p:spPr>
          <a:xfrm>
            <a:off x="6236208" y="3584448"/>
            <a:ext cx="2688336" cy="512064"/>
          </a:xfrm>
          <a:prstGeom prst="rect">
            <a:avLst/>
          </a:prstGeom>
          <a:noFill/>
          <a:ln/>
        </p:spPr>
        <p:txBody>
          <a:bodyPr wrap="square" lIns="0" tIns="0" rIns="0" bIns="0" rtlCol="0" anchor="ctr"/>
          <a:lstStyle/>
          <a:p>
            <a:pPr marL="0" indent="0" algn="ctr">
              <a:buNone/>
            </a:pPr>
            <a:r>
              <a:rPr lang="en-US" sz="1500" b="1" dirty="0">
                <a:solidFill>
                  <a:srgbClr val="D4A017"/>
                </a:solidFill>
                <a:latin typeface="Georgia" pitchFamily="34" charset="0"/>
                <a:ea typeface="Georgia" pitchFamily="34" charset="-122"/>
                <a:cs typeface="Georgia" pitchFamily="34" charset="-120"/>
              </a:rPr>
              <a:t>Custom CSS / JS</a:t>
            </a:r>
            <a:endParaRPr lang="en-US" sz="1500" dirty="0"/>
          </a:p>
        </p:txBody>
      </p:sp>
      <p:sp>
        <p:nvSpPr>
          <p:cNvPr id="30" name="Text 28"/>
          <p:cNvSpPr/>
          <p:nvPr/>
        </p:nvSpPr>
        <p:spPr>
          <a:xfrm>
            <a:off x="6080760" y="4773168"/>
            <a:ext cx="2971800" cy="237744"/>
          </a:xfrm>
          <a:prstGeom prst="rect">
            <a:avLst/>
          </a:prstGeom>
          <a:noFill/>
          <a:ln/>
        </p:spPr>
        <p:txBody>
          <a:bodyPr wrap="square" lIns="0" tIns="0" rIns="0" bIns="0" rtlCol="0" anchor="ctr"/>
          <a:lstStyle/>
          <a:p>
            <a:pPr marL="0" indent="0" algn="ctr">
              <a:buNone/>
            </a:pPr>
            <a:r>
              <a:rPr lang="en-US" sz="780" dirty="0">
                <a:solidFill>
                  <a:srgbClr val="8A8470"/>
                </a:solidFill>
                <a:latin typeface="Calibri" pitchFamily="34" charset="0"/>
                <a:ea typeface="Calibri" pitchFamily="34" charset="-122"/>
                <a:cs typeface="Calibri" pitchFamily="34" charset="-120"/>
              </a:rPr>
              <a:t>github.com/Subasri23Hub/infosys-springboard-narrative-flow</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1819</Words>
  <Application>Microsoft Office PowerPoint</Application>
  <PresentationFormat>On-screen Show (16:9)</PresentationFormat>
  <Paragraphs>283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Narrative Flow — Story Co-Writer</dc:title>
  <dc:subject>PptxGenJS Presentation</dc:subject>
  <dc:creator>PptxGenJS</dc:creator>
  <cp:lastModifiedBy>Bhuvanashri B</cp:lastModifiedBy>
  <cp:revision>2</cp:revision>
  <dcterms:created xsi:type="dcterms:W3CDTF">2026-03-11T18:06:20Z</dcterms:created>
  <dcterms:modified xsi:type="dcterms:W3CDTF">2026-03-14T23:09:27Z</dcterms:modified>
</cp:coreProperties>
</file>